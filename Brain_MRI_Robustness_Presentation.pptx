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76" r:id="rId7"/>
    <p:sldId id="275" r:id="rId8"/>
    <p:sldId id="262" r:id="rId9"/>
    <p:sldId id="263" r:id="rId10"/>
    <p:sldId id="264" r:id="rId11"/>
    <p:sldId id="277" r:id="rId12"/>
    <p:sldId id="265" r:id="rId13"/>
    <p:sldId id="266" r:id="rId14"/>
    <p:sldId id="267" r:id="rId15"/>
    <p:sldId id="274" r:id="rId16"/>
    <p:sldId id="268" r:id="rId17"/>
    <p:sldId id="269" r:id="rId18"/>
    <p:sldId id="270" r:id="rId19"/>
    <p:sldId id="271" r:id="rId20"/>
    <p:sldId id="272" r:id="rId21"/>
    <p:sldId id="273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61E9DDC-D89E-41B2-9586-6A10A8204AB0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3BD49C0-8A1D-4C6F-BA4C-AB0FA7613C1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366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D49C0-8A1D-4C6F-BA4C-AB0FA7613C14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813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6858000" cy="5029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Digital Image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98448"/>
            <a:ext cx="548640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700" b="0">
                <a:solidFill>
                  <a:srgbClr val="DDE7E7"/>
                </a:solidFill>
                <a:latin typeface="Aptos"/>
              </a:defRPr>
            </a:pPr>
            <a:r>
              <a:t>Brain MRI Robustness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2864951" cy="23391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400" b="0">
                <a:solidFill>
                  <a:srgbClr val="C6D2D2"/>
                </a:solidFill>
                <a:latin typeface="Aptos"/>
              </a:defRPr>
            </a:pPr>
            <a:r>
              <a:rPr dirty="0"/>
              <a:t>Michael </a:t>
            </a:r>
            <a:r>
              <a:rPr dirty="0" err="1"/>
              <a:t>Khadarkevich</a:t>
            </a:r>
            <a:r>
              <a:rPr lang="en-US" dirty="0"/>
              <a:t>       328259825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85292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2666A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27355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74320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285292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00807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327355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74320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16752" y="285292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B2483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327355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distortion families</a:t>
            </a:r>
          </a:p>
        </p:txBody>
      </p:sp>
      <p:pic>
        <p:nvPicPr>
          <p:cNvPr id="14" name="Picture 13" descr="task3_yolo_basic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777240"/>
            <a:ext cx="2743200" cy="2743200"/>
          </a:xfrm>
          <a:prstGeom prst="rect">
            <a:avLst/>
          </a:prstGeom>
        </p:spPr>
      </p:pic>
      <p:pic>
        <p:nvPicPr>
          <p:cNvPr id="15" name="Picture 14" descr="data1_tumor_ex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886200"/>
            <a:ext cx="1737360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" y="5623560"/>
            <a:ext cx="658368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Clean → distorted → restored → fine-tuned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0982F893-BBEE-924E-E1CD-05108403C329}"/>
              </a:ext>
            </a:extLst>
          </p:cNvPr>
          <p:cNvSpPr txBox="1"/>
          <p:nvPr/>
        </p:nvSpPr>
        <p:spPr>
          <a:xfrm>
            <a:off x="713232" y="2055483"/>
            <a:ext cx="3961638" cy="2339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just">
              <a:defRPr sz="1400" b="0">
                <a:solidFill>
                  <a:srgbClr val="C6D2D2"/>
                </a:solidFill>
                <a:latin typeface="Aptos"/>
              </a:defRPr>
            </a:pPr>
            <a:r>
              <a:rPr lang="en-US" dirty="0"/>
              <a:t>Renana</a:t>
            </a:r>
            <a:r>
              <a:rPr dirty="0"/>
              <a:t> </a:t>
            </a:r>
            <a:r>
              <a:rPr lang="en-US" dirty="0"/>
              <a:t>Chaba                      218046773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Distortions reduce reliability, so the project measures degradation and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The same experiment logic is repeated across super-resolution, CNN classification, and YOLO segmentation.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4612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84831"/>
            <a:ext cx="27432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700" b="1">
                <a:solidFill>
                  <a:srgbClr val="2666AC"/>
                </a:solidFill>
                <a:latin typeface="Aptos"/>
              </a:defRPr>
            </a:pPr>
            <a:r>
              <a:t>Super-resolution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606040" cy="5029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PSNR after x2 downsampling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24612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084831"/>
            <a:ext cx="27432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700" b="1">
                <a:solidFill>
                  <a:srgbClr val="008074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2606040" cy="5029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total true percent on tumor/no-tumor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24612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084831"/>
            <a:ext cx="27432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700" b="1">
                <a:solidFill>
                  <a:srgbClr val="B2483E"/>
                </a:solidFill>
                <a:latin typeface="Aptos"/>
              </a:defRPr>
            </a:pPr>
            <a:r>
              <a:t>YOLO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06040"/>
            <a:ext cx="2606040" cy="5029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mask mAP50 on tumor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Experiment path: clean baseline → distorted input → restored input → fine-tuned model when relevant.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Every task uses the same robustness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How much does distortion hurt, and which improvement helps recover performance?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Data 1: Kaggle tumor/no-tumor classification images.</a:t>
            </a:r>
          </a:p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Data 2: MRI tumor segmentation masks converted to YOLO format.</a:t>
            </a:r>
          </a:p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Distortions: gaussian noise, salt-and-pepper, gaussian blur, and YOLO brightness/contrast.</a:t>
            </a:r>
          </a:p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Improvement: restoration pre-processing and fine-tuning for learning-based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28800"/>
            <a:ext cx="4937760" cy="3108960"/>
          </a:xfrm>
          <a:prstGeom prst="roundRect">
            <a:avLst/>
          </a:prstGeom>
          <a:solidFill>
            <a:srgbClr val="F5F8F8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155448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400" b="1">
                <a:solidFill>
                  <a:srgbClr val="2666AC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48840"/>
            <a:ext cx="25603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07208"/>
            <a:ext cx="155448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400" b="1">
                <a:solidFill>
                  <a:srgbClr val="B2483E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07208"/>
            <a:ext cx="25603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degradation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65576"/>
            <a:ext cx="155448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400" b="1">
                <a:solidFill>
                  <a:srgbClr val="008074"/>
                </a:solidFill>
                <a:latin typeface="Aptos"/>
              </a:defRPr>
            </a:pPr>
            <a:r>
              <a:t>Restored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65576"/>
            <a:ext cx="25603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pre-processing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23944"/>
            <a:ext cx="155448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400" b="1">
                <a:solidFill>
                  <a:srgbClr val="B88630"/>
                </a:solidFill>
                <a:latin typeface="Aptos"/>
              </a:defRPr>
            </a:pPr>
            <a:r>
              <a:t>Fine-tuned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23944"/>
            <a:ext cx="25603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model adaptation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Two datasets support two different outputs: class labels and masks.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Data 1 labels are folder names; Data 2 labels are segmentation polygons for YOLO.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24612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ta1_no_tumor_ex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057400"/>
            <a:ext cx="256032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4983480"/>
            <a:ext cx="25603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400" b="1">
                <a:solidFill>
                  <a:srgbClr val="182228"/>
                </a:solidFill>
                <a:latin typeface="Aptos"/>
              </a:defRPr>
            </a:pPr>
            <a:r>
              <a:t>Data 1: no tumor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24612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ata1_tumor_ex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057400"/>
            <a:ext cx="256032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00600" y="4983480"/>
            <a:ext cx="25603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400" b="1">
                <a:solidFill>
                  <a:srgbClr val="182228"/>
                </a:solidFill>
                <a:latin typeface="Aptos"/>
              </a:defRPr>
            </a:pPr>
            <a:r>
              <a:t>Data 1: tumor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24612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ask3_yolo_mask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802" y="2539024"/>
            <a:ext cx="3272050" cy="1904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95360" y="4983480"/>
            <a:ext cx="25603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400" b="1">
                <a:solidFill>
                  <a:srgbClr val="182228"/>
                </a:solidFill>
                <a:latin typeface="Aptos"/>
              </a:defRPr>
            </a:pPr>
            <a:r>
              <a:t>Data 2: mask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SHARED DISTORTION AND RESTORATION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32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2228"/>
                </a:solidFill>
                <a:latin typeface="Aptos"/>
              </a:defRPr>
            </a:pPr>
            <a:r>
              <a:t>Original, distorted, and restored images are compared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Each used distortion is shown with its restored result so the before/after effect is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214884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31720"/>
            <a:ext cx="173736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4617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228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956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6636B"/>
                </a:solidFill>
                <a:latin typeface="Aptos"/>
              </a:defRPr>
            </a:pPr>
            <a:r>
              <a:t>clean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358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6636B"/>
                </a:solidFill>
                <a:latin typeface="Aptos"/>
              </a:defRPr>
            </a:pPr>
            <a:r>
              <a:t>used before all distortions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719072"/>
            <a:ext cx="43434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1856231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666AC"/>
                </a:solidFill>
                <a:latin typeface="Aptos"/>
              </a:defRPr>
            </a:pPr>
            <a:r>
              <a:t>Gaussian noise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17627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6360" y="217627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7" y="2249424"/>
            <a:ext cx="1060704" cy="1060704"/>
          </a:xfrm>
          <a:prstGeom prst="rect">
            <a:avLst/>
          </a:prstGeom>
        </p:spPr>
      </p:pic>
      <p:pic>
        <p:nvPicPr>
          <p:cNvPr id="16" name="Picture 15" descr="gaussian_noise_resto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7" y="2249424"/>
            <a:ext cx="1060704" cy="1060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91840" y="343814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43814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restored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19472" y="2834639"/>
            <a:ext cx="201168" cy="0"/>
          </a:xfrm>
          <a:prstGeom prst="line">
            <a:avLst/>
          </a:prstGeom>
          <a:ln w="17780">
            <a:solidFill>
              <a:srgbClr val="26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1719072"/>
            <a:ext cx="43434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62671" y="1856231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2483E"/>
                </a:solidFill>
                <a:latin typeface="Aptos"/>
              </a:defRPr>
            </a:pPr>
            <a:r>
              <a:t>Salt-and-pepper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59" y="217627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84080" y="217627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2249424"/>
            <a:ext cx="1060704" cy="1060704"/>
          </a:xfrm>
          <a:prstGeom prst="rect">
            <a:avLst/>
          </a:prstGeom>
        </p:spPr>
      </p:pic>
      <p:pic>
        <p:nvPicPr>
          <p:cNvPr id="25" name="Picture 24" descr="salt_and_pepper_resto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2249424"/>
            <a:ext cx="1060704" cy="1060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909559" y="343814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43814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restored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37192" y="2834639"/>
            <a:ext cx="201167" cy="0"/>
          </a:xfrm>
          <a:prstGeom prst="line">
            <a:avLst/>
          </a:prstGeom>
          <a:ln w="17780">
            <a:solidFill>
              <a:srgbClr val="B248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80360" y="4096512"/>
            <a:ext cx="43434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44952" y="4233672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8074"/>
                </a:solidFill>
                <a:latin typeface="Aptos"/>
              </a:defRPr>
            </a:pPr>
            <a:r>
              <a:t>Gaussian blur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5371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66360" y="455371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7" y="4626864"/>
            <a:ext cx="1060704" cy="1060704"/>
          </a:xfrm>
          <a:prstGeom prst="rect">
            <a:avLst/>
          </a:prstGeom>
        </p:spPr>
      </p:pic>
      <p:pic>
        <p:nvPicPr>
          <p:cNvPr id="34" name="Picture 33" descr="gaussian_blur_resto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407" y="4626864"/>
            <a:ext cx="1060704" cy="10607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291840" y="58155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58155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restored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19472" y="5212080"/>
            <a:ext cx="201168" cy="0"/>
          </a:xfrm>
          <a:prstGeom prst="line">
            <a:avLst/>
          </a:prstGeom>
          <a:ln w="17780">
            <a:solidFill>
              <a:srgbClr val="008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498079" y="4096512"/>
            <a:ext cx="43434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62671" y="4233672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8630"/>
                </a:solidFill>
                <a:latin typeface="Aptos"/>
              </a:defRPr>
            </a:pPr>
            <a:r>
              <a:t>Brightness / contrast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59" y="455371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84080" y="455371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5008" y="4626864"/>
            <a:ext cx="1060704" cy="1060704"/>
          </a:xfrm>
          <a:prstGeom prst="rect">
            <a:avLst/>
          </a:prstGeom>
        </p:spPr>
      </p:pic>
      <p:pic>
        <p:nvPicPr>
          <p:cNvPr id="43" name="Picture 42" descr="brightness_contrast_resto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128" y="4626864"/>
            <a:ext cx="1060704" cy="106070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909559" y="58155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58155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restored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537192" y="5212080"/>
            <a:ext cx="201167" cy="0"/>
          </a:xfrm>
          <a:prstGeom prst="line">
            <a:avLst/>
          </a:prstGeom>
          <a:ln w="17780">
            <a:solidFill>
              <a:srgbClr val="B88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ADDITIONAL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784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2228"/>
                </a:solidFill>
                <a:latin typeface="Aptos"/>
              </a:defRPr>
            </a:pPr>
            <a:r>
              <a:t>Original, distorted, and restored images for the other distortions.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These methods were also implemented in the distortion/restoration pipeline and are shown with the same before/after structure as slide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214884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31720"/>
            <a:ext cx="173736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4617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228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956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6636B"/>
                </a:solidFill>
                <a:latin typeface="Aptos"/>
              </a:defRPr>
            </a:pPr>
            <a:r>
              <a:t>clean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358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6636B"/>
                </a:solidFill>
                <a:latin typeface="Aptos"/>
              </a:defRPr>
            </a:pPr>
            <a:r>
              <a:t>used before all distortions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719072"/>
            <a:ext cx="43434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1856231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666AC"/>
                </a:solidFill>
                <a:latin typeface="Aptos"/>
              </a:defRPr>
            </a:pPr>
            <a:r>
              <a:t>Rotation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17627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6360" y="217627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o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7" y="2249424"/>
            <a:ext cx="1060704" cy="1060704"/>
          </a:xfrm>
          <a:prstGeom prst="rect">
            <a:avLst/>
          </a:prstGeom>
        </p:spPr>
      </p:pic>
      <p:pic>
        <p:nvPicPr>
          <p:cNvPr id="16" name="Picture 15" descr="rotation_resto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7" y="2249424"/>
            <a:ext cx="1060704" cy="1060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91840" y="343814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43814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restored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19472" y="2834639"/>
            <a:ext cx="201168" cy="0"/>
          </a:xfrm>
          <a:prstGeom prst="line">
            <a:avLst/>
          </a:prstGeom>
          <a:ln w="17780">
            <a:solidFill>
              <a:srgbClr val="26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1719072"/>
            <a:ext cx="43434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62671" y="1856231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69559E"/>
                </a:solidFill>
                <a:latin typeface="Aptos"/>
              </a:defRPr>
            </a:pPr>
            <a:r>
              <a:t>Perspective warp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59" y="217627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84080" y="217627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perspective_war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2249424"/>
            <a:ext cx="1060704" cy="1060704"/>
          </a:xfrm>
          <a:prstGeom prst="rect">
            <a:avLst/>
          </a:prstGeom>
        </p:spPr>
      </p:pic>
      <p:pic>
        <p:nvPicPr>
          <p:cNvPr id="25" name="Picture 24" descr="perspective_warp_resto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2249424"/>
            <a:ext cx="1060704" cy="1060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909559" y="343814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43814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restored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37192" y="2834639"/>
            <a:ext cx="201167" cy="0"/>
          </a:xfrm>
          <a:prstGeom prst="line">
            <a:avLst/>
          </a:prstGeom>
          <a:ln w="17780">
            <a:solidFill>
              <a:srgbClr val="69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80360" y="4096512"/>
            <a:ext cx="43434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44952" y="4233672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2483E"/>
                </a:solidFill>
                <a:latin typeface="Aptos"/>
              </a:defRPr>
            </a:pPr>
            <a:r>
              <a:t>Barrel distortion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5371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66360" y="455371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barrel_distor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7" y="4626864"/>
            <a:ext cx="1060704" cy="1060704"/>
          </a:xfrm>
          <a:prstGeom prst="rect">
            <a:avLst/>
          </a:prstGeom>
        </p:spPr>
      </p:pic>
      <p:pic>
        <p:nvPicPr>
          <p:cNvPr id="34" name="Picture 33" descr="barrel_distortion_resto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407" y="4626864"/>
            <a:ext cx="1060704" cy="10607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291840" y="58155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58155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restored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19472" y="5212080"/>
            <a:ext cx="201168" cy="0"/>
          </a:xfrm>
          <a:prstGeom prst="line">
            <a:avLst/>
          </a:prstGeom>
          <a:ln w="17780">
            <a:solidFill>
              <a:srgbClr val="B248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498079" y="4096512"/>
            <a:ext cx="43434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62671" y="4233672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88630"/>
                </a:solidFill>
                <a:latin typeface="Aptos"/>
              </a:defRPr>
            </a:pPr>
            <a:r>
              <a:t>Pixelation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59" y="455371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84080" y="4553712"/>
            <a:ext cx="1828800" cy="132588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pixel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5008" y="4626864"/>
            <a:ext cx="1060704" cy="1060704"/>
          </a:xfrm>
          <a:prstGeom prst="rect">
            <a:avLst/>
          </a:prstGeom>
        </p:spPr>
      </p:pic>
      <p:pic>
        <p:nvPicPr>
          <p:cNvPr id="43" name="Picture 42" descr="pixelation_resto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128" y="4626864"/>
            <a:ext cx="1060704" cy="106070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909559" y="58155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581558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6636B"/>
                </a:solidFill>
                <a:latin typeface="Aptos"/>
              </a:defRPr>
            </a:pPr>
            <a:r>
              <a:t>restored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537192" y="5212080"/>
            <a:ext cx="201167" cy="0"/>
          </a:xfrm>
          <a:prstGeom prst="line">
            <a:avLst/>
          </a:prstGeom>
          <a:ln w="17780">
            <a:solidFill>
              <a:srgbClr val="B88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RESTORATION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How the restorations work after distortion.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Each restoration is a simple image-processing step that tries to recover useful MRI structure before measuring the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66AC"/>
                </a:solidFill>
                <a:latin typeface="Aptos"/>
              </a:defRPr>
            </a:pPr>
            <a:r>
              <a:t>Gaussian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82228"/>
                </a:solidFill>
                <a:latin typeface="Aptos"/>
              </a:defRPr>
            </a:pPr>
            <a:r>
              <a:t>Light Gaussian smoothing reduces random pixel noise, then unsharp masking brings edges 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026664"/>
            <a:ext cx="1554480" cy="384048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27832" y="3026664"/>
            <a:ext cx="1554480" cy="384048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118104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82228"/>
                </a:solidFill>
                <a:latin typeface="Aptos"/>
              </a:defRPr>
            </a:pPr>
            <a:r>
              <a:t>smooth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3118104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82228"/>
                </a:solidFill>
                <a:latin typeface="Aptos"/>
              </a:defRPr>
            </a:pPr>
            <a:r>
              <a:t>sharpen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6040" y="3218688"/>
            <a:ext cx="548640" cy="0"/>
          </a:xfrm>
          <a:prstGeom prst="line">
            <a:avLst/>
          </a:prstGeom>
          <a:ln w="20320">
            <a:solidFill>
              <a:srgbClr val="26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783080"/>
            <a:ext cx="516636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9476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2483E"/>
                </a:solidFill>
                <a:latin typeface="Aptos"/>
              </a:defRPr>
            </a:pPr>
            <a:r>
              <a:t>Salt-and-pepper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31343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82228"/>
                </a:solidFill>
                <a:latin typeface="Aptos"/>
              </a:defRPr>
            </a:pPr>
            <a:r>
              <a:t>A median filter replaces isolated black/white pixels using nearby values while preserving edges.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79" y="3026664"/>
            <a:ext cx="1554480" cy="384048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05672" y="3026664"/>
            <a:ext cx="1554480" cy="384048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118104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82228"/>
                </a:solidFill>
                <a:latin typeface="Aptos"/>
              </a:defRPr>
            </a:pPr>
            <a:r>
              <a:t>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118104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82228"/>
                </a:solidFill>
                <a:latin typeface="Aptos"/>
              </a:defRPr>
            </a:pPr>
            <a:r>
              <a:t>remove specks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83879" y="3218688"/>
            <a:ext cx="548641" cy="0"/>
          </a:xfrm>
          <a:prstGeom prst="line">
            <a:avLst/>
          </a:prstGeom>
          <a:ln w="20320">
            <a:solidFill>
              <a:srgbClr val="B248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4096512"/>
            <a:ext cx="516636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261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074"/>
                </a:solidFill>
                <a:latin typeface="Aptos"/>
              </a:defRPr>
            </a:pPr>
            <a:r>
              <a:t>Gaussian blur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626864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82228"/>
                </a:solidFill>
                <a:latin typeface="Aptos"/>
              </a:defRPr>
            </a:pPr>
            <a:r>
              <a:t>Unsharp masking boosts local contrast so softened edges become clearer again.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340096"/>
            <a:ext cx="1554480" cy="384048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27832" y="5340096"/>
            <a:ext cx="1554480" cy="384048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43153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82228"/>
                </a:solidFill>
                <a:latin typeface="Aptos"/>
              </a:defRPr>
            </a:pPr>
            <a:r>
              <a:t>edge 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543153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82228"/>
                </a:solidFill>
                <a:latin typeface="Aptos"/>
              </a:defRPr>
            </a:pPr>
            <a:r>
              <a:t>sharpen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06040" y="5532120"/>
            <a:ext cx="548640" cy="0"/>
          </a:xfrm>
          <a:prstGeom prst="line">
            <a:avLst/>
          </a:prstGeom>
          <a:ln w="20320">
            <a:solidFill>
              <a:srgbClr val="008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63640" y="4096512"/>
            <a:ext cx="516636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42611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88630"/>
                </a:solidFill>
                <a:latin typeface="Aptos"/>
              </a:defRPr>
            </a:pPr>
            <a:r>
              <a:t>Brightness / contrast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4626864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82228"/>
                </a:solidFill>
                <a:latin typeface="Aptos"/>
              </a:defRPr>
            </a:pPr>
            <a:r>
              <a:t>Autocontrast spreads useful intensities, then contrast normalization brings the image back to a stable range.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79" y="5340096"/>
            <a:ext cx="1554480" cy="384048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805672" y="5340096"/>
            <a:ext cx="1554480" cy="384048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543153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82228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543153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82228"/>
                </a:solidFill>
                <a:latin typeface="Aptos"/>
              </a:defRPr>
            </a:pPr>
            <a:r>
              <a:t>rebalance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83879" y="5532120"/>
            <a:ext cx="548641" cy="0"/>
          </a:xfrm>
          <a:prstGeom prst="line">
            <a:avLst/>
          </a:prstGeom>
          <a:ln w="20320">
            <a:solidFill>
              <a:srgbClr val="B88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201168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500" b="1">
                <a:solidFill>
                  <a:srgbClr val="2666AC"/>
                </a:solidFill>
                <a:latin typeface="Aptos"/>
              </a:defRPr>
            </a:pPr>
            <a:r>
              <a:t>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46720" cy="6858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Super-resolution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2148840"/>
            <a:ext cx="10259568" cy="0"/>
          </a:xfrm>
          <a:prstGeom prst="line">
            <a:avLst/>
          </a:prstGeom>
          <a:ln w="25400">
            <a:solidFill>
              <a:srgbClr val="26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514600"/>
            <a:ext cx="7863840" cy="5486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700" b="0">
                <a:solidFill>
                  <a:srgbClr val="E0E8E8"/>
                </a:solidFill>
                <a:latin typeface="Aptos"/>
              </a:defRPr>
            </a:pPr>
            <a:r>
              <a:t>Downsample x2, reconstruct, and measure image fidelity with PSNR.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1 | CLEAN SUPER-RESOLUTION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Lanczos gives the strongest clean PSNR on the selected MRI image.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Sharpened_lanczos is used in the SNR/level experiments to compare distorted and restored images.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662940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uper_resoluti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231" y="1645920"/>
            <a:ext cx="4223657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874519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9831" y="198424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2666AC"/>
                </a:solidFill>
                <a:latin typeface="Aptos"/>
              </a:defRPr>
            </a:pPr>
            <a:r>
              <a:t>29.62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40487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Best clean PSNR: Lanczos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97180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1" y="308152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008074"/>
                </a:solidFill>
                <a:latin typeface="Aptos"/>
              </a:defRPr>
            </a:pPr>
            <a:r>
              <a:t>26.87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350215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Sharpened_lanczos PSNR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6908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9831" y="417880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B88630"/>
                </a:solidFill>
                <a:latin typeface="Aptos"/>
              </a:defRPr>
            </a:pPr>
            <a:r>
              <a:t>98.38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459943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Best reconstruction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1 | DISTORTED SUPER-RESOLUTION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Restored inputs usually recover PSNR before sharpened_lanczos reconstruction.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rPr dirty="0"/>
              <a:t>Each graph includes a dashed clean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576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aussian_noise_snr_psnr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2900"/>
            <a:ext cx="3657600" cy="203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508760"/>
            <a:ext cx="36576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alt_and_pepper_density_psnr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12900"/>
            <a:ext cx="365760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508760"/>
            <a:ext cx="36576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aussian_blur_sigma_psnr_grap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612900"/>
            <a:ext cx="3657600" cy="20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4136658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2228"/>
                </a:solidFill>
                <a:latin typeface="Aptos"/>
              </a:defRPr>
            </a:pPr>
            <a:r>
              <a:rPr dirty="0"/>
              <a:t>Main metric: PSNR. Restoration helps most when noise can be reduced without destroying structure. Severe salt-and-pepper is the hardest setting.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1 EXTRA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966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2228"/>
                </a:solidFill>
                <a:latin typeface="Aptos"/>
              </a:defRPr>
            </a:pPr>
            <a:r>
              <a:t>Dividing the clean image by more than x2 quickly lowers Lanczos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The clean MRI image was downsampled by stronger factors and reconstructed back to 224x224 using Lanczos.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715000" cy="4389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anczos_psnr_by_downscale_f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26132"/>
            <a:ext cx="5257800" cy="3037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1691640"/>
            <a:ext cx="489204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anczos_extra_downscale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513" y="1874519"/>
            <a:ext cx="3092958" cy="187451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29400" y="4251960"/>
            <a:ext cx="4892040" cy="1417320"/>
          </a:xfrm>
          <a:prstGeom prst="roundRect">
            <a:avLst/>
          </a:prstGeom>
          <a:solidFill>
            <a:srgbClr val="F1F5F5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76288" y="44622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66AC"/>
                </a:solidFill>
                <a:latin typeface="Aptos"/>
              </a:defRPr>
            </a:pPr>
            <a:r>
              <a:t>What the graph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4828032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82228"/>
                </a:solidFill>
                <a:latin typeface="Aptos"/>
              </a:defRPr>
            </a:pPr>
            <a:r>
              <a:t>PSNR drops from 29.62 at x2 to 16.72 at x10. Stronger downsampling removes detail that Lanczos cannot fully reconstruct.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537667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56636B"/>
                </a:solidFill>
                <a:latin typeface="Aptos"/>
              </a:defRPr>
            </a:pPr>
            <a:r>
              <a:t>Main metric: PSNR, higher is better.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201168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500" b="1">
                <a:solidFill>
                  <a:srgbClr val="008074"/>
                </a:solidFill>
                <a:latin typeface="Aptos"/>
              </a:defRPr>
            </a:pPr>
            <a:r>
              <a:t>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46720" cy="6858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CNN tumor classification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2148840"/>
            <a:ext cx="10259568" cy="0"/>
          </a:xfrm>
          <a:prstGeom prst="line">
            <a:avLst/>
          </a:prstGeom>
          <a:ln w="25400">
            <a:solidFill>
              <a:srgbClr val="008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514600"/>
            <a:ext cx="6294031" cy="280077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700" b="0">
                <a:solidFill>
                  <a:srgbClr val="E0E8E8"/>
                </a:solidFill>
                <a:latin typeface="Aptos"/>
              </a:defRPr>
            </a:pPr>
            <a:r>
              <a:rPr dirty="0"/>
              <a:t>Classify Data 1 images as tumor or no</a:t>
            </a:r>
            <a:r>
              <a:rPr lang="he-IL" dirty="0"/>
              <a:t>-</a:t>
            </a:r>
            <a:r>
              <a:rPr dirty="0"/>
              <a:t>tumor, then test robustness.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2 | BASIC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The basic CNN reaches 78.95% accuracy on clean Data 1 test images.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The confusion matrix shows actual labels as rows and predicted labels as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3840480" cy="3291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01368"/>
            <a:ext cx="3840480" cy="3072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691640"/>
            <a:ext cx="5166360" cy="3291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raining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304288"/>
            <a:ext cx="5166360" cy="20665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539496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550468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2666AC"/>
                </a:solidFill>
                <a:latin typeface="Aptos"/>
              </a:defRPr>
            </a:pPr>
            <a:r>
              <a:t>78.95%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592531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Basic CNN test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39496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0752" y="550468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008074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592531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test images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rPr dirty="0"/>
              <a:t>TASK 2 |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745827" cy="38779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rPr lang="en-US" dirty="0"/>
              <a:t>Extra: </a:t>
            </a:r>
            <a:r>
              <a:rPr dirty="0"/>
              <a:t>Rotation augmentation improved the CNN, but only by a small amount.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Because the dataset is small, augmentation adds examples; changing head position did not create a large 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2834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73936"/>
            <a:ext cx="3337560" cy="26700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17720" y="1874519"/>
            <a:ext cx="201168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sk2_cnn_original_ex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74519"/>
            <a:ext cx="19202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03720" y="1874519"/>
            <a:ext cx="201168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ask2_cnn_augmented_rot20_examp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74519"/>
            <a:ext cx="1920240" cy="1920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326880" y="192024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91472" y="202996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008074"/>
                </a:solidFill>
                <a:latin typeface="Aptos"/>
              </a:defRPr>
            </a:pPr>
            <a:r>
              <a:t>81.58%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45059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Augmented CNN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306324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91472" y="3172968"/>
            <a:ext cx="1874519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100" b="1">
                <a:solidFill>
                  <a:srgbClr val="B88630"/>
                </a:solidFill>
                <a:latin typeface="Aptos"/>
              </a:defRPr>
            </a:pPr>
            <a:r>
              <a:t>+2.63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3593592"/>
            <a:ext cx="1901952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gain over basic 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160520"/>
            <a:ext cx="14630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200" b="1">
                <a:solidFill>
                  <a:srgbClr val="182228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60520"/>
            <a:ext cx="16459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200" b="1">
                <a:solidFill>
                  <a:srgbClr val="182228"/>
                </a:solidFill>
                <a:latin typeface="Aptos"/>
              </a:defRPr>
            </a:pPr>
            <a:r>
              <a:t>Augmented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B9035-3739-33FA-870D-676BED4BE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CNN on different distortions with classic</a:t>
            </a:r>
            <a:r>
              <a:rPr lang="he-IL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restoration</a:t>
            </a:r>
            <a:r>
              <a:rPr lang="en-US" sz="3200" dirty="0">
                <a:solidFill>
                  <a:schemeClr val="bg1"/>
                </a:solidFill>
              </a:rPr>
              <a:t>, without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fine tuning</a:t>
            </a:r>
          </a:p>
        </p:txBody>
      </p:sp>
      <p:pic>
        <p:nvPicPr>
          <p:cNvPr id="7" name="Picture 6" descr="total_true_percent_graph.png">
            <a:extLst>
              <a:ext uri="{FF2B5EF4-FFF2-40B4-BE49-F238E27FC236}">
                <a16:creationId xmlns:a16="http://schemas.microsoft.com/office/drawing/2014/main" id="{2444DAF3-E0B3-3E33-18AC-A7934B8CA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85" y="1675227"/>
            <a:ext cx="1052502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8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2 | RESTORATION AND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Fine-tuning and restoration are compared against the same clean CNN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Total true percent summarizes how many tumor/no-tumor predictions are correct.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Salt-and-pepper noise is the clearest CNN failure mode. Restoration recovers some cases; fine-tuning is the stronger model-level improvement.</a:t>
            </a:r>
          </a:p>
        </p:txBody>
      </p:sp>
      <p:pic>
        <p:nvPicPr>
          <p:cNvPr id="13" name="Picture 12" descr="cnn_compare_distortion_restoration_fine_tune_total_true_percent_graph.png">
            <a:extLst>
              <a:ext uri="{FF2B5EF4-FFF2-40B4-BE49-F238E27FC236}">
                <a16:creationId xmlns:a16="http://schemas.microsoft.com/office/drawing/2014/main" id="{6F80A51B-92A1-8241-610F-B2985B1F9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930" y="1612080"/>
            <a:ext cx="7800003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2 | CNN SNR AND LEVEL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Separate distortion-level graphs show where classification begins to break.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35800"/>
            <a:ext cx="3805594" cy="664797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rPr dirty="0"/>
              <a:t>The dashed line is the basic CNN on clean, non-distorted images.</a:t>
            </a:r>
            <a:endParaRPr lang="he-IL" dirty="0"/>
          </a:p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rPr lang="en-US" dirty="0"/>
              <a:t>Multiple fine-tunings were performed.</a:t>
            </a:r>
          </a:p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endParaRPr lang="he-IL" dirty="0"/>
          </a:p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85734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nn_compare_snr_distortion_restoration_fine_tune_total_true_percen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0457"/>
            <a:ext cx="3657600" cy="203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900597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nn_compare_salt_and_pepper_distortion_restoration_fine_tune_total_true_percent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050457"/>
            <a:ext cx="365760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885734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nn_compare_gaussian_blur_distortion_restoration_fine_tune_total_true_percent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035594"/>
            <a:ext cx="36576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201168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500" b="1">
                <a:solidFill>
                  <a:srgbClr val="B2483E"/>
                </a:solidFill>
                <a:latin typeface="Aptos"/>
              </a:defRPr>
            </a:pPr>
            <a:r>
              <a:t>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46720" cy="6858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YOLO tumor segmentation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2148840"/>
            <a:ext cx="10259568" cy="0"/>
          </a:xfrm>
          <a:prstGeom prst="line">
            <a:avLst/>
          </a:prstGeom>
          <a:ln w="25400">
            <a:solidFill>
              <a:srgbClr val="B248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514600"/>
            <a:ext cx="7863840" cy="5486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700" b="0">
                <a:solidFill>
                  <a:srgbClr val="E0E8E8"/>
                </a:solidFill>
                <a:latin typeface="Aptos"/>
              </a:defRPr>
            </a:pPr>
            <a:r>
              <a:t>Use Data 2 masks so the model can mark tumor regions, not only classify the image.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3 | SEGMENTATION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YOLO output is evaluated as a mask prediction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Clean, mask, distorted, and restored images show the full experiment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06040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ask3_yolo_basic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34540"/>
            <a:ext cx="2286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956048"/>
            <a:ext cx="21488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300" b="1">
                <a:solidFill>
                  <a:srgbClr val="182228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691640"/>
            <a:ext cx="2606040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ask3_yolo_mask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512094"/>
            <a:ext cx="2286000" cy="13308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9312" y="4956048"/>
            <a:ext cx="21488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300" b="1">
                <a:solidFill>
                  <a:srgbClr val="182228"/>
                </a:solidFill>
                <a:latin typeface="Aptos"/>
              </a:defRPr>
            </a:pPr>
            <a:r>
              <a:t>Mask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691640"/>
            <a:ext cx="2606040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ask3_yolo_distorted_gaussian_noise_15db_examp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034540"/>
            <a:ext cx="2286000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47104" y="4956048"/>
            <a:ext cx="21488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300" b="1">
                <a:solidFill>
                  <a:srgbClr val="182228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691640"/>
            <a:ext cx="2606040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ask3_yolo_restored_gaussian_noise_15db_examp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034540"/>
            <a:ext cx="228600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54896" y="4956048"/>
            <a:ext cx="21488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>
              <a:defRPr sz="1300" b="1">
                <a:solidFill>
                  <a:srgbClr val="182228"/>
                </a:solidFill>
                <a:latin typeface="Aptos"/>
              </a:defRPr>
            </a:pPr>
            <a:r>
              <a:t>Restored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3 | YOLO MAP50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Clean YOLO is the reference line; distortion and fine-tuning reveal robustness.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mAP50 is shown separately for gaussian noise, blur, and brightness/contrast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yolo_gaussian_noise_snr_map50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8619"/>
            <a:ext cx="3657600" cy="203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yolo_gaussian_blur_sigma_map50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58619"/>
            <a:ext cx="365760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yolo_brightness_contrast_level_map50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58619"/>
            <a:ext cx="3657600" cy="20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44805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Main metric: mask mAP50. Fine-tuned YOLO models are trained on matching distorted data; restored images test pre-processing recovery.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4754880" cy="5029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8404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700" b="0">
                <a:solidFill>
                  <a:srgbClr val="E2EBE8"/>
                </a:solidFill>
                <a:latin typeface="Aptos"/>
              </a:defRPr>
            </a:pPr>
            <a:r>
              <a:t>Robustness should be measured across clean, distorted, restored, and fine-tuned settings.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500" b="1">
                <a:solidFill>
                  <a:srgbClr val="2666AC"/>
                </a:solidFill>
                <a:latin typeface="Aptos"/>
              </a:defRPr>
            </a:pPr>
            <a:r>
              <a:t>Task 1 | Super-resolution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2240280"/>
            <a:ext cx="722376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Best when image structure remains; restoration often raises PSNR before sharpened_lanczos.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27432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500" b="1">
                <a:solidFill>
                  <a:srgbClr val="008074"/>
                </a:solidFill>
                <a:latin typeface="Aptos"/>
              </a:defRPr>
            </a:pPr>
            <a:r>
              <a:t>Task 2 |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3291840"/>
            <a:ext cx="722376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Augmentation improved clean accuracy slightly; salt-and-pepper remains the hardest distortion.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27432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500" b="1">
                <a:solidFill>
                  <a:srgbClr val="B2483E"/>
                </a:solidFill>
                <a:latin typeface="Aptos"/>
              </a:defRPr>
            </a:pPr>
            <a:r>
              <a:t>Task 3 | YOLO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343400"/>
            <a:ext cx="722376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Mask training enables tumor marking; fine-tuning improves robustness on distorted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>
              <a:defRPr sz="1300" b="0">
                <a:solidFill>
                  <a:srgbClr val="D2DCDA"/>
                </a:solidFill>
                <a:latin typeface="Aptos"/>
              </a:defRPr>
            </a:pPr>
            <a:r>
              <a:t>Main takeaway: restoration is useful, but for deep-learning tasks, distortion-aware fine-tuning is usually the stronger improvement.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1390A-3794-8E40-272C-5C9C91D3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3">
            <a:extLst>
              <a:ext uri="{FF2B5EF4-FFF2-40B4-BE49-F238E27FC236}">
                <a16:creationId xmlns:a16="http://schemas.microsoft.com/office/drawing/2014/main" id="{8D61EFCF-CD72-198C-6499-A56D50CC22C9}"/>
              </a:ext>
            </a:extLst>
          </p:cNvPr>
          <p:cNvSpPr/>
          <p:nvPr/>
        </p:nvSpPr>
        <p:spPr>
          <a:xfrm>
            <a:off x="1524000" y="2618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64115CA3-C6DC-18FC-1BB2-B377C3424615}"/>
              </a:ext>
            </a:extLst>
          </p:cNvPr>
          <p:cNvSpPr/>
          <p:nvPr/>
        </p:nvSpPr>
        <p:spPr>
          <a:xfrm>
            <a:off x="5593080" y="1463040"/>
            <a:ext cx="1005840" cy="1005840"/>
          </a:xfrm>
          <a:prstGeom prst="ellipse">
            <a:avLst/>
          </a:prstGeom>
          <a:solidFill>
            <a:srgbClr val="0B3D59"/>
          </a:solidFill>
          <a:ln/>
        </p:spPr>
        <p:txBody>
          <a:bodyPr/>
          <a:lstStyle/>
          <a:p>
            <a:pPr algn="ctr"/>
            <a:endParaRPr lang="he-IL" dirty="0"/>
          </a:p>
        </p:txBody>
      </p:sp>
      <p:pic>
        <p:nvPicPr>
          <p:cNvPr id="23" name="Image 0" descr="icons/github.png">
            <a:extLst>
              <a:ext uri="{FF2B5EF4-FFF2-40B4-BE49-F238E27FC236}">
                <a16:creationId xmlns:a16="http://schemas.microsoft.com/office/drawing/2014/main" id="{1BE8D15C-9226-A6D2-AB5A-F50F5E069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780" y="1583741"/>
            <a:ext cx="764438" cy="764438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37B5B0AD-C673-93BE-E804-A2A54C979058}"/>
              </a:ext>
            </a:extLst>
          </p:cNvPr>
          <p:cNvSpPr/>
          <p:nvPr/>
        </p:nvSpPr>
        <p:spPr>
          <a:xfrm>
            <a:off x="3512648" y="3681760"/>
            <a:ext cx="516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Digital-Image-Processing — Brain MRI Robustness</a:t>
            </a:r>
            <a:endParaRPr lang="en-US" sz="1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27794E7-1463-2724-73CF-A701D43DC334}"/>
              </a:ext>
            </a:extLst>
          </p:cNvPr>
          <p:cNvSpPr/>
          <p:nvPr/>
        </p:nvSpPr>
        <p:spPr>
          <a:xfrm>
            <a:off x="4536847" y="4271524"/>
            <a:ext cx="31183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Renana Chaba  &amp;  Michael Khadarkevich</a:t>
            </a:r>
            <a:endParaRPr lang="en-US" sz="13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E669216F-A11B-54EC-6721-59334B6F00C7}"/>
              </a:ext>
            </a:extLst>
          </p:cNvPr>
          <p:cNvSpPr/>
          <p:nvPr/>
        </p:nvSpPr>
        <p:spPr>
          <a:xfrm>
            <a:off x="4239816" y="4874844"/>
            <a:ext cx="371236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 Course · Bar-Ilan University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873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1113</Words>
  <Application>Microsoft Office PowerPoint</Application>
  <PresentationFormat>מסך רחב</PresentationFormat>
  <Paragraphs>205</Paragraphs>
  <Slides>22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Cambria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CNN on different distortions with classic restoration, without fine tuning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Ziv Chaba</cp:lastModifiedBy>
  <cp:revision>15</cp:revision>
  <dcterms:created xsi:type="dcterms:W3CDTF">2013-01-27T09:14:16Z</dcterms:created>
  <dcterms:modified xsi:type="dcterms:W3CDTF">2026-08-02T02:16:59Z</dcterms:modified>
  <cp:category/>
</cp:coreProperties>
</file>