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0.jpg"/><Relationship Id="rId5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685800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Digital Image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98448"/>
            <a:ext cx="5486400" cy="3200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700" b="0">
                <a:solidFill>
                  <a:srgbClr val="DDE7E7"/>
                </a:solidFill>
                <a:latin typeface="Aptos"/>
              </a:defRPr>
            </a:pPr>
            <a:r>
              <a:t>Brain MRI Robustness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828800"/>
            <a:ext cx="585216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400" b="0">
                <a:solidFill>
                  <a:srgbClr val="C6D2D2"/>
                </a:solidFill>
                <a:latin typeface="Aptos"/>
              </a:defRPr>
            </a:pPr>
            <a:r>
              <a:t>By Michael Khadarkevich and Ranana Khava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2240280" cy="914400"/>
          </a:xfrm>
          <a:prstGeom prst="roundRect">
            <a:avLst/>
          </a:prstGeom>
          <a:solidFill>
            <a:srgbClr val="FAFCFC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852928"/>
            <a:ext cx="1874519" cy="3200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2100" b="1">
                <a:solidFill>
                  <a:srgbClr val="2666A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273552"/>
            <a:ext cx="1901952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850" b="0">
                <a:solidFill>
                  <a:srgbClr val="56636B"/>
                </a:solidFill>
                <a:latin typeface="Aptos"/>
              </a:defRPr>
            </a:pPr>
            <a:r>
              <a:t>tasks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743200"/>
            <a:ext cx="2240280" cy="914400"/>
          </a:xfrm>
          <a:prstGeom prst="roundRect">
            <a:avLst/>
          </a:prstGeom>
          <a:solidFill>
            <a:srgbClr val="FAFCFC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2852928"/>
            <a:ext cx="1874519" cy="3200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2100" b="1">
                <a:solidFill>
                  <a:srgbClr val="00807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3273552"/>
            <a:ext cx="1901952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850" b="0">
                <a:solidFill>
                  <a:srgbClr val="56636B"/>
                </a:solidFill>
                <a:latin typeface="Aptos"/>
              </a:defRPr>
            </a:pPr>
            <a:r>
              <a:t>datasets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2743200"/>
            <a:ext cx="2240280" cy="914400"/>
          </a:xfrm>
          <a:prstGeom prst="roundRect">
            <a:avLst/>
          </a:prstGeom>
          <a:solidFill>
            <a:srgbClr val="FAFCFC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16752" y="2852928"/>
            <a:ext cx="1874519" cy="3200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2100" b="1">
                <a:solidFill>
                  <a:srgbClr val="B2483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3273552"/>
            <a:ext cx="1901952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850" b="0">
                <a:solidFill>
                  <a:srgbClr val="56636B"/>
                </a:solidFill>
                <a:latin typeface="Aptos"/>
              </a:defRPr>
            </a:pPr>
            <a:r>
              <a:t>distortion families</a:t>
            </a:r>
          </a:p>
        </p:txBody>
      </p:sp>
      <p:pic>
        <p:nvPicPr>
          <p:cNvPr id="14" name="Picture 13" descr="task3_yolo_basic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777240"/>
            <a:ext cx="2743200" cy="2743200"/>
          </a:xfrm>
          <a:prstGeom prst="rect">
            <a:avLst/>
          </a:prstGeom>
        </p:spPr>
      </p:pic>
      <p:pic>
        <p:nvPicPr>
          <p:cNvPr id="15" name="Picture 14" descr="data1_tumor_examp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3886200"/>
            <a:ext cx="1737360" cy="1737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60" y="5623560"/>
            <a:ext cx="6583680" cy="3200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Clean → distorted → restored → fine-tuned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t>PROJECT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961120" cy="60350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2400" b="1">
                <a:solidFill>
                  <a:srgbClr val="182228"/>
                </a:solidFill>
                <a:latin typeface="Aptos"/>
              </a:defRPr>
            </a:pPr>
            <a:r>
              <a:t>Why this project uses brain MRI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6"/>
            <a:ext cx="905256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t>The selected data supports medical image-processing tasks better than some generic vision tasks.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10607040" cy="3383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828800" cy="3657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2200" b="1">
                <a:solidFill>
                  <a:srgbClr val="008074"/>
                </a:solidFill>
                <a:latin typeface="Aptos"/>
              </a:defRPr>
            </a:pPr>
            <a:r>
              <a:t>הערה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06040"/>
            <a:ext cx="9692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228"/>
                </a:solidFill>
                <a:latin typeface="Aptos"/>
              </a:defRPr>
            </a:pPr>
            <a:r>
              <a:t>בחרנו לעסוק בסרטן מוח משום שהדאטה מתאים למשימות של עיבוד תמונה וראייה ממוחשבת.</a:t>
            </a:r>
          </a:p>
          <a:p>
            <a:pPr>
              <a:spcAft>
                <a:spcPts val="800"/>
              </a:spcAft>
              <a:defRPr sz="1600">
                <a:solidFill>
                  <a:srgbClr val="182228"/>
                </a:solidFill>
                <a:latin typeface="Aptos"/>
              </a:defRPr>
            </a:pPr>
            <a:r>
              <a:t>בפרויקט נבדק איך עיוותים פוגעים בתמונה ובמודלים, ואיך שחזור או אימון נוסף יכולים לשפר את התוצאות.</a:t>
            </a:r>
          </a:p>
          <a:p>
            <a:pPr>
              <a:spcAft>
                <a:spcPts val="800"/>
              </a:spcAft>
              <a:defRPr sz="1600">
                <a:solidFill>
                  <a:srgbClr val="182228"/>
                </a:solidFill>
                <a:latin typeface="Aptos"/>
              </a:defRPr>
            </a:pPr>
            <a:r>
              <a:t>המטרה היא לא אבחון רפואי, אלא בדיקת עמידות של אלגוריתמים על תמונות MRI.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961120" cy="60350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2400" b="1">
                <a:solidFill>
                  <a:srgbClr val="182228"/>
                </a:solidFill>
                <a:latin typeface="Aptos"/>
              </a:defRPr>
            </a:pPr>
            <a:r>
              <a:t>Distortions reduce reliability, so the project measures degradation and recovery.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6"/>
            <a:ext cx="905256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t>The same experiment logic is repeated across super-resolution, CNN classification, and YOLO segmentation.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246120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84831"/>
            <a:ext cx="2743200" cy="2743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700" b="1">
                <a:solidFill>
                  <a:srgbClr val="2666AC"/>
                </a:solidFill>
                <a:latin typeface="Aptos"/>
              </a:defRPr>
            </a:pPr>
            <a:r>
              <a:t>Super-resolution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260604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300" b="0">
                <a:solidFill>
                  <a:srgbClr val="182228"/>
                </a:solidFill>
                <a:latin typeface="Aptos"/>
              </a:defRPr>
            </a:pPr>
            <a:r>
              <a:t>PSNR after x2 downsampling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28800"/>
            <a:ext cx="3246120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084831"/>
            <a:ext cx="2743200" cy="2743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700" b="1">
                <a:solidFill>
                  <a:srgbClr val="008074"/>
                </a:solidFill>
                <a:latin typeface="Aptos"/>
              </a:defRPr>
            </a:pPr>
            <a:r>
              <a:t>CNN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06040"/>
            <a:ext cx="260604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300" b="0">
                <a:solidFill>
                  <a:srgbClr val="182228"/>
                </a:solidFill>
                <a:latin typeface="Aptos"/>
              </a:defRPr>
            </a:pPr>
            <a:r>
              <a:t>total true percent on tumor/no-tumor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828800"/>
            <a:ext cx="3246120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084831"/>
            <a:ext cx="2743200" cy="2743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700" b="1">
                <a:solidFill>
                  <a:srgbClr val="B2483E"/>
                </a:solidFill>
                <a:latin typeface="Aptos"/>
              </a:defRPr>
            </a:pPr>
            <a:r>
              <a:t>YOLO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606040"/>
            <a:ext cx="260604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300" b="0">
                <a:solidFill>
                  <a:srgbClr val="182228"/>
                </a:solidFill>
                <a:latin typeface="Aptos"/>
              </a:defRPr>
            </a:pPr>
            <a:r>
              <a:t>mask mAP50 on tumor segmentation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228"/>
                </a:solidFill>
                <a:latin typeface="Aptos"/>
              </a:defRPr>
            </a:pPr>
            <a:r>
              <a:t>Experiment path: clean baseline → distorted input → restored input → fine-tuned model when relevant.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t>EXPERIMENT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961120" cy="60350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2400" b="1">
                <a:solidFill>
                  <a:srgbClr val="182228"/>
                </a:solidFill>
                <a:latin typeface="Aptos"/>
              </a:defRPr>
            </a:pPr>
            <a:r>
              <a:t>Every task uses the same robustness question.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6"/>
            <a:ext cx="905256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t>How much does distortion hurt, and which improvement helps recover performance?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228"/>
                </a:solidFill>
                <a:latin typeface="Aptos"/>
              </a:defRPr>
            </a:pPr>
            <a:r>
              <a:t>Data 1: Kaggle tumor/no-tumor classification images.</a:t>
            </a:r>
          </a:p>
          <a:p>
            <a:pPr>
              <a:spcAft>
                <a:spcPts val="800"/>
              </a:spcAft>
              <a:defRPr sz="1500">
                <a:solidFill>
                  <a:srgbClr val="182228"/>
                </a:solidFill>
                <a:latin typeface="Aptos"/>
              </a:defRPr>
            </a:pPr>
            <a:r>
              <a:t>Data 2: MRI tumor segmentation masks converted to YOLO format.</a:t>
            </a:r>
          </a:p>
          <a:p>
            <a:pPr>
              <a:spcAft>
                <a:spcPts val="800"/>
              </a:spcAft>
              <a:defRPr sz="1500">
                <a:solidFill>
                  <a:srgbClr val="182228"/>
                </a:solidFill>
                <a:latin typeface="Aptos"/>
              </a:defRPr>
            </a:pPr>
            <a:r>
              <a:t>Distortions: gaussian noise, salt-and-pepper, gaussian blur, and YOLO brightness/contrast.</a:t>
            </a:r>
          </a:p>
          <a:p>
            <a:pPr>
              <a:spcAft>
                <a:spcPts val="800"/>
              </a:spcAft>
              <a:defRPr sz="1500">
                <a:solidFill>
                  <a:srgbClr val="182228"/>
                </a:solidFill>
                <a:latin typeface="Aptos"/>
              </a:defRPr>
            </a:pPr>
            <a:r>
              <a:t>Improvement: restoration pre-processing and fine-tuning for learning-based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828800"/>
            <a:ext cx="4937760" cy="3108960"/>
          </a:xfrm>
          <a:prstGeom prst="roundRect">
            <a:avLst/>
          </a:prstGeom>
          <a:solidFill>
            <a:srgbClr val="F5F8F8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155448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400" b="1">
                <a:solidFill>
                  <a:srgbClr val="2666AC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148840"/>
            <a:ext cx="256032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300" b="0">
                <a:solidFill>
                  <a:srgbClr val="182228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07208"/>
            <a:ext cx="155448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400" b="1">
                <a:solidFill>
                  <a:srgbClr val="B2483E"/>
                </a:solidFill>
                <a:latin typeface="Aptos"/>
              </a:defRPr>
            </a:pPr>
            <a:r>
              <a:t>Distorted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807208"/>
            <a:ext cx="256032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300" b="0">
                <a:solidFill>
                  <a:srgbClr val="182228"/>
                </a:solidFill>
                <a:latin typeface="Aptos"/>
              </a:defRPr>
            </a:pPr>
            <a:r>
              <a:t>degradation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65576"/>
            <a:ext cx="155448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400" b="1">
                <a:solidFill>
                  <a:srgbClr val="008074"/>
                </a:solidFill>
                <a:latin typeface="Aptos"/>
              </a:defRPr>
            </a:pPr>
            <a:r>
              <a:t>Restored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465576"/>
            <a:ext cx="256032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300" b="0">
                <a:solidFill>
                  <a:srgbClr val="182228"/>
                </a:solidFill>
                <a:latin typeface="Aptos"/>
              </a:defRPr>
            </a:pPr>
            <a:r>
              <a:t>pre-processing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123944"/>
            <a:ext cx="155448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400" b="1">
                <a:solidFill>
                  <a:srgbClr val="B88630"/>
                </a:solidFill>
                <a:latin typeface="Aptos"/>
              </a:defRPr>
            </a:pPr>
            <a:r>
              <a:t>Fine-tuned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123944"/>
            <a:ext cx="256032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300" b="0">
                <a:solidFill>
                  <a:srgbClr val="182228"/>
                </a:solidFill>
                <a:latin typeface="Aptos"/>
              </a:defRPr>
            </a:pPr>
            <a:r>
              <a:t>model adaptation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961120" cy="60350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2400" b="1">
                <a:solidFill>
                  <a:srgbClr val="182228"/>
                </a:solidFill>
                <a:latin typeface="Aptos"/>
              </a:defRPr>
            </a:pPr>
            <a:r>
              <a:t>Two datasets support two different outputs: class labels and masks.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6"/>
            <a:ext cx="905256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t>Data 1 labels are folder names; Data 2 labels are segmentation polygons for YOLO.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3246120" cy="4114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ta1_no_tumor_examp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057400"/>
            <a:ext cx="2560320" cy="256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" y="4983480"/>
            <a:ext cx="256032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1400" b="1">
                <a:solidFill>
                  <a:srgbClr val="182228"/>
                </a:solidFill>
                <a:latin typeface="Aptos"/>
              </a:defRPr>
            </a:pPr>
            <a:r>
              <a:t>Data 1: no tumor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783080"/>
            <a:ext cx="3246120" cy="4114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ata1_tumor_examp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057400"/>
            <a:ext cx="2560320" cy="2560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00600" y="4983480"/>
            <a:ext cx="256032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1400" b="1">
                <a:solidFill>
                  <a:srgbClr val="182228"/>
                </a:solidFill>
                <a:latin typeface="Aptos"/>
              </a:defRPr>
            </a:pPr>
            <a:r>
              <a:t>Data 1: tumor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783080"/>
            <a:ext cx="3246120" cy="4114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ask3_yolo_mask_exam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2539025"/>
            <a:ext cx="2743200" cy="15970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95360" y="4983480"/>
            <a:ext cx="256032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1400" b="1">
                <a:solidFill>
                  <a:srgbClr val="182228"/>
                </a:solidFill>
                <a:latin typeface="Aptos"/>
              </a:defRPr>
            </a:pPr>
            <a:r>
              <a:t>Data 2: mask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t>SHARED DISTORTION AND RESTORATION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961120" cy="60350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2400" b="1">
                <a:solidFill>
                  <a:srgbClr val="182228"/>
                </a:solidFill>
                <a:latin typeface="Aptos"/>
              </a:defRPr>
            </a:pPr>
            <a:r>
              <a:t>Restoration is a common pre-processing improvement used before evaluation.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6"/>
            <a:ext cx="905256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t>Noise is reduced, blur is sharpened, and intensity changes are normalized.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6400800" cy="4343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storatio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325" y="1691640"/>
            <a:ext cx="1809750" cy="434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60920" y="1965960"/>
            <a:ext cx="3840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82228"/>
                </a:solidFill>
                <a:latin typeface="Aptos"/>
              </a:defRPr>
            </a:pPr>
            <a:r>
              <a:t>Gaussian noise: smoothing + unsharp mask.</a:t>
            </a:r>
          </a:p>
          <a:p>
            <a:pPr>
              <a:spcAft>
                <a:spcPts val="800"/>
              </a:spcAft>
              <a:defRPr sz="1300">
                <a:solidFill>
                  <a:srgbClr val="182228"/>
                </a:solidFill>
                <a:latin typeface="Aptos"/>
              </a:defRPr>
            </a:pPr>
            <a:r>
              <a:t>Salt-and-pepper: median filtering.</a:t>
            </a:r>
          </a:p>
          <a:p>
            <a:pPr>
              <a:spcAft>
                <a:spcPts val="800"/>
              </a:spcAft>
              <a:defRPr sz="1300">
                <a:solidFill>
                  <a:srgbClr val="182228"/>
                </a:solidFill>
                <a:latin typeface="Aptos"/>
              </a:defRPr>
            </a:pPr>
            <a:r>
              <a:t>Gaussian blur: unsharp masking.</a:t>
            </a:r>
          </a:p>
          <a:p>
            <a:pPr>
              <a:spcAft>
                <a:spcPts val="800"/>
              </a:spcAft>
              <a:defRPr sz="1300">
                <a:solidFill>
                  <a:srgbClr val="182228"/>
                </a:solidFill>
                <a:latin typeface="Aptos"/>
              </a:defRPr>
            </a:pPr>
            <a:r>
              <a:t>Brightness/contrast: autocontrast and contrast normalization.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2011680" cy="3200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500" b="1">
                <a:solidFill>
                  <a:srgbClr val="2666AC"/>
                </a:solidFill>
                <a:latin typeface="Aptos"/>
              </a:defRPr>
            </a:pPr>
            <a:r>
              <a:t>Task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8046720" cy="6858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Super-resolution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2148840"/>
            <a:ext cx="10259568" cy="0"/>
          </a:xfrm>
          <a:prstGeom prst="line">
            <a:avLst/>
          </a:prstGeom>
          <a:ln w="25400">
            <a:solidFill>
              <a:srgbClr val="26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2514600"/>
            <a:ext cx="7863840" cy="5486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700" b="0">
                <a:solidFill>
                  <a:srgbClr val="E0E8E8"/>
                </a:solidFill>
                <a:latin typeface="Aptos"/>
              </a:defRPr>
            </a:pPr>
            <a:r>
              <a:t>Downsample x2, reconstruct, and measure image fidelity with PSNR.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t>TASK 1 | CLEAN SUPER-RESOLUTION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961120" cy="60350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2400" b="1">
                <a:solidFill>
                  <a:srgbClr val="182228"/>
                </a:solidFill>
                <a:latin typeface="Aptos"/>
              </a:defRPr>
            </a:pPr>
            <a:r>
              <a:t>Lanczos gives the strongest clean PSNR on the selected MRI image.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6"/>
            <a:ext cx="905256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t>Sharpened_lanczos is used in the SNR/level experiments to compare distorted and restored images.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6629400" cy="4434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uper_resolutio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231" y="1645920"/>
            <a:ext cx="4223657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1874519"/>
            <a:ext cx="2240280" cy="914400"/>
          </a:xfrm>
          <a:prstGeom prst="roundRect">
            <a:avLst/>
          </a:prstGeom>
          <a:solidFill>
            <a:srgbClr val="FAFCFC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9831" y="1984248"/>
            <a:ext cx="1874519" cy="3200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2100" b="1">
                <a:solidFill>
                  <a:srgbClr val="2666AC"/>
                </a:solidFill>
                <a:latin typeface="Aptos"/>
              </a:defRPr>
            </a:pPr>
            <a:r>
              <a:t>29.62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1" y="2404872"/>
            <a:ext cx="1901952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850" b="0">
                <a:solidFill>
                  <a:srgbClr val="56636B"/>
                </a:solidFill>
                <a:latin typeface="Aptos"/>
              </a:defRPr>
            </a:pPr>
            <a:r>
              <a:t>Best clean PSNR: Lanczos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2971800"/>
            <a:ext cx="2240280" cy="914400"/>
          </a:xfrm>
          <a:prstGeom prst="roundRect">
            <a:avLst/>
          </a:prstGeom>
          <a:solidFill>
            <a:srgbClr val="FAFCFC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9831" y="3081528"/>
            <a:ext cx="1874519" cy="3200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2100" b="1">
                <a:solidFill>
                  <a:srgbClr val="008074"/>
                </a:solidFill>
                <a:latin typeface="Aptos"/>
              </a:defRPr>
            </a:pPr>
            <a:r>
              <a:t>26.87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9831" y="3502152"/>
            <a:ext cx="1901952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850" b="0">
                <a:solidFill>
                  <a:srgbClr val="56636B"/>
                </a:solidFill>
                <a:latin typeface="Aptos"/>
              </a:defRPr>
            </a:pPr>
            <a:r>
              <a:t>Sharpened_lanczos PSNR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069080"/>
            <a:ext cx="2240280" cy="914400"/>
          </a:xfrm>
          <a:prstGeom prst="roundRect">
            <a:avLst/>
          </a:prstGeom>
          <a:solidFill>
            <a:srgbClr val="FAFCFC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9831" y="4178808"/>
            <a:ext cx="1874519" cy="3200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2100" b="1">
                <a:solidFill>
                  <a:srgbClr val="B88630"/>
                </a:solidFill>
                <a:latin typeface="Aptos"/>
              </a:defRPr>
            </a:pPr>
            <a:r>
              <a:t>98.38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9831" y="4599432"/>
            <a:ext cx="1901952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850" b="0">
                <a:solidFill>
                  <a:srgbClr val="56636B"/>
                </a:solidFill>
                <a:latin typeface="Aptos"/>
              </a:defRPr>
            </a:pPr>
            <a:r>
              <a:t>Best reconstruction 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t>TASK 1 | DISTORTED SUPER-RESOLUTION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961120" cy="60350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2400" b="1">
                <a:solidFill>
                  <a:srgbClr val="182228"/>
                </a:solidFill>
                <a:latin typeface="Aptos"/>
              </a:defRPr>
            </a:pPr>
            <a:r>
              <a:t>Restored inputs usually recover PSNR before sharpened_lanczos reconstruction.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6"/>
            <a:ext cx="905256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t>Each graph includes a dashed clean baseline.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3657600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aussian_noise_snr_psnr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12900"/>
            <a:ext cx="3657600" cy="203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51960" y="1508760"/>
            <a:ext cx="3657600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alt_and_pepper_density_psnr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612900"/>
            <a:ext cx="3657600" cy="2032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01000" y="1508760"/>
            <a:ext cx="3657600" cy="2240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aussian_blur_sigma_psnr_grap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612900"/>
            <a:ext cx="3657600" cy="203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" y="438912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82228"/>
                </a:solidFill>
                <a:latin typeface="Aptos"/>
              </a:defRPr>
            </a:pPr>
            <a:r>
              <a:t>Main metric: PSNR. Restoration helps most when noise can be reduced without destroying structure. Severe salt-and-pepper is the hardest setting.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2011680" cy="3200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500" b="1">
                <a:solidFill>
                  <a:srgbClr val="008074"/>
                </a:solidFill>
                <a:latin typeface="Aptos"/>
              </a:defRPr>
            </a:pPr>
            <a:r>
              <a:t>Task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8046720" cy="6858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CNN tumor classification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2148840"/>
            <a:ext cx="10259568" cy="0"/>
          </a:xfrm>
          <a:prstGeom prst="line">
            <a:avLst/>
          </a:prstGeom>
          <a:ln w="25400">
            <a:solidFill>
              <a:srgbClr val="008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2514600"/>
            <a:ext cx="7863840" cy="5486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700" b="0">
                <a:solidFill>
                  <a:srgbClr val="E0E8E8"/>
                </a:solidFill>
                <a:latin typeface="Aptos"/>
              </a:defRPr>
            </a:pPr>
            <a:r>
              <a:t>Classify Data 1 images as tumor or no_tumor, then test robustness.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t>TASK 2 | BASIC CNN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961120" cy="60350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2400" b="1">
                <a:solidFill>
                  <a:srgbClr val="182228"/>
                </a:solidFill>
                <a:latin typeface="Aptos"/>
              </a:defRPr>
            </a:pPr>
            <a:r>
              <a:t>The basic CNN reaches 78.95% accuracy on clean Data 1 test images.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6"/>
            <a:ext cx="905256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t>The confusion matrix shows actual labels as rows and predicted labels as columns.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691640"/>
            <a:ext cx="3840480" cy="3291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01368"/>
            <a:ext cx="3840480" cy="30723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577840" y="1691640"/>
            <a:ext cx="5166360" cy="3291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raining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304288"/>
            <a:ext cx="5166360" cy="20665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05840" y="5394960"/>
            <a:ext cx="2240280" cy="914400"/>
          </a:xfrm>
          <a:prstGeom prst="roundRect">
            <a:avLst/>
          </a:prstGeom>
          <a:solidFill>
            <a:srgbClr val="FAFCFC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5504688"/>
            <a:ext cx="1874519" cy="3200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2100" b="1">
                <a:solidFill>
                  <a:srgbClr val="2666AC"/>
                </a:solidFill>
                <a:latin typeface="Aptos"/>
              </a:defRPr>
            </a:pPr>
            <a:r>
              <a:t>78.95%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5925312"/>
            <a:ext cx="1901952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850" b="0">
                <a:solidFill>
                  <a:srgbClr val="56636B"/>
                </a:solidFill>
                <a:latin typeface="Aptos"/>
              </a:defRPr>
            </a:pPr>
            <a:r>
              <a:t>Basic CNN test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5394960"/>
            <a:ext cx="2240280" cy="914400"/>
          </a:xfrm>
          <a:prstGeom prst="roundRect">
            <a:avLst/>
          </a:prstGeom>
          <a:solidFill>
            <a:srgbClr val="FAFCFC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5504688"/>
            <a:ext cx="1874519" cy="3200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2100" b="1">
                <a:solidFill>
                  <a:srgbClr val="008074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5925312"/>
            <a:ext cx="1901952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850" b="0">
                <a:solidFill>
                  <a:srgbClr val="56636B"/>
                </a:solidFill>
                <a:latin typeface="Aptos"/>
              </a:defRPr>
            </a:pPr>
            <a:r>
              <a:t>test images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t>TASK 2 | AUGMENTATION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961120" cy="60350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2400" b="1">
                <a:solidFill>
                  <a:srgbClr val="182228"/>
                </a:solidFill>
                <a:latin typeface="Aptos"/>
              </a:defRPr>
            </a:pPr>
            <a:r>
              <a:t>Rotation augmentation improved the CNN, but only by a small amount.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6"/>
            <a:ext cx="905256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t>Because the dataset is small, augmentation adds examples; changing head position did not create a large gain.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337560" cy="2834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73936"/>
            <a:ext cx="3337560" cy="26700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617720" y="1874519"/>
            <a:ext cx="2011680" cy="1920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sk2_cnn_original_examp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874519"/>
            <a:ext cx="1920240" cy="1920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903720" y="1874519"/>
            <a:ext cx="2011680" cy="1920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ask2_cnn_augmented_rot20_exampl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874519"/>
            <a:ext cx="1920240" cy="19202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326880" y="1920240"/>
            <a:ext cx="2240280" cy="914400"/>
          </a:xfrm>
          <a:prstGeom prst="roundRect">
            <a:avLst/>
          </a:prstGeom>
          <a:solidFill>
            <a:srgbClr val="FAFCFC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91472" y="2029968"/>
            <a:ext cx="1874519" cy="3200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2100" b="1">
                <a:solidFill>
                  <a:srgbClr val="008074"/>
                </a:solidFill>
                <a:latin typeface="Aptos"/>
              </a:defRPr>
            </a:pPr>
            <a:r>
              <a:t>81.58%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1472" y="2450592"/>
            <a:ext cx="1901952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850" b="0">
                <a:solidFill>
                  <a:srgbClr val="56636B"/>
                </a:solidFill>
                <a:latin typeface="Aptos"/>
              </a:defRPr>
            </a:pPr>
            <a:r>
              <a:t>Augmented CNN accuracy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3063240"/>
            <a:ext cx="2240280" cy="914400"/>
          </a:xfrm>
          <a:prstGeom prst="roundRect">
            <a:avLst/>
          </a:prstGeom>
          <a:solidFill>
            <a:srgbClr val="FAFCFC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91472" y="3172968"/>
            <a:ext cx="1874519" cy="3200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2100" b="1">
                <a:solidFill>
                  <a:srgbClr val="B88630"/>
                </a:solidFill>
                <a:latin typeface="Aptos"/>
              </a:defRPr>
            </a:pPr>
            <a:r>
              <a:t>+2.63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91472" y="3593592"/>
            <a:ext cx="1901952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850" b="0">
                <a:solidFill>
                  <a:srgbClr val="56636B"/>
                </a:solidFill>
                <a:latin typeface="Aptos"/>
              </a:defRPr>
            </a:pPr>
            <a:r>
              <a:t>gain over basic CNN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160520"/>
            <a:ext cx="146304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1200" b="1">
                <a:solidFill>
                  <a:srgbClr val="182228"/>
                </a:solidFill>
                <a:latin typeface="Aptos"/>
              </a:defRPr>
            </a:pPr>
            <a:r>
              <a:t>Original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160520"/>
            <a:ext cx="164592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1200" b="1">
                <a:solidFill>
                  <a:srgbClr val="182228"/>
                </a:solidFill>
                <a:latin typeface="Aptos"/>
              </a:defRPr>
            </a:pPr>
            <a:r>
              <a:t>Augmented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t>TASK 2 | RESTORATION AND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961120" cy="60350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2400" b="1">
                <a:solidFill>
                  <a:srgbClr val="182228"/>
                </a:solidFill>
                <a:latin typeface="Aptos"/>
              </a:defRPr>
            </a:pPr>
            <a:r>
              <a:t>Fine-tuning and restoration are compared against the same clean CNN baseline.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6"/>
            <a:ext cx="905256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t>Total true percent summarizes how many tumor/no-tumor predictions are correct.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5166360" cy="3611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nn_compare_distortion_restoration_fine_tune_total_true_percent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22463"/>
            <a:ext cx="5166360" cy="238447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72200" y="1508760"/>
            <a:ext cx="5166360" cy="3611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otal_true_percent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238375"/>
            <a:ext cx="5166360" cy="2152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82228"/>
                </a:solidFill>
                <a:latin typeface="Aptos"/>
              </a:defRPr>
            </a:pPr>
            <a:r>
              <a:t>Salt-and-pepper noise is the clearest CNN failure mode. Restoration recovers some cases; fine-tuning is the stronger model-level improvement.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t>TASK 2 | CNN SNR AND LEVEL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961120" cy="60350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2400" b="1">
                <a:solidFill>
                  <a:srgbClr val="182228"/>
                </a:solidFill>
                <a:latin typeface="Aptos"/>
              </a:defRPr>
            </a:pPr>
            <a:r>
              <a:t>Separate distortion-level graphs show where classification begins to break.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6"/>
            <a:ext cx="905256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t>The dashed line is the basic CNN on clean, non-distorted images.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3657600" cy="2331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nn_compare_snr_distortion_restoration_fine_tune_total_true_percent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58619"/>
            <a:ext cx="3657600" cy="203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51960" y="1508760"/>
            <a:ext cx="3657600" cy="2331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nn_compare_salt_and_pepper_distortion_restoration_fine_tune_total_true_percent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658619"/>
            <a:ext cx="3657600" cy="2032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01000" y="1508760"/>
            <a:ext cx="3657600" cy="2331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nn_compare_gaussian_blur_distortion_restoration_fine_tune_total_true_percent_grap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658619"/>
            <a:ext cx="3657600" cy="203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4434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82228"/>
                </a:solidFill>
                <a:latin typeface="Aptos"/>
              </a:defRPr>
            </a:pPr>
            <a:r>
              <a:t>Reading the graphs together separates distortion strength from model strategy: basic, restored, and fine-tuned.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2011680" cy="3200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500" b="1">
                <a:solidFill>
                  <a:srgbClr val="B2483E"/>
                </a:solidFill>
                <a:latin typeface="Aptos"/>
              </a:defRPr>
            </a:pPr>
            <a:r>
              <a:t>Task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8046720" cy="6858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YOLO tumor segmentation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2148840"/>
            <a:ext cx="10259568" cy="0"/>
          </a:xfrm>
          <a:prstGeom prst="line">
            <a:avLst/>
          </a:prstGeom>
          <a:ln w="25400">
            <a:solidFill>
              <a:srgbClr val="B248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2514600"/>
            <a:ext cx="7863840" cy="5486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700" b="0">
                <a:solidFill>
                  <a:srgbClr val="E0E8E8"/>
                </a:solidFill>
                <a:latin typeface="Aptos"/>
              </a:defRPr>
            </a:pPr>
            <a:r>
              <a:t>Use Data 2 masks so the model can mark tumor regions, not only classify the image.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t>TASK 3 | SEGMENTATION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961120" cy="60350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2400" b="1">
                <a:solidFill>
                  <a:srgbClr val="182228"/>
                </a:solidFill>
                <a:latin typeface="Aptos"/>
              </a:defRPr>
            </a:pPr>
            <a:r>
              <a:t>YOLO output is evaluated as a mask prediction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6"/>
            <a:ext cx="905256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t>Clean, mask, distorted, and restored images show the full experiment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06040" cy="388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ask3_yolo_basic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034540"/>
            <a:ext cx="228600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956048"/>
            <a:ext cx="214884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1300" b="1">
                <a:solidFill>
                  <a:srgbClr val="182228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1691640"/>
            <a:ext cx="2606040" cy="388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sk3_yolo_mask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304" y="2512094"/>
            <a:ext cx="2286000" cy="133089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39312" y="4956048"/>
            <a:ext cx="214884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1300" b="1">
                <a:solidFill>
                  <a:srgbClr val="182228"/>
                </a:solidFill>
                <a:latin typeface="Aptos"/>
              </a:defRPr>
            </a:pPr>
            <a:r>
              <a:t>Mask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691640"/>
            <a:ext cx="2606040" cy="388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ask3_yolo_distorted_gaussian_noise_15db_exampl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2034540"/>
            <a:ext cx="2286000" cy="228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47104" y="4956048"/>
            <a:ext cx="214884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1300" b="1">
                <a:solidFill>
                  <a:srgbClr val="182228"/>
                </a:solidFill>
                <a:latin typeface="Aptos"/>
              </a:defRPr>
            </a:pPr>
            <a:r>
              <a:t>Distorted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26296" y="1691640"/>
            <a:ext cx="2606040" cy="388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ask3_yolo_restored_gaussian_noise_15db_exampl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888" y="2034540"/>
            <a:ext cx="2286000" cy="228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454896" y="4956048"/>
            <a:ext cx="214884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>
              <a:defRPr sz="1300" b="1">
                <a:solidFill>
                  <a:srgbClr val="182228"/>
                </a:solidFill>
                <a:latin typeface="Aptos"/>
              </a:defRPr>
            </a:pPr>
            <a:r>
              <a:t>Restored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900" b="1">
                <a:solidFill>
                  <a:srgbClr val="008074"/>
                </a:solidFill>
                <a:latin typeface="Aptos"/>
              </a:defRPr>
            </a:pPr>
            <a:r>
              <a:t>TASK 3 | YOLO MAP50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8961120" cy="603504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2400" b="1">
                <a:solidFill>
                  <a:srgbClr val="182228"/>
                </a:solidFill>
                <a:latin typeface="Aptos"/>
              </a:defRPr>
            </a:pPr>
            <a:r>
              <a:t>Clean YOLO is the reference line; distortion and fine-tuning reveal robustness.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25296"/>
            <a:ext cx="905256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050" b="0">
                <a:solidFill>
                  <a:srgbClr val="56636B"/>
                </a:solidFill>
                <a:latin typeface="Aptos"/>
              </a:defRPr>
            </a:pPr>
            <a:r>
              <a:t>mAP50 is shown separately for gaussian noise, blur, and brightness/contrast levels.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47472"/>
            <a:ext cx="192024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r">
              <a:defRPr sz="850" b="0">
                <a:solidFill>
                  <a:srgbClr val="56636B"/>
                </a:solidFill>
                <a:latin typeface="Aptos"/>
              </a:defRPr>
            </a:pPr>
            <a:r>
              <a:t>Brain MRI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r">
              <a:defRPr sz="800" b="0">
                <a:solidFill>
                  <a:srgbClr val="56636B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3657600" cy="2331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yolo_gaussian_noise_snr_map50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58619"/>
            <a:ext cx="3657600" cy="203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51960" y="1508760"/>
            <a:ext cx="3657600" cy="2331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yolo_gaussian_blur_sigma_map50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658619"/>
            <a:ext cx="3657600" cy="2032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01000" y="1508760"/>
            <a:ext cx="3657600" cy="2331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6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yolo_brightness_contrast_level_map50_grap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658619"/>
            <a:ext cx="3657600" cy="203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44805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82228"/>
                </a:solidFill>
                <a:latin typeface="Aptos"/>
              </a:defRPr>
            </a:pPr>
            <a:r>
              <a:t>Main metric: mask mAP50. Fine-tuned YOLO models are trained on matching distorted data; restored images test pre-processing recovery.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475488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9875520" cy="38404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700" b="0">
                <a:solidFill>
                  <a:srgbClr val="E2EBE8"/>
                </a:solidFill>
                <a:latin typeface="Aptos"/>
              </a:defRPr>
            </a:pPr>
            <a:r>
              <a:t>Robustness should be measured across clean, distorted, restored, and fine-tuned settings.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2743200" cy="2743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500" b="1">
                <a:solidFill>
                  <a:srgbClr val="2666AC"/>
                </a:solidFill>
                <a:latin typeface="Aptos"/>
              </a:defRPr>
            </a:pPr>
            <a:r>
              <a:t>Task 1 | Super-resolution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03320" y="2240280"/>
            <a:ext cx="7223760" cy="3200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350" b="0">
                <a:solidFill>
                  <a:srgbClr val="FFFFFF"/>
                </a:solidFill>
                <a:latin typeface="Aptos"/>
              </a:defRPr>
            </a:pPr>
            <a:r>
              <a:t>Best when image structure remains; restoration often raises PSNR before sharpened_lanczos.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2743200" cy="2743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500" b="1">
                <a:solidFill>
                  <a:srgbClr val="008074"/>
                </a:solidFill>
                <a:latin typeface="Aptos"/>
              </a:defRPr>
            </a:pPr>
            <a:r>
              <a:t>Task 2 | CNN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3291840"/>
            <a:ext cx="7223760" cy="3200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350" b="0">
                <a:solidFill>
                  <a:srgbClr val="FFFFFF"/>
                </a:solidFill>
                <a:latin typeface="Aptos"/>
              </a:defRPr>
            </a:pPr>
            <a:r>
              <a:t>Augmentation improved clean accuracy slightly; salt-and-pepper remains the hardest distortion.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2743200" cy="2743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500" b="1">
                <a:solidFill>
                  <a:srgbClr val="B2483E"/>
                </a:solidFill>
                <a:latin typeface="Aptos"/>
              </a:defRPr>
            </a:pPr>
            <a:r>
              <a:t>Task 3 | YOLO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4343400"/>
            <a:ext cx="7223760" cy="3200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350" b="0">
                <a:solidFill>
                  <a:srgbClr val="FFFFFF"/>
                </a:solidFill>
                <a:latin typeface="Aptos"/>
              </a:defRPr>
            </a:pPr>
            <a:r>
              <a:t>Mask training enables tumor marking; fine-tuning improves robustness on distorted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32720" cy="3200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>
              <a:defRPr sz="1300" b="0">
                <a:solidFill>
                  <a:srgbClr val="D2DCDA"/>
                </a:solidFill>
                <a:latin typeface="Aptos"/>
              </a:defRPr>
            </a:pPr>
            <a:r>
              <a:t>Main takeaway: restoration is useful, but for deep-learning tasks, distortion-aware fine-tuning is usually the stronger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