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76" r:id="rId7"/>
    <p:sldId id="275" r:id="rId8"/>
    <p:sldId id="262" r:id="rId9"/>
    <p:sldId id="263" r:id="rId10"/>
    <p:sldId id="264" r:id="rId11"/>
    <p:sldId id="277" r:id="rId12"/>
    <p:sldId id="265" r:id="rId13"/>
    <p:sldId id="266" r:id="rId14"/>
    <p:sldId id="267" r:id="rId15"/>
    <p:sldId id="274" r:id="rId16"/>
    <p:sldId id="268" r:id="rId17"/>
    <p:sldId id="269" r:id="rId18"/>
    <p:sldId id="270" r:id="rId19"/>
    <p:sldId id="271" r:id="rId20"/>
    <p:sldId id="272" r:id="rId21"/>
    <p:sldId id="27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341"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jpg"/></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9.jpg"/><Relationship Id="rId4" Type="http://schemas.openxmlformats.org/officeDocument/2006/relationships/image" Target="../media/image38.jp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62C"/>
        </a:solidFill>
        <a:effectLst/>
      </p:bgPr>
    </p:bg>
    <p:spTree>
      <p:nvGrpSpPr>
        <p:cNvPr id="1" name=""/>
        <p:cNvGrpSpPr/>
        <p:nvPr/>
      </p:nvGrpSpPr>
      <p:grpSpPr>
        <a:xfrm>
          <a:off x="0" y="0"/>
          <a:ext cx="0" cy="0"/>
          <a:chOff x="0" y="0"/>
          <a:chExt cx="0" cy="0"/>
        </a:xfrm>
      </p:grpSpPr>
      <p:sp>
        <p:nvSpPr>
          <p:cNvPr id="2" name="TextBox 1"/>
          <p:cNvSpPr txBox="1"/>
          <p:nvPr/>
        </p:nvSpPr>
        <p:spPr>
          <a:xfrm>
            <a:off x="685800" y="685800"/>
            <a:ext cx="6858000" cy="502920"/>
          </a:xfrm>
          <a:prstGeom prst="rect">
            <a:avLst/>
          </a:prstGeom>
          <a:noFill/>
        </p:spPr>
        <p:txBody>
          <a:bodyPr wrap="none" lIns="18288" tIns="9144" rIns="18288" bIns="9144">
            <a:spAutoFit/>
          </a:bodyPr>
          <a:lstStyle/>
          <a:p>
            <a:pPr>
              <a:defRPr sz="3200" b="1">
                <a:solidFill>
                  <a:srgbClr val="FFFFFF"/>
                </a:solidFill>
                <a:latin typeface="Aptos"/>
              </a:defRPr>
            </a:pPr>
            <a:r>
              <a:t>Digital Image Processing</a:t>
            </a:r>
          </a:p>
        </p:txBody>
      </p:sp>
      <p:sp>
        <p:nvSpPr>
          <p:cNvPr id="3" name="TextBox 2"/>
          <p:cNvSpPr txBox="1"/>
          <p:nvPr/>
        </p:nvSpPr>
        <p:spPr>
          <a:xfrm>
            <a:off x="713232" y="1298448"/>
            <a:ext cx="5486400" cy="320040"/>
          </a:xfrm>
          <a:prstGeom prst="rect">
            <a:avLst/>
          </a:prstGeom>
          <a:noFill/>
        </p:spPr>
        <p:txBody>
          <a:bodyPr wrap="none" lIns="18288" tIns="9144" rIns="18288" bIns="9144">
            <a:spAutoFit/>
          </a:bodyPr>
          <a:lstStyle/>
          <a:p>
            <a:pPr>
              <a:defRPr sz="1700" b="0">
                <a:solidFill>
                  <a:srgbClr val="DDE7E7"/>
                </a:solidFill>
                <a:latin typeface="Aptos"/>
              </a:defRPr>
            </a:pPr>
            <a:r>
              <a:t>Brain MRI Robustness Project</a:t>
            </a:r>
          </a:p>
        </p:txBody>
      </p:sp>
      <p:sp>
        <p:nvSpPr>
          <p:cNvPr id="4" name="TextBox 3"/>
          <p:cNvSpPr txBox="1"/>
          <p:nvPr/>
        </p:nvSpPr>
        <p:spPr>
          <a:xfrm>
            <a:off x="713232" y="1828800"/>
            <a:ext cx="1967142" cy="233910"/>
          </a:xfrm>
          <a:prstGeom prst="rect">
            <a:avLst/>
          </a:prstGeom>
          <a:noFill/>
        </p:spPr>
        <p:txBody>
          <a:bodyPr wrap="none" lIns="18288" tIns="9144" rIns="18288" bIns="9144">
            <a:spAutoFit/>
          </a:bodyPr>
          <a:lstStyle/>
          <a:p>
            <a:pPr>
              <a:defRPr sz="1400" b="0">
                <a:solidFill>
                  <a:srgbClr val="C6D2D2"/>
                </a:solidFill>
                <a:latin typeface="Aptos"/>
              </a:defRPr>
            </a:pPr>
            <a:r>
              <a:rPr dirty="0"/>
              <a:t>By Michael Khadarkevich</a:t>
            </a:r>
          </a:p>
        </p:txBody>
      </p:sp>
      <p:sp>
        <p:nvSpPr>
          <p:cNvPr id="5" name="Rounded Rectangle 4"/>
          <p:cNvSpPr/>
          <p:nvPr/>
        </p:nvSpPr>
        <p:spPr>
          <a:xfrm>
            <a:off x="822960" y="2743200"/>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87552" y="2852928"/>
            <a:ext cx="1874519" cy="320040"/>
          </a:xfrm>
          <a:prstGeom prst="rect">
            <a:avLst/>
          </a:prstGeom>
          <a:noFill/>
        </p:spPr>
        <p:txBody>
          <a:bodyPr wrap="none" lIns="18288" tIns="9144" rIns="18288" bIns="9144">
            <a:spAutoFit/>
          </a:bodyPr>
          <a:lstStyle/>
          <a:p>
            <a:pPr>
              <a:defRPr sz="2100" b="1">
                <a:solidFill>
                  <a:srgbClr val="2666AC"/>
                </a:solidFill>
                <a:latin typeface="Aptos"/>
              </a:defRPr>
            </a:pPr>
            <a:r>
              <a:t>3</a:t>
            </a:r>
          </a:p>
        </p:txBody>
      </p:sp>
      <p:sp>
        <p:nvSpPr>
          <p:cNvPr id="7" name="TextBox 6"/>
          <p:cNvSpPr txBox="1"/>
          <p:nvPr/>
        </p:nvSpPr>
        <p:spPr>
          <a:xfrm>
            <a:off x="987552" y="3273552"/>
            <a:ext cx="1901952" cy="228600"/>
          </a:xfrm>
          <a:prstGeom prst="rect">
            <a:avLst/>
          </a:prstGeom>
          <a:noFill/>
        </p:spPr>
        <p:txBody>
          <a:bodyPr wrap="none" lIns="18288" tIns="9144" rIns="18288" bIns="9144">
            <a:spAutoFit/>
          </a:bodyPr>
          <a:lstStyle/>
          <a:p>
            <a:pPr>
              <a:defRPr sz="850" b="0">
                <a:solidFill>
                  <a:srgbClr val="56636B"/>
                </a:solidFill>
                <a:latin typeface="Aptos"/>
              </a:defRPr>
            </a:pPr>
            <a:r>
              <a:t>tasks</a:t>
            </a:r>
          </a:p>
        </p:txBody>
      </p:sp>
      <p:sp>
        <p:nvSpPr>
          <p:cNvPr id="8" name="Rounded Rectangle 7"/>
          <p:cNvSpPr/>
          <p:nvPr/>
        </p:nvSpPr>
        <p:spPr>
          <a:xfrm>
            <a:off x="3337560" y="2743200"/>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02152" y="2852928"/>
            <a:ext cx="1874519" cy="320040"/>
          </a:xfrm>
          <a:prstGeom prst="rect">
            <a:avLst/>
          </a:prstGeom>
          <a:noFill/>
        </p:spPr>
        <p:txBody>
          <a:bodyPr wrap="none" lIns="18288" tIns="9144" rIns="18288" bIns="9144">
            <a:spAutoFit/>
          </a:bodyPr>
          <a:lstStyle/>
          <a:p>
            <a:pPr>
              <a:defRPr sz="2100" b="1">
                <a:solidFill>
                  <a:srgbClr val="008074"/>
                </a:solidFill>
                <a:latin typeface="Aptos"/>
              </a:defRPr>
            </a:pPr>
            <a:r>
              <a:t>2</a:t>
            </a:r>
          </a:p>
        </p:txBody>
      </p:sp>
      <p:sp>
        <p:nvSpPr>
          <p:cNvPr id="10" name="TextBox 9"/>
          <p:cNvSpPr txBox="1"/>
          <p:nvPr/>
        </p:nvSpPr>
        <p:spPr>
          <a:xfrm>
            <a:off x="3502152" y="3273552"/>
            <a:ext cx="1901952" cy="228600"/>
          </a:xfrm>
          <a:prstGeom prst="rect">
            <a:avLst/>
          </a:prstGeom>
          <a:noFill/>
        </p:spPr>
        <p:txBody>
          <a:bodyPr wrap="none" lIns="18288" tIns="9144" rIns="18288" bIns="9144">
            <a:spAutoFit/>
          </a:bodyPr>
          <a:lstStyle/>
          <a:p>
            <a:pPr>
              <a:defRPr sz="850" b="0">
                <a:solidFill>
                  <a:srgbClr val="56636B"/>
                </a:solidFill>
                <a:latin typeface="Aptos"/>
              </a:defRPr>
            </a:pPr>
            <a:r>
              <a:t>datasets</a:t>
            </a:r>
          </a:p>
        </p:txBody>
      </p:sp>
      <p:sp>
        <p:nvSpPr>
          <p:cNvPr id="11" name="Rounded Rectangle 10"/>
          <p:cNvSpPr/>
          <p:nvPr/>
        </p:nvSpPr>
        <p:spPr>
          <a:xfrm>
            <a:off x="5852160" y="2743200"/>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16752" y="2852928"/>
            <a:ext cx="1874519" cy="320040"/>
          </a:xfrm>
          <a:prstGeom prst="rect">
            <a:avLst/>
          </a:prstGeom>
          <a:noFill/>
        </p:spPr>
        <p:txBody>
          <a:bodyPr wrap="none" lIns="18288" tIns="9144" rIns="18288" bIns="9144">
            <a:spAutoFit/>
          </a:bodyPr>
          <a:lstStyle/>
          <a:p>
            <a:pPr>
              <a:defRPr sz="2100" b="1">
                <a:solidFill>
                  <a:srgbClr val="B2483E"/>
                </a:solidFill>
                <a:latin typeface="Aptos"/>
              </a:defRPr>
            </a:pPr>
            <a:r>
              <a:t>4</a:t>
            </a:r>
          </a:p>
        </p:txBody>
      </p:sp>
      <p:sp>
        <p:nvSpPr>
          <p:cNvPr id="13" name="TextBox 12"/>
          <p:cNvSpPr txBox="1"/>
          <p:nvPr/>
        </p:nvSpPr>
        <p:spPr>
          <a:xfrm>
            <a:off x="6016752" y="3273552"/>
            <a:ext cx="1901952" cy="228600"/>
          </a:xfrm>
          <a:prstGeom prst="rect">
            <a:avLst/>
          </a:prstGeom>
          <a:noFill/>
        </p:spPr>
        <p:txBody>
          <a:bodyPr wrap="none" lIns="18288" tIns="9144" rIns="18288" bIns="9144">
            <a:spAutoFit/>
          </a:bodyPr>
          <a:lstStyle/>
          <a:p>
            <a:pPr>
              <a:defRPr sz="850" b="0">
                <a:solidFill>
                  <a:srgbClr val="56636B"/>
                </a:solidFill>
                <a:latin typeface="Aptos"/>
              </a:defRPr>
            </a:pPr>
            <a:r>
              <a:t>distortion families</a:t>
            </a:r>
          </a:p>
        </p:txBody>
      </p:sp>
      <p:pic>
        <p:nvPicPr>
          <p:cNvPr id="14" name="Picture 13" descr="task3_yolo_basic_example.png"/>
          <p:cNvPicPr>
            <a:picLocks noChangeAspect="1"/>
          </p:cNvPicPr>
          <p:nvPr/>
        </p:nvPicPr>
        <p:blipFill>
          <a:blip r:embed="rId2"/>
          <a:stretch>
            <a:fillRect/>
          </a:stretch>
        </p:blipFill>
        <p:spPr>
          <a:xfrm>
            <a:off x="8366760" y="777240"/>
            <a:ext cx="2743200" cy="2743200"/>
          </a:xfrm>
          <a:prstGeom prst="rect">
            <a:avLst/>
          </a:prstGeom>
        </p:spPr>
      </p:pic>
      <p:pic>
        <p:nvPicPr>
          <p:cNvPr id="15" name="Picture 14" descr="data1_tumor_example.jpg"/>
          <p:cNvPicPr>
            <a:picLocks noChangeAspect="1"/>
          </p:cNvPicPr>
          <p:nvPr/>
        </p:nvPicPr>
        <p:blipFill>
          <a:blip r:embed="rId3"/>
          <a:stretch>
            <a:fillRect/>
          </a:stretch>
        </p:blipFill>
        <p:spPr>
          <a:xfrm>
            <a:off x="8869680" y="3886200"/>
            <a:ext cx="1737360" cy="1737360"/>
          </a:xfrm>
          <a:prstGeom prst="rect">
            <a:avLst/>
          </a:prstGeom>
        </p:spPr>
      </p:pic>
      <p:sp>
        <p:nvSpPr>
          <p:cNvPr id="16" name="TextBox 15"/>
          <p:cNvSpPr txBox="1"/>
          <p:nvPr/>
        </p:nvSpPr>
        <p:spPr>
          <a:xfrm>
            <a:off x="822960" y="5623560"/>
            <a:ext cx="6583680" cy="320040"/>
          </a:xfrm>
          <a:prstGeom prst="rect">
            <a:avLst/>
          </a:prstGeom>
          <a:noFill/>
        </p:spPr>
        <p:txBody>
          <a:bodyPr wrap="none" lIns="18288" tIns="9144" rIns="18288" bIns="9144">
            <a:spAutoFit/>
          </a:bodyPr>
          <a:lstStyle/>
          <a:p>
            <a:pPr>
              <a:defRPr sz="1600" b="1">
                <a:solidFill>
                  <a:srgbClr val="FFFFFF"/>
                </a:solidFill>
                <a:latin typeface="Aptos"/>
              </a:defRPr>
            </a:pPr>
            <a:r>
              <a:t>Clean → distorted → restored → fine-tuned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OVERVIEW</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Distortions reduce reliability, so the project measures degradation and recovery.</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The same experiment logic is repeated across super-resolution, CNN classification, and YOLO segmentation.</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03</a:t>
            </a:r>
          </a:p>
        </p:txBody>
      </p:sp>
      <p:sp>
        <p:nvSpPr>
          <p:cNvPr id="7" name="Rounded Rectangle 6"/>
          <p:cNvSpPr/>
          <p:nvPr/>
        </p:nvSpPr>
        <p:spPr>
          <a:xfrm>
            <a:off x="731520" y="1828800"/>
            <a:ext cx="324612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2084831"/>
            <a:ext cx="2743200" cy="274320"/>
          </a:xfrm>
          <a:prstGeom prst="rect">
            <a:avLst/>
          </a:prstGeom>
          <a:noFill/>
        </p:spPr>
        <p:txBody>
          <a:bodyPr wrap="none" lIns="18288" tIns="9144" rIns="18288" bIns="9144">
            <a:spAutoFit/>
          </a:bodyPr>
          <a:lstStyle/>
          <a:p>
            <a:pPr>
              <a:defRPr sz="1700" b="1">
                <a:solidFill>
                  <a:srgbClr val="2666AC"/>
                </a:solidFill>
                <a:latin typeface="Aptos"/>
              </a:defRPr>
            </a:pPr>
            <a:r>
              <a:t>Super-resolution</a:t>
            </a:r>
          </a:p>
        </p:txBody>
      </p:sp>
      <p:sp>
        <p:nvSpPr>
          <p:cNvPr id="9" name="TextBox 8"/>
          <p:cNvSpPr txBox="1"/>
          <p:nvPr/>
        </p:nvSpPr>
        <p:spPr>
          <a:xfrm>
            <a:off x="960120" y="2606040"/>
            <a:ext cx="2606040" cy="502920"/>
          </a:xfrm>
          <a:prstGeom prst="rect">
            <a:avLst/>
          </a:prstGeom>
          <a:noFill/>
        </p:spPr>
        <p:txBody>
          <a:bodyPr wrap="none" lIns="18288" tIns="9144" rIns="18288" bIns="9144">
            <a:spAutoFit/>
          </a:bodyPr>
          <a:lstStyle/>
          <a:p>
            <a:pPr>
              <a:defRPr sz="1300" b="0">
                <a:solidFill>
                  <a:srgbClr val="182228"/>
                </a:solidFill>
                <a:latin typeface="Aptos"/>
              </a:defRPr>
            </a:pPr>
            <a:r>
              <a:t>PSNR after x2 downsampling</a:t>
            </a:r>
          </a:p>
        </p:txBody>
      </p:sp>
      <p:sp>
        <p:nvSpPr>
          <p:cNvPr id="10" name="Rounded Rectangle 9"/>
          <p:cNvSpPr/>
          <p:nvPr/>
        </p:nvSpPr>
        <p:spPr>
          <a:xfrm>
            <a:off x="4526280" y="1828800"/>
            <a:ext cx="324612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54880" y="2084831"/>
            <a:ext cx="2743200" cy="274320"/>
          </a:xfrm>
          <a:prstGeom prst="rect">
            <a:avLst/>
          </a:prstGeom>
          <a:noFill/>
        </p:spPr>
        <p:txBody>
          <a:bodyPr wrap="none" lIns="18288" tIns="9144" rIns="18288" bIns="9144">
            <a:spAutoFit/>
          </a:bodyPr>
          <a:lstStyle/>
          <a:p>
            <a:pPr>
              <a:defRPr sz="1700" b="1">
                <a:solidFill>
                  <a:srgbClr val="008074"/>
                </a:solidFill>
                <a:latin typeface="Aptos"/>
              </a:defRPr>
            </a:pPr>
            <a:r>
              <a:t>CNN</a:t>
            </a:r>
          </a:p>
        </p:txBody>
      </p:sp>
      <p:sp>
        <p:nvSpPr>
          <p:cNvPr id="12" name="TextBox 11"/>
          <p:cNvSpPr txBox="1"/>
          <p:nvPr/>
        </p:nvSpPr>
        <p:spPr>
          <a:xfrm>
            <a:off x="4754880" y="2606040"/>
            <a:ext cx="2606040" cy="502920"/>
          </a:xfrm>
          <a:prstGeom prst="rect">
            <a:avLst/>
          </a:prstGeom>
          <a:noFill/>
        </p:spPr>
        <p:txBody>
          <a:bodyPr wrap="none" lIns="18288" tIns="9144" rIns="18288" bIns="9144">
            <a:spAutoFit/>
          </a:bodyPr>
          <a:lstStyle/>
          <a:p>
            <a:pPr>
              <a:defRPr sz="1300" b="0">
                <a:solidFill>
                  <a:srgbClr val="182228"/>
                </a:solidFill>
                <a:latin typeface="Aptos"/>
              </a:defRPr>
            </a:pPr>
            <a:r>
              <a:t>total true percent on tumor/no-tumor</a:t>
            </a:r>
          </a:p>
        </p:txBody>
      </p:sp>
      <p:sp>
        <p:nvSpPr>
          <p:cNvPr id="13" name="Rounded Rectangle 12"/>
          <p:cNvSpPr/>
          <p:nvPr/>
        </p:nvSpPr>
        <p:spPr>
          <a:xfrm>
            <a:off x="8321040" y="1828800"/>
            <a:ext cx="324612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49640" y="2084831"/>
            <a:ext cx="2743200" cy="274320"/>
          </a:xfrm>
          <a:prstGeom prst="rect">
            <a:avLst/>
          </a:prstGeom>
          <a:noFill/>
        </p:spPr>
        <p:txBody>
          <a:bodyPr wrap="none" lIns="18288" tIns="9144" rIns="18288" bIns="9144">
            <a:spAutoFit/>
          </a:bodyPr>
          <a:lstStyle/>
          <a:p>
            <a:pPr>
              <a:defRPr sz="1700" b="1">
                <a:solidFill>
                  <a:srgbClr val="B2483E"/>
                </a:solidFill>
                <a:latin typeface="Aptos"/>
              </a:defRPr>
            </a:pPr>
            <a:r>
              <a:t>YOLO</a:t>
            </a:r>
          </a:p>
        </p:txBody>
      </p:sp>
      <p:sp>
        <p:nvSpPr>
          <p:cNvPr id="15" name="TextBox 14"/>
          <p:cNvSpPr txBox="1"/>
          <p:nvPr/>
        </p:nvSpPr>
        <p:spPr>
          <a:xfrm>
            <a:off x="8549640" y="2606040"/>
            <a:ext cx="2606040" cy="502920"/>
          </a:xfrm>
          <a:prstGeom prst="rect">
            <a:avLst/>
          </a:prstGeom>
          <a:noFill/>
        </p:spPr>
        <p:txBody>
          <a:bodyPr wrap="none" lIns="18288" tIns="9144" rIns="18288" bIns="9144">
            <a:spAutoFit/>
          </a:bodyPr>
          <a:lstStyle/>
          <a:p>
            <a:pPr>
              <a:defRPr sz="1300" b="0">
                <a:solidFill>
                  <a:srgbClr val="182228"/>
                </a:solidFill>
                <a:latin typeface="Aptos"/>
              </a:defRPr>
            </a:pPr>
            <a:r>
              <a:t>mask mAP50 on tumor segmentation</a:t>
            </a:r>
          </a:p>
        </p:txBody>
      </p:sp>
      <p:sp>
        <p:nvSpPr>
          <p:cNvPr id="16" name="TextBox 15"/>
          <p:cNvSpPr txBox="1"/>
          <p:nvPr/>
        </p:nvSpPr>
        <p:spPr>
          <a:xfrm>
            <a:off x="914400" y="4800600"/>
            <a:ext cx="10332720" cy="411480"/>
          </a:xfrm>
          <a:prstGeom prst="rect">
            <a:avLst/>
          </a:prstGeom>
          <a:noFill/>
        </p:spPr>
        <p:txBody>
          <a:bodyPr wrap="square">
            <a:spAutoFit/>
          </a:bodyPr>
          <a:lstStyle/>
          <a:p>
            <a:pPr>
              <a:spcAft>
                <a:spcPts val="800"/>
              </a:spcAft>
              <a:defRPr sz="1500">
                <a:solidFill>
                  <a:srgbClr val="182228"/>
                </a:solidFill>
                <a:latin typeface="Aptos"/>
              </a:defRPr>
            </a:pPr>
            <a:r>
              <a:t>Experiment path: clean baseline → distorted input → restored input → fine-tuned model when relevant.</a:t>
            </a:r>
          </a:p>
        </p:txBody>
      </p:sp>
      <p:sp>
        <p:nvSpPr>
          <p:cNvPr id="18" name="TextBox 17">
            <a:extLst>
              <a:ext uri="{FF2B5EF4-FFF2-40B4-BE49-F238E27FC236}">
                <a16:creationId xmlns:a16="http://schemas.microsoft.com/office/drawing/2014/main" id="{31F738C3-C3D8-A9EB-6B87-6C3EAE485333}"/>
              </a:ext>
            </a:extLst>
          </p:cNvPr>
          <p:cNvSpPr txBox="1"/>
          <p:nvPr/>
        </p:nvSpPr>
        <p:spPr>
          <a:xfrm>
            <a:off x="914400" y="5191327"/>
            <a:ext cx="6094602" cy="1200329"/>
          </a:xfrm>
          <a:prstGeom prst="rect">
            <a:avLst/>
          </a:prstGeom>
          <a:noFill/>
        </p:spPr>
        <p:txBody>
          <a:bodyPr wrap="square">
            <a:spAutoFit/>
          </a:bodyPr>
          <a:lstStyle/>
          <a:p>
            <a:r>
              <a:rPr lang="en-IL" dirty="0"/>
              <a:t>Note: </a:t>
            </a:r>
            <a:r>
              <a:rPr lang="en-US" dirty="0"/>
              <a:t>I</a:t>
            </a:r>
            <a:r>
              <a:rPr lang="en-IL" dirty="0"/>
              <a:t> chose the super-resolution task because it is one of the few low-level tasks that can be adapted to MRI data. Although it is not the most suitable for the task in the context of noise performance.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EXPERIMENT DESIGN</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Every task uses the same robustness question.</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How much does distortion hurt, and which improvement helps recover performance?</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04</a:t>
            </a:r>
          </a:p>
        </p:txBody>
      </p:sp>
      <p:sp>
        <p:nvSpPr>
          <p:cNvPr id="7" name="TextBox 6"/>
          <p:cNvSpPr txBox="1"/>
          <p:nvPr/>
        </p:nvSpPr>
        <p:spPr>
          <a:xfrm>
            <a:off x="777240" y="1828800"/>
            <a:ext cx="4754880" cy="3200400"/>
          </a:xfrm>
          <a:prstGeom prst="rect">
            <a:avLst/>
          </a:prstGeom>
          <a:noFill/>
        </p:spPr>
        <p:txBody>
          <a:bodyPr wrap="square">
            <a:spAutoFit/>
          </a:bodyPr>
          <a:lstStyle/>
          <a:p>
            <a:pPr>
              <a:spcAft>
                <a:spcPts val="800"/>
              </a:spcAft>
              <a:defRPr sz="1500">
                <a:solidFill>
                  <a:srgbClr val="182228"/>
                </a:solidFill>
                <a:latin typeface="Aptos"/>
              </a:defRPr>
            </a:pPr>
            <a:r>
              <a:t>Data 1: Kaggle tumor/no-tumor classification images.</a:t>
            </a:r>
          </a:p>
          <a:p>
            <a:pPr>
              <a:spcAft>
                <a:spcPts val="800"/>
              </a:spcAft>
              <a:defRPr sz="1500">
                <a:solidFill>
                  <a:srgbClr val="182228"/>
                </a:solidFill>
                <a:latin typeface="Aptos"/>
              </a:defRPr>
            </a:pPr>
            <a:r>
              <a:t>Data 2: MRI tumor segmentation masks converted to YOLO format.</a:t>
            </a:r>
          </a:p>
          <a:p>
            <a:pPr>
              <a:spcAft>
                <a:spcPts val="800"/>
              </a:spcAft>
              <a:defRPr sz="1500">
                <a:solidFill>
                  <a:srgbClr val="182228"/>
                </a:solidFill>
                <a:latin typeface="Aptos"/>
              </a:defRPr>
            </a:pPr>
            <a:r>
              <a:t>Distortions: gaussian noise, salt-and-pepper, gaussian blur, and YOLO brightness/contrast.</a:t>
            </a:r>
          </a:p>
          <a:p>
            <a:pPr>
              <a:spcAft>
                <a:spcPts val="800"/>
              </a:spcAft>
              <a:defRPr sz="1500">
                <a:solidFill>
                  <a:srgbClr val="182228"/>
                </a:solidFill>
                <a:latin typeface="Aptos"/>
              </a:defRPr>
            </a:pPr>
            <a:r>
              <a:t>Improvement: restoration pre-processing and fine-tuning for learning-based models.</a:t>
            </a:r>
          </a:p>
        </p:txBody>
      </p:sp>
      <p:sp>
        <p:nvSpPr>
          <p:cNvPr id="8" name="Rounded Rectangle 7"/>
          <p:cNvSpPr/>
          <p:nvPr/>
        </p:nvSpPr>
        <p:spPr>
          <a:xfrm>
            <a:off x="6080760" y="1828800"/>
            <a:ext cx="4937760" cy="3108960"/>
          </a:xfrm>
          <a:prstGeom prst="roundRect">
            <a:avLst/>
          </a:prstGeom>
          <a:solidFill>
            <a:srgbClr val="F5F8F8"/>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2148840"/>
            <a:ext cx="1554480" cy="228600"/>
          </a:xfrm>
          <a:prstGeom prst="rect">
            <a:avLst/>
          </a:prstGeom>
          <a:noFill/>
        </p:spPr>
        <p:txBody>
          <a:bodyPr wrap="none" lIns="18288" tIns="9144" rIns="18288" bIns="9144">
            <a:spAutoFit/>
          </a:bodyPr>
          <a:lstStyle/>
          <a:p>
            <a:pPr>
              <a:defRPr sz="1400" b="1">
                <a:solidFill>
                  <a:srgbClr val="2666AC"/>
                </a:solidFill>
                <a:latin typeface="Aptos"/>
              </a:defRPr>
            </a:pPr>
            <a:r>
              <a:t>Clean</a:t>
            </a:r>
          </a:p>
        </p:txBody>
      </p:sp>
      <p:sp>
        <p:nvSpPr>
          <p:cNvPr id="10" name="TextBox 9"/>
          <p:cNvSpPr txBox="1"/>
          <p:nvPr/>
        </p:nvSpPr>
        <p:spPr>
          <a:xfrm>
            <a:off x="8046720" y="2148840"/>
            <a:ext cx="2560320" cy="228600"/>
          </a:xfrm>
          <a:prstGeom prst="rect">
            <a:avLst/>
          </a:prstGeom>
          <a:noFill/>
        </p:spPr>
        <p:txBody>
          <a:bodyPr wrap="none" lIns="18288" tIns="9144" rIns="18288" bIns="9144">
            <a:spAutoFit/>
          </a:bodyPr>
          <a:lstStyle/>
          <a:p>
            <a:pPr>
              <a:defRPr sz="1300" b="0">
                <a:solidFill>
                  <a:srgbClr val="182228"/>
                </a:solidFill>
                <a:latin typeface="Aptos"/>
              </a:defRPr>
            </a:pPr>
            <a:r>
              <a:t>baseline</a:t>
            </a:r>
          </a:p>
        </p:txBody>
      </p:sp>
      <p:sp>
        <p:nvSpPr>
          <p:cNvPr id="11" name="TextBox 10"/>
          <p:cNvSpPr txBox="1"/>
          <p:nvPr/>
        </p:nvSpPr>
        <p:spPr>
          <a:xfrm>
            <a:off x="6400800" y="2807208"/>
            <a:ext cx="1554480" cy="228600"/>
          </a:xfrm>
          <a:prstGeom prst="rect">
            <a:avLst/>
          </a:prstGeom>
          <a:noFill/>
        </p:spPr>
        <p:txBody>
          <a:bodyPr wrap="none" lIns="18288" tIns="9144" rIns="18288" bIns="9144">
            <a:spAutoFit/>
          </a:bodyPr>
          <a:lstStyle/>
          <a:p>
            <a:pPr>
              <a:defRPr sz="1400" b="1">
                <a:solidFill>
                  <a:srgbClr val="B2483E"/>
                </a:solidFill>
                <a:latin typeface="Aptos"/>
              </a:defRPr>
            </a:pPr>
            <a:r>
              <a:t>Distorted</a:t>
            </a:r>
          </a:p>
        </p:txBody>
      </p:sp>
      <p:sp>
        <p:nvSpPr>
          <p:cNvPr id="12" name="TextBox 11"/>
          <p:cNvSpPr txBox="1"/>
          <p:nvPr/>
        </p:nvSpPr>
        <p:spPr>
          <a:xfrm>
            <a:off x="8046720" y="2807208"/>
            <a:ext cx="2560320" cy="228600"/>
          </a:xfrm>
          <a:prstGeom prst="rect">
            <a:avLst/>
          </a:prstGeom>
          <a:noFill/>
        </p:spPr>
        <p:txBody>
          <a:bodyPr wrap="none" lIns="18288" tIns="9144" rIns="18288" bIns="9144">
            <a:spAutoFit/>
          </a:bodyPr>
          <a:lstStyle/>
          <a:p>
            <a:pPr>
              <a:defRPr sz="1300" b="0">
                <a:solidFill>
                  <a:srgbClr val="182228"/>
                </a:solidFill>
                <a:latin typeface="Aptos"/>
              </a:defRPr>
            </a:pPr>
            <a:r>
              <a:t>degradation</a:t>
            </a:r>
          </a:p>
        </p:txBody>
      </p:sp>
      <p:sp>
        <p:nvSpPr>
          <p:cNvPr id="13" name="TextBox 12"/>
          <p:cNvSpPr txBox="1"/>
          <p:nvPr/>
        </p:nvSpPr>
        <p:spPr>
          <a:xfrm>
            <a:off x="6400800" y="3465576"/>
            <a:ext cx="1554480" cy="228600"/>
          </a:xfrm>
          <a:prstGeom prst="rect">
            <a:avLst/>
          </a:prstGeom>
          <a:noFill/>
        </p:spPr>
        <p:txBody>
          <a:bodyPr wrap="none" lIns="18288" tIns="9144" rIns="18288" bIns="9144">
            <a:spAutoFit/>
          </a:bodyPr>
          <a:lstStyle/>
          <a:p>
            <a:pPr>
              <a:defRPr sz="1400" b="1">
                <a:solidFill>
                  <a:srgbClr val="008074"/>
                </a:solidFill>
                <a:latin typeface="Aptos"/>
              </a:defRPr>
            </a:pPr>
            <a:r>
              <a:t>Restored</a:t>
            </a:r>
          </a:p>
        </p:txBody>
      </p:sp>
      <p:sp>
        <p:nvSpPr>
          <p:cNvPr id="14" name="TextBox 13"/>
          <p:cNvSpPr txBox="1"/>
          <p:nvPr/>
        </p:nvSpPr>
        <p:spPr>
          <a:xfrm>
            <a:off x="8046720" y="3465576"/>
            <a:ext cx="2560320" cy="228600"/>
          </a:xfrm>
          <a:prstGeom prst="rect">
            <a:avLst/>
          </a:prstGeom>
          <a:noFill/>
        </p:spPr>
        <p:txBody>
          <a:bodyPr wrap="none" lIns="18288" tIns="9144" rIns="18288" bIns="9144">
            <a:spAutoFit/>
          </a:bodyPr>
          <a:lstStyle/>
          <a:p>
            <a:pPr>
              <a:defRPr sz="1300" b="0">
                <a:solidFill>
                  <a:srgbClr val="182228"/>
                </a:solidFill>
                <a:latin typeface="Aptos"/>
              </a:defRPr>
            </a:pPr>
            <a:r>
              <a:t>pre-processing recovery</a:t>
            </a:r>
          </a:p>
        </p:txBody>
      </p:sp>
      <p:sp>
        <p:nvSpPr>
          <p:cNvPr id="15" name="TextBox 14"/>
          <p:cNvSpPr txBox="1"/>
          <p:nvPr/>
        </p:nvSpPr>
        <p:spPr>
          <a:xfrm>
            <a:off x="6400800" y="4123944"/>
            <a:ext cx="1554480" cy="228600"/>
          </a:xfrm>
          <a:prstGeom prst="rect">
            <a:avLst/>
          </a:prstGeom>
          <a:noFill/>
        </p:spPr>
        <p:txBody>
          <a:bodyPr wrap="none" lIns="18288" tIns="9144" rIns="18288" bIns="9144">
            <a:spAutoFit/>
          </a:bodyPr>
          <a:lstStyle/>
          <a:p>
            <a:pPr>
              <a:defRPr sz="1400" b="1">
                <a:solidFill>
                  <a:srgbClr val="B88630"/>
                </a:solidFill>
                <a:latin typeface="Aptos"/>
              </a:defRPr>
            </a:pPr>
            <a:r>
              <a:t>Fine-tuned</a:t>
            </a:r>
          </a:p>
        </p:txBody>
      </p:sp>
      <p:sp>
        <p:nvSpPr>
          <p:cNvPr id="16" name="TextBox 15"/>
          <p:cNvSpPr txBox="1"/>
          <p:nvPr/>
        </p:nvSpPr>
        <p:spPr>
          <a:xfrm>
            <a:off x="8046720" y="4123944"/>
            <a:ext cx="2560320" cy="228600"/>
          </a:xfrm>
          <a:prstGeom prst="rect">
            <a:avLst/>
          </a:prstGeom>
          <a:noFill/>
        </p:spPr>
        <p:txBody>
          <a:bodyPr wrap="none" lIns="18288" tIns="9144" rIns="18288" bIns="9144">
            <a:spAutoFit/>
          </a:bodyPr>
          <a:lstStyle/>
          <a:p>
            <a:pPr>
              <a:defRPr sz="1300" b="0">
                <a:solidFill>
                  <a:srgbClr val="182228"/>
                </a:solidFill>
                <a:latin typeface="Aptos"/>
              </a:defRPr>
            </a:pPr>
            <a:r>
              <a:t>model adaptation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DATA PREPARATION</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Two datasets support two different outputs: class labels and masks.</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Data 1 labels are folder names; Data 2 labels are segmentation polygons for YOLO.</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05</a:t>
            </a:r>
          </a:p>
        </p:txBody>
      </p:sp>
      <p:sp>
        <p:nvSpPr>
          <p:cNvPr id="7" name="Rounded Rectangle 6"/>
          <p:cNvSpPr/>
          <p:nvPr/>
        </p:nvSpPr>
        <p:spPr>
          <a:xfrm>
            <a:off x="685800" y="1783080"/>
            <a:ext cx="3246120" cy="411480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data1_no_tumor_example.jpg"/>
          <p:cNvPicPr>
            <a:picLocks noChangeAspect="1"/>
          </p:cNvPicPr>
          <p:nvPr/>
        </p:nvPicPr>
        <p:blipFill>
          <a:blip r:embed="rId2"/>
          <a:stretch>
            <a:fillRect/>
          </a:stretch>
        </p:blipFill>
        <p:spPr>
          <a:xfrm>
            <a:off x="1033272" y="2057400"/>
            <a:ext cx="2560320" cy="2560320"/>
          </a:xfrm>
          <a:prstGeom prst="rect">
            <a:avLst/>
          </a:prstGeom>
        </p:spPr>
      </p:pic>
      <p:sp>
        <p:nvSpPr>
          <p:cNvPr id="9" name="TextBox 8"/>
          <p:cNvSpPr txBox="1"/>
          <p:nvPr/>
        </p:nvSpPr>
        <p:spPr>
          <a:xfrm>
            <a:off x="1005840" y="4983480"/>
            <a:ext cx="2560320" cy="228600"/>
          </a:xfrm>
          <a:prstGeom prst="rect">
            <a:avLst/>
          </a:prstGeom>
          <a:noFill/>
        </p:spPr>
        <p:txBody>
          <a:bodyPr wrap="none" lIns="18288" tIns="9144" rIns="18288" bIns="9144">
            <a:spAutoFit/>
          </a:bodyPr>
          <a:lstStyle/>
          <a:p>
            <a:pPr algn="ctr">
              <a:defRPr sz="1400" b="1">
                <a:solidFill>
                  <a:srgbClr val="182228"/>
                </a:solidFill>
                <a:latin typeface="Aptos"/>
              </a:defRPr>
            </a:pPr>
            <a:r>
              <a:t>Data 1: no tumor</a:t>
            </a:r>
          </a:p>
        </p:txBody>
      </p:sp>
      <p:sp>
        <p:nvSpPr>
          <p:cNvPr id="10" name="Rounded Rectangle 9"/>
          <p:cNvSpPr/>
          <p:nvPr/>
        </p:nvSpPr>
        <p:spPr>
          <a:xfrm>
            <a:off x="4480560" y="1783080"/>
            <a:ext cx="3246120" cy="411480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data1_tumor_example.jpg"/>
          <p:cNvPicPr>
            <a:picLocks noChangeAspect="1"/>
          </p:cNvPicPr>
          <p:nvPr/>
        </p:nvPicPr>
        <p:blipFill>
          <a:blip r:embed="rId3"/>
          <a:stretch>
            <a:fillRect/>
          </a:stretch>
        </p:blipFill>
        <p:spPr>
          <a:xfrm>
            <a:off x="4828032" y="2057400"/>
            <a:ext cx="2560320" cy="2560320"/>
          </a:xfrm>
          <a:prstGeom prst="rect">
            <a:avLst/>
          </a:prstGeom>
        </p:spPr>
      </p:pic>
      <p:sp>
        <p:nvSpPr>
          <p:cNvPr id="12" name="TextBox 11"/>
          <p:cNvSpPr txBox="1"/>
          <p:nvPr/>
        </p:nvSpPr>
        <p:spPr>
          <a:xfrm>
            <a:off x="4800600" y="4983480"/>
            <a:ext cx="2560320" cy="228600"/>
          </a:xfrm>
          <a:prstGeom prst="rect">
            <a:avLst/>
          </a:prstGeom>
          <a:noFill/>
        </p:spPr>
        <p:txBody>
          <a:bodyPr wrap="none" lIns="18288" tIns="9144" rIns="18288" bIns="9144">
            <a:spAutoFit/>
          </a:bodyPr>
          <a:lstStyle/>
          <a:p>
            <a:pPr algn="ctr">
              <a:defRPr sz="1400" b="1">
                <a:solidFill>
                  <a:srgbClr val="182228"/>
                </a:solidFill>
                <a:latin typeface="Aptos"/>
              </a:defRPr>
            </a:pPr>
            <a:r>
              <a:t>Data 1: tumor</a:t>
            </a:r>
          </a:p>
        </p:txBody>
      </p:sp>
      <p:sp>
        <p:nvSpPr>
          <p:cNvPr id="13" name="Rounded Rectangle 12"/>
          <p:cNvSpPr/>
          <p:nvPr/>
        </p:nvSpPr>
        <p:spPr>
          <a:xfrm>
            <a:off x="8275320" y="1783080"/>
            <a:ext cx="3246120" cy="411480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task3_yolo_mask_example.png"/>
          <p:cNvPicPr>
            <a:picLocks noChangeAspect="1"/>
          </p:cNvPicPr>
          <p:nvPr/>
        </p:nvPicPr>
        <p:blipFill>
          <a:blip r:embed="rId4"/>
          <a:stretch>
            <a:fillRect/>
          </a:stretch>
        </p:blipFill>
        <p:spPr>
          <a:xfrm>
            <a:off x="8253802" y="2539024"/>
            <a:ext cx="3272050" cy="1904960"/>
          </a:xfrm>
          <a:prstGeom prst="rect">
            <a:avLst/>
          </a:prstGeom>
        </p:spPr>
      </p:pic>
      <p:sp>
        <p:nvSpPr>
          <p:cNvPr id="15" name="TextBox 14"/>
          <p:cNvSpPr txBox="1"/>
          <p:nvPr/>
        </p:nvSpPr>
        <p:spPr>
          <a:xfrm>
            <a:off x="8595360" y="4983480"/>
            <a:ext cx="2560320" cy="228600"/>
          </a:xfrm>
          <a:prstGeom prst="rect">
            <a:avLst/>
          </a:prstGeom>
          <a:noFill/>
        </p:spPr>
        <p:txBody>
          <a:bodyPr wrap="none" lIns="18288" tIns="9144" rIns="18288" bIns="9144">
            <a:spAutoFit/>
          </a:bodyPr>
          <a:lstStyle/>
          <a:p>
            <a:pPr algn="ctr">
              <a:defRPr sz="1400" b="1">
                <a:solidFill>
                  <a:srgbClr val="182228"/>
                </a:solidFill>
                <a:latin typeface="Aptos"/>
              </a:defRPr>
            </a:pPr>
            <a:r>
              <a:t>Data 2: mask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937760" cy="256032"/>
          </a:xfrm>
          <a:prstGeom prst="rect">
            <a:avLst/>
          </a:prstGeom>
          <a:noFill/>
        </p:spPr>
        <p:txBody>
          <a:bodyPr wrap="square">
            <a:spAutoFit/>
          </a:bodyPr>
          <a:lstStyle/>
          <a:p>
            <a:pPr>
              <a:defRPr sz="900" b="1">
                <a:solidFill>
                  <a:srgbClr val="008074"/>
                </a:solidFill>
                <a:latin typeface="Aptos"/>
              </a:defRPr>
            </a:pPr>
            <a:r>
              <a:t>SHARED DISTORTION AND RESTORATION</a:t>
            </a:r>
          </a:p>
        </p:txBody>
      </p:sp>
      <p:sp>
        <p:nvSpPr>
          <p:cNvPr id="3" name="TextBox 2"/>
          <p:cNvSpPr txBox="1"/>
          <p:nvPr/>
        </p:nvSpPr>
        <p:spPr>
          <a:xfrm>
            <a:off x="502920" y="640080"/>
            <a:ext cx="9326880" cy="566928"/>
          </a:xfrm>
          <a:prstGeom prst="rect">
            <a:avLst/>
          </a:prstGeom>
          <a:noFill/>
        </p:spPr>
        <p:txBody>
          <a:bodyPr wrap="square">
            <a:spAutoFit/>
          </a:bodyPr>
          <a:lstStyle/>
          <a:p>
            <a:pPr>
              <a:defRPr sz="2300" b="1">
                <a:solidFill>
                  <a:srgbClr val="182228"/>
                </a:solidFill>
                <a:latin typeface="Aptos"/>
              </a:defRPr>
            </a:pPr>
            <a:r>
              <a:t>Original, distorted, and restored images are compared together.</a:t>
            </a:r>
          </a:p>
        </p:txBody>
      </p:sp>
      <p:sp>
        <p:nvSpPr>
          <p:cNvPr id="4" name="TextBox 3"/>
          <p:cNvSpPr txBox="1"/>
          <p:nvPr/>
        </p:nvSpPr>
        <p:spPr>
          <a:xfrm>
            <a:off x="521207" y="1225296"/>
            <a:ext cx="9875520" cy="292608"/>
          </a:xfrm>
          <a:prstGeom prst="rect">
            <a:avLst/>
          </a:prstGeom>
          <a:noFill/>
        </p:spPr>
        <p:txBody>
          <a:bodyPr wrap="square">
            <a:spAutoFit/>
          </a:bodyPr>
          <a:lstStyle/>
          <a:p>
            <a:pPr>
              <a:defRPr sz="1050" b="0">
                <a:solidFill>
                  <a:srgbClr val="56636B"/>
                </a:solidFill>
                <a:latin typeface="Aptos"/>
              </a:defRPr>
            </a:pPr>
            <a:r>
              <a:t>Each used distortion is shown with its restored result so the before/after effect is visible.</a:t>
            </a:r>
          </a:p>
        </p:txBody>
      </p:sp>
      <p:sp>
        <p:nvSpPr>
          <p:cNvPr id="5" name="TextBox 4"/>
          <p:cNvSpPr txBox="1"/>
          <p:nvPr/>
        </p:nvSpPr>
        <p:spPr>
          <a:xfrm>
            <a:off x="9692640" y="347472"/>
            <a:ext cx="1920240" cy="228600"/>
          </a:xfrm>
          <a:prstGeom prst="rect">
            <a:avLst/>
          </a:prstGeom>
          <a:noFill/>
        </p:spPr>
        <p:txBody>
          <a:bodyPr wrap="square">
            <a:spAutoFit/>
          </a:bodyPr>
          <a:lstStyle/>
          <a:p>
            <a:pPr algn="r">
              <a:defRPr sz="850" b="0">
                <a:solidFill>
                  <a:srgbClr val="56636B"/>
                </a:solidFill>
                <a:latin typeface="Aptos"/>
              </a:defRPr>
            </a:pPr>
            <a:r>
              <a:t>Brain MRI robustness</a:t>
            </a:r>
          </a:p>
        </p:txBody>
      </p:sp>
      <p:sp>
        <p:nvSpPr>
          <p:cNvPr id="6" name="Rounded Rectangle 5"/>
          <p:cNvSpPr/>
          <p:nvPr/>
        </p:nvSpPr>
        <p:spPr>
          <a:xfrm>
            <a:off x="502920" y="1719072"/>
            <a:ext cx="2148840" cy="452628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713232" y="2331720"/>
            <a:ext cx="1737360" cy="1737360"/>
          </a:xfrm>
          <a:prstGeom prst="rect">
            <a:avLst/>
          </a:prstGeom>
        </p:spPr>
      </p:pic>
      <p:sp>
        <p:nvSpPr>
          <p:cNvPr id="8" name="TextBox 7"/>
          <p:cNvSpPr txBox="1"/>
          <p:nvPr/>
        </p:nvSpPr>
        <p:spPr>
          <a:xfrm>
            <a:off x="749808" y="4617720"/>
            <a:ext cx="1645920" cy="256032"/>
          </a:xfrm>
          <a:prstGeom prst="rect">
            <a:avLst/>
          </a:prstGeom>
          <a:noFill/>
        </p:spPr>
        <p:txBody>
          <a:bodyPr wrap="square">
            <a:spAutoFit/>
          </a:bodyPr>
          <a:lstStyle/>
          <a:p>
            <a:pPr algn="ctr">
              <a:defRPr sz="1500" b="1">
                <a:solidFill>
                  <a:srgbClr val="182228"/>
                </a:solidFill>
                <a:latin typeface="Aptos"/>
              </a:defRPr>
            </a:pPr>
            <a:r>
              <a:t>Original</a:t>
            </a:r>
          </a:p>
        </p:txBody>
      </p:sp>
      <p:sp>
        <p:nvSpPr>
          <p:cNvPr id="9" name="TextBox 8"/>
          <p:cNvSpPr txBox="1"/>
          <p:nvPr/>
        </p:nvSpPr>
        <p:spPr>
          <a:xfrm>
            <a:off x="749808" y="4956048"/>
            <a:ext cx="1645920" cy="228600"/>
          </a:xfrm>
          <a:prstGeom prst="rect">
            <a:avLst/>
          </a:prstGeom>
          <a:noFill/>
        </p:spPr>
        <p:txBody>
          <a:bodyPr wrap="square">
            <a:spAutoFit/>
          </a:bodyPr>
          <a:lstStyle/>
          <a:p>
            <a:pPr algn="ctr">
              <a:defRPr sz="950" b="0">
                <a:solidFill>
                  <a:srgbClr val="56636B"/>
                </a:solidFill>
                <a:latin typeface="Aptos"/>
              </a:defRPr>
            </a:pPr>
            <a:r>
              <a:t>clean baseline</a:t>
            </a:r>
          </a:p>
        </p:txBody>
      </p:sp>
      <p:sp>
        <p:nvSpPr>
          <p:cNvPr id="10" name="TextBox 9"/>
          <p:cNvSpPr txBox="1"/>
          <p:nvPr/>
        </p:nvSpPr>
        <p:spPr>
          <a:xfrm>
            <a:off x="713232" y="5358384"/>
            <a:ext cx="1737360" cy="384048"/>
          </a:xfrm>
          <a:prstGeom prst="rect">
            <a:avLst/>
          </a:prstGeom>
          <a:noFill/>
        </p:spPr>
        <p:txBody>
          <a:bodyPr wrap="square">
            <a:spAutoFit/>
          </a:bodyPr>
          <a:lstStyle/>
          <a:p>
            <a:pPr algn="ctr">
              <a:defRPr sz="900" b="0">
                <a:solidFill>
                  <a:srgbClr val="56636B"/>
                </a:solidFill>
                <a:latin typeface="Aptos"/>
              </a:defRPr>
            </a:pPr>
            <a:r>
              <a:t>used before all distortions</a:t>
            </a:r>
          </a:p>
        </p:txBody>
      </p:sp>
      <p:sp>
        <p:nvSpPr>
          <p:cNvPr id="11" name="Rounded Rectangle 10"/>
          <p:cNvSpPr/>
          <p:nvPr/>
        </p:nvSpPr>
        <p:spPr>
          <a:xfrm>
            <a:off x="2880360" y="1719072"/>
            <a:ext cx="434340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44952" y="1856231"/>
            <a:ext cx="3977639" cy="219456"/>
          </a:xfrm>
          <a:prstGeom prst="rect">
            <a:avLst/>
          </a:prstGeom>
          <a:noFill/>
        </p:spPr>
        <p:txBody>
          <a:bodyPr wrap="square">
            <a:spAutoFit/>
          </a:bodyPr>
          <a:lstStyle/>
          <a:p>
            <a:pPr>
              <a:defRPr sz="1250" b="1">
                <a:solidFill>
                  <a:srgbClr val="2666AC"/>
                </a:solidFill>
                <a:latin typeface="Aptos"/>
              </a:defRPr>
            </a:pPr>
            <a:r>
              <a:t>Gaussian noise</a:t>
            </a:r>
          </a:p>
        </p:txBody>
      </p:sp>
      <p:sp>
        <p:nvSpPr>
          <p:cNvPr id="13" name="Rounded Rectangle 12"/>
          <p:cNvSpPr/>
          <p:nvPr/>
        </p:nvSpPr>
        <p:spPr>
          <a:xfrm>
            <a:off x="3063240" y="217627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166360" y="217627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mage.png"/>
          <p:cNvPicPr>
            <a:picLocks noChangeAspect="1"/>
          </p:cNvPicPr>
          <p:nvPr/>
        </p:nvPicPr>
        <p:blipFill>
          <a:blip r:embed="rId3"/>
          <a:stretch>
            <a:fillRect/>
          </a:stretch>
        </p:blipFill>
        <p:spPr>
          <a:xfrm>
            <a:off x="3447287" y="2249424"/>
            <a:ext cx="1060704" cy="1060704"/>
          </a:xfrm>
          <a:prstGeom prst="rect">
            <a:avLst/>
          </a:prstGeom>
        </p:spPr>
      </p:pic>
      <p:pic>
        <p:nvPicPr>
          <p:cNvPr id="16" name="Picture 15" descr="gaussian_noise_restored.png"/>
          <p:cNvPicPr>
            <a:picLocks noChangeAspect="1"/>
          </p:cNvPicPr>
          <p:nvPr/>
        </p:nvPicPr>
        <p:blipFill>
          <a:blip r:embed="rId4"/>
          <a:stretch>
            <a:fillRect/>
          </a:stretch>
        </p:blipFill>
        <p:spPr>
          <a:xfrm>
            <a:off x="5550407" y="2249424"/>
            <a:ext cx="1060704" cy="1060704"/>
          </a:xfrm>
          <a:prstGeom prst="rect">
            <a:avLst/>
          </a:prstGeom>
        </p:spPr>
      </p:pic>
      <p:sp>
        <p:nvSpPr>
          <p:cNvPr id="17" name="TextBox 16"/>
          <p:cNvSpPr txBox="1"/>
          <p:nvPr/>
        </p:nvSpPr>
        <p:spPr>
          <a:xfrm>
            <a:off x="3291840" y="3438144"/>
            <a:ext cx="1417320" cy="164592"/>
          </a:xfrm>
          <a:prstGeom prst="rect">
            <a:avLst/>
          </a:prstGeom>
          <a:noFill/>
        </p:spPr>
        <p:txBody>
          <a:bodyPr wrap="square">
            <a:spAutoFit/>
          </a:bodyPr>
          <a:lstStyle/>
          <a:p>
            <a:pPr algn="ctr">
              <a:defRPr sz="850" b="0">
                <a:solidFill>
                  <a:srgbClr val="56636B"/>
                </a:solidFill>
                <a:latin typeface="Aptos"/>
              </a:defRPr>
            </a:pPr>
            <a:r>
              <a:t>distorted</a:t>
            </a:r>
          </a:p>
        </p:txBody>
      </p:sp>
      <p:sp>
        <p:nvSpPr>
          <p:cNvPr id="18" name="TextBox 17"/>
          <p:cNvSpPr txBox="1"/>
          <p:nvPr/>
        </p:nvSpPr>
        <p:spPr>
          <a:xfrm>
            <a:off x="5394960" y="3438144"/>
            <a:ext cx="1417320" cy="164592"/>
          </a:xfrm>
          <a:prstGeom prst="rect">
            <a:avLst/>
          </a:prstGeom>
          <a:noFill/>
        </p:spPr>
        <p:txBody>
          <a:bodyPr wrap="square">
            <a:spAutoFit/>
          </a:bodyPr>
          <a:lstStyle/>
          <a:p>
            <a:pPr algn="ctr">
              <a:defRPr sz="850" b="0">
                <a:solidFill>
                  <a:srgbClr val="56636B"/>
                </a:solidFill>
                <a:latin typeface="Aptos"/>
              </a:defRPr>
            </a:pPr>
            <a:r>
              <a:t>restored</a:t>
            </a:r>
          </a:p>
        </p:txBody>
      </p:sp>
      <p:cxnSp>
        <p:nvCxnSpPr>
          <p:cNvPr id="19" name="Connector 18"/>
          <p:cNvCxnSpPr/>
          <p:nvPr/>
        </p:nvCxnSpPr>
        <p:spPr>
          <a:xfrm>
            <a:off x="4919472" y="2834639"/>
            <a:ext cx="201168" cy="0"/>
          </a:xfrm>
          <a:prstGeom prst="line">
            <a:avLst/>
          </a:prstGeom>
          <a:ln w="17780">
            <a:solidFill>
              <a:srgbClr val="2666A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98079" y="1719072"/>
            <a:ext cx="434340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62671" y="1856231"/>
            <a:ext cx="3977639" cy="219456"/>
          </a:xfrm>
          <a:prstGeom prst="rect">
            <a:avLst/>
          </a:prstGeom>
          <a:noFill/>
        </p:spPr>
        <p:txBody>
          <a:bodyPr wrap="square">
            <a:spAutoFit/>
          </a:bodyPr>
          <a:lstStyle/>
          <a:p>
            <a:pPr>
              <a:defRPr sz="1250" b="1">
                <a:solidFill>
                  <a:srgbClr val="B2483E"/>
                </a:solidFill>
                <a:latin typeface="Aptos"/>
              </a:defRPr>
            </a:pPr>
            <a:r>
              <a:t>Salt-and-pepper</a:t>
            </a:r>
          </a:p>
        </p:txBody>
      </p:sp>
      <p:sp>
        <p:nvSpPr>
          <p:cNvPr id="22" name="Rounded Rectangle 21"/>
          <p:cNvSpPr/>
          <p:nvPr/>
        </p:nvSpPr>
        <p:spPr>
          <a:xfrm>
            <a:off x="7680959" y="217627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784080" y="217627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image.png"/>
          <p:cNvPicPr>
            <a:picLocks noChangeAspect="1"/>
          </p:cNvPicPr>
          <p:nvPr/>
        </p:nvPicPr>
        <p:blipFill>
          <a:blip r:embed="rId5"/>
          <a:stretch>
            <a:fillRect/>
          </a:stretch>
        </p:blipFill>
        <p:spPr>
          <a:xfrm>
            <a:off x="8065008" y="2249424"/>
            <a:ext cx="1060704" cy="1060704"/>
          </a:xfrm>
          <a:prstGeom prst="rect">
            <a:avLst/>
          </a:prstGeom>
        </p:spPr>
      </p:pic>
      <p:pic>
        <p:nvPicPr>
          <p:cNvPr id="25" name="Picture 24" descr="salt_and_pepper_restored.png"/>
          <p:cNvPicPr>
            <a:picLocks noChangeAspect="1"/>
          </p:cNvPicPr>
          <p:nvPr/>
        </p:nvPicPr>
        <p:blipFill>
          <a:blip r:embed="rId6"/>
          <a:stretch>
            <a:fillRect/>
          </a:stretch>
        </p:blipFill>
        <p:spPr>
          <a:xfrm>
            <a:off x="10168128" y="2249424"/>
            <a:ext cx="1060704" cy="1060704"/>
          </a:xfrm>
          <a:prstGeom prst="rect">
            <a:avLst/>
          </a:prstGeom>
        </p:spPr>
      </p:pic>
      <p:sp>
        <p:nvSpPr>
          <p:cNvPr id="26" name="TextBox 25"/>
          <p:cNvSpPr txBox="1"/>
          <p:nvPr/>
        </p:nvSpPr>
        <p:spPr>
          <a:xfrm>
            <a:off x="7909559" y="3438144"/>
            <a:ext cx="1417320" cy="164592"/>
          </a:xfrm>
          <a:prstGeom prst="rect">
            <a:avLst/>
          </a:prstGeom>
          <a:noFill/>
        </p:spPr>
        <p:txBody>
          <a:bodyPr wrap="square">
            <a:spAutoFit/>
          </a:bodyPr>
          <a:lstStyle/>
          <a:p>
            <a:pPr algn="ctr">
              <a:defRPr sz="850" b="0">
                <a:solidFill>
                  <a:srgbClr val="56636B"/>
                </a:solidFill>
                <a:latin typeface="Aptos"/>
              </a:defRPr>
            </a:pPr>
            <a:r>
              <a:t>distorted</a:t>
            </a:r>
          </a:p>
        </p:txBody>
      </p:sp>
      <p:sp>
        <p:nvSpPr>
          <p:cNvPr id="27" name="TextBox 26"/>
          <p:cNvSpPr txBox="1"/>
          <p:nvPr/>
        </p:nvSpPr>
        <p:spPr>
          <a:xfrm>
            <a:off x="10012680" y="3438144"/>
            <a:ext cx="1417320" cy="164592"/>
          </a:xfrm>
          <a:prstGeom prst="rect">
            <a:avLst/>
          </a:prstGeom>
          <a:noFill/>
        </p:spPr>
        <p:txBody>
          <a:bodyPr wrap="square">
            <a:spAutoFit/>
          </a:bodyPr>
          <a:lstStyle/>
          <a:p>
            <a:pPr algn="ctr">
              <a:defRPr sz="850" b="0">
                <a:solidFill>
                  <a:srgbClr val="56636B"/>
                </a:solidFill>
                <a:latin typeface="Aptos"/>
              </a:defRPr>
            </a:pPr>
            <a:r>
              <a:t>restored</a:t>
            </a:r>
          </a:p>
        </p:txBody>
      </p:sp>
      <p:cxnSp>
        <p:nvCxnSpPr>
          <p:cNvPr id="28" name="Connector 27"/>
          <p:cNvCxnSpPr/>
          <p:nvPr/>
        </p:nvCxnSpPr>
        <p:spPr>
          <a:xfrm>
            <a:off x="9537192" y="2834639"/>
            <a:ext cx="201167" cy="0"/>
          </a:xfrm>
          <a:prstGeom prst="line">
            <a:avLst/>
          </a:prstGeom>
          <a:ln w="17780">
            <a:solidFill>
              <a:srgbClr val="B2483E"/>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2880360" y="4096512"/>
            <a:ext cx="434340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044952" y="4233672"/>
            <a:ext cx="3977639" cy="219456"/>
          </a:xfrm>
          <a:prstGeom prst="rect">
            <a:avLst/>
          </a:prstGeom>
          <a:noFill/>
        </p:spPr>
        <p:txBody>
          <a:bodyPr wrap="square">
            <a:spAutoFit/>
          </a:bodyPr>
          <a:lstStyle/>
          <a:p>
            <a:pPr>
              <a:defRPr sz="1250" b="1">
                <a:solidFill>
                  <a:srgbClr val="008074"/>
                </a:solidFill>
                <a:latin typeface="Aptos"/>
              </a:defRPr>
            </a:pPr>
            <a:r>
              <a:t>Gaussian blur</a:t>
            </a:r>
          </a:p>
        </p:txBody>
      </p:sp>
      <p:sp>
        <p:nvSpPr>
          <p:cNvPr id="31" name="Rounded Rectangle 30"/>
          <p:cNvSpPr/>
          <p:nvPr/>
        </p:nvSpPr>
        <p:spPr>
          <a:xfrm>
            <a:off x="3063240" y="455371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166360" y="455371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image.png"/>
          <p:cNvPicPr>
            <a:picLocks noChangeAspect="1"/>
          </p:cNvPicPr>
          <p:nvPr/>
        </p:nvPicPr>
        <p:blipFill>
          <a:blip r:embed="rId7"/>
          <a:stretch>
            <a:fillRect/>
          </a:stretch>
        </p:blipFill>
        <p:spPr>
          <a:xfrm>
            <a:off x="3447287" y="4626864"/>
            <a:ext cx="1060704" cy="1060704"/>
          </a:xfrm>
          <a:prstGeom prst="rect">
            <a:avLst/>
          </a:prstGeom>
        </p:spPr>
      </p:pic>
      <p:pic>
        <p:nvPicPr>
          <p:cNvPr id="34" name="Picture 33" descr="gaussian_blur_restored.png"/>
          <p:cNvPicPr>
            <a:picLocks noChangeAspect="1"/>
          </p:cNvPicPr>
          <p:nvPr/>
        </p:nvPicPr>
        <p:blipFill>
          <a:blip r:embed="rId8"/>
          <a:stretch>
            <a:fillRect/>
          </a:stretch>
        </p:blipFill>
        <p:spPr>
          <a:xfrm>
            <a:off x="5550407" y="4626864"/>
            <a:ext cx="1060704" cy="1060704"/>
          </a:xfrm>
          <a:prstGeom prst="rect">
            <a:avLst/>
          </a:prstGeom>
        </p:spPr>
      </p:pic>
      <p:sp>
        <p:nvSpPr>
          <p:cNvPr id="35" name="TextBox 34"/>
          <p:cNvSpPr txBox="1"/>
          <p:nvPr/>
        </p:nvSpPr>
        <p:spPr>
          <a:xfrm>
            <a:off x="3291840" y="5815584"/>
            <a:ext cx="1417320" cy="164592"/>
          </a:xfrm>
          <a:prstGeom prst="rect">
            <a:avLst/>
          </a:prstGeom>
          <a:noFill/>
        </p:spPr>
        <p:txBody>
          <a:bodyPr wrap="square">
            <a:spAutoFit/>
          </a:bodyPr>
          <a:lstStyle/>
          <a:p>
            <a:pPr algn="ctr">
              <a:defRPr sz="850" b="0">
                <a:solidFill>
                  <a:srgbClr val="56636B"/>
                </a:solidFill>
                <a:latin typeface="Aptos"/>
              </a:defRPr>
            </a:pPr>
            <a:r>
              <a:t>distorted</a:t>
            </a:r>
          </a:p>
        </p:txBody>
      </p:sp>
      <p:sp>
        <p:nvSpPr>
          <p:cNvPr id="36" name="TextBox 35"/>
          <p:cNvSpPr txBox="1"/>
          <p:nvPr/>
        </p:nvSpPr>
        <p:spPr>
          <a:xfrm>
            <a:off x="5394960" y="5815584"/>
            <a:ext cx="1417320" cy="164592"/>
          </a:xfrm>
          <a:prstGeom prst="rect">
            <a:avLst/>
          </a:prstGeom>
          <a:noFill/>
        </p:spPr>
        <p:txBody>
          <a:bodyPr wrap="square">
            <a:spAutoFit/>
          </a:bodyPr>
          <a:lstStyle/>
          <a:p>
            <a:pPr algn="ctr">
              <a:defRPr sz="850" b="0">
                <a:solidFill>
                  <a:srgbClr val="56636B"/>
                </a:solidFill>
                <a:latin typeface="Aptos"/>
              </a:defRPr>
            </a:pPr>
            <a:r>
              <a:t>restored</a:t>
            </a:r>
          </a:p>
        </p:txBody>
      </p:sp>
      <p:cxnSp>
        <p:nvCxnSpPr>
          <p:cNvPr id="37" name="Connector 36"/>
          <p:cNvCxnSpPr/>
          <p:nvPr/>
        </p:nvCxnSpPr>
        <p:spPr>
          <a:xfrm>
            <a:off x="4919472" y="5212080"/>
            <a:ext cx="201168" cy="0"/>
          </a:xfrm>
          <a:prstGeom prst="line">
            <a:avLst/>
          </a:prstGeom>
          <a:ln w="17780">
            <a:solidFill>
              <a:srgbClr val="008074"/>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7498079" y="4096512"/>
            <a:ext cx="434340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62671" y="4233672"/>
            <a:ext cx="3977639" cy="219456"/>
          </a:xfrm>
          <a:prstGeom prst="rect">
            <a:avLst/>
          </a:prstGeom>
          <a:noFill/>
        </p:spPr>
        <p:txBody>
          <a:bodyPr wrap="square">
            <a:spAutoFit/>
          </a:bodyPr>
          <a:lstStyle/>
          <a:p>
            <a:pPr>
              <a:defRPr sz="1250" b="1">
                <a:solidFill>
                  <a:srgbClr val="B88630"/>
                </a:solidFill>
                <a:latin typeface="Aptos"/>
              </a:defRPr>
            </a:pPr>
            <a:r>
              <a:t>Brightness / contrast</a:t>
            </a:r>
          </a:p>
        </p:txBody>
      </p:sp>
      <p:sp>
        <p:nvSpPr>
          <p:cNvPr id="40" name="Rounded Rectangle 39"/>
          <p:cNvSpPr/>
          <p:nvPr/>
        </p:nvSpPr>
        <p:spPr>
          <a:xfrm>
            <a:off x="7680959" y="455371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9784080" y="455371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image.png"/>
          <p:cNvPicPr>
            <a:picLocks noChangeAspect="1"/>
          </p:cNvPicPr>
          <p:nvPr/>
        </p:nvPicPr>
        <p:blipFill>
          <a:blip r:embed="rId9"/>
          <a:stretch>
            <a:fillRect/>
          </a:stretch>
        </p:blipFill>
        <p:spPr>
          <a:xfrm>
            <a:off x="8065008" y="4626864"/>
            <a:ext cx="1060704" cy="1060704"/>
          </a:xfrm>
          <a:prstGeom prst="rect">
            <a:avLst/>
          </a:prstGeom>
        </p:spPr>
      </p:pic>
      <p:pic>
        <p:nvPicPr>
          <p:cNvPr id="43" name="Picture 42" descr="brightness_contrast_restored.png"/>
          <p:cNvPicPr>
            <a:picLocks noChangeAspect="1"/>
          </p:cNvPicPr>
          <p:nvPr/>
        </p:nvPicPr>
        <p:blipFill>
          <a:blip r:embed="rId10"/>
          <a:stretch>
            <a:fillRect/>
          </a:stretch>
        </p:blipFill>
        <p:spPr>
          <a:xfrm>
            <a:off x="10168128" y="4626864"/>
            <a:ext cx="1060704" cy="1060704"/>
          </a:xfrm>
          <a:prstGeom prst="rect">
            <a:avLst/>
          </a:prstGeom>
        </p:spPr>
      </p:pic>
      <p:sp>
        <p:nvSpPr>
          <p:cNvPr id="44" name="TextBox 43"/>
          <p:cNvSpPr txBox="1"/>
          <p:nvPr/>
        </p:nvSpPr>
        <p:spPr>
          <a:xfrm>
            <a:off x="7909559" y="5815584"/>
            <a:ext cx="1417320" cy="164592"/>
          </a:xfrm>
          <a:prstGeom prst="rect">
            <a:avLst/>
          </a:prstGeom>
          <a:noFill/>
        </p:spPr>
        <p:txBody>
          <a:bodyPr wrap="square">
            <a:spAutoFit/>
          </a:bodyPr>
          <a:lstStyle/>
          <a:p>
            <a:pPr algn="ctr">
              <a:defRPr sz="850" b="0">
                <a:solidFill>
                  <a:srgbClr val="56636B"/>
                </a:solidFill>
                <a:latin typeface="Aptos"/>
              </a:defRPr>
            </a:pPr>
            <a:r>
              <a:t>distorted</a:t>
            </a:r>
          </a:p>
        </p:txBody>
      </p:sp>
      <p:sp>
        <p:nvSpPr>
          <p:cNvPr id="45" name="TextBox 44"/>
          <p:cNvSpPr txBox="1"/>
          <p:nvPr/>
        </p:nvSpPr>
        <p:spPr>
          <a:xfrm>
            <a:off x="10012680" y="5815584"/>
            <a:ext cx="1417320" cy="164592"/>
          </a:xfrm>
          <a:prstGeom prst="rect">
            <a:avLst/>
          </a:prstGeom>
          <a:noFill/>
        </p:spPr>
        <p:txBody>
          <a:bodyPr wrap="square">
            <a:spAutoFit/>
          </a:bodyPr>
          <a:lstStyle/>
          <a:p>
            <a:pPr algn="ctr">
              <a:defRPr sz="850" b="0">
                <a:solidFill>
                  <a:srgbClr val="56636B"/>
                </a:solidFill>
                <a:latin typeface="Aptos"/>
              </a:defRPr>
            </a:pPr>
            <a:r>
              <a:t>restored</a:t>
            </a:r>
          </a:p>
        </p:txBody>
      </p:sp>
      <p:cxnSp>
        <p:nvCxnSpPr>
          <p:cNvPr id="46" name="Connector 45"/>
          <p:cNvCxnSpPr/>
          <p:nvPr/>
        </p:nvCxnSpPr>
        <p:spPr>
          <a:xfrm>
            <a:off x="9537192" y="5212080"/>
            <a:ext cx="201167" cy="0"/>
          </a:xfrm>
          <a:prstGeom prst="line">
            <a:avLst/>
          </a:prstGeom>
          <a:ln w="17780">
            <a:solidFill>
              <a:srgbClr val="B8863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1292840" y="6446520"/>
            <a:ext cx="411480" cy="182880"/>
          </a:xfrm>
          <a:prstGeom prst="rect">
            <a:avLst/>
          </a:prstGeom>
          <a:noFill/>
        </p:spPr>
        <p:txBody>
          <a:bodyPr wrap="square">
            <a:spAutoFit/>
          </a:bodyPr>
          <a:lstStyle/>
          <a:p>
            <a:pPr algn="r">
              <a:defRPr sz="800" b="0">
                <a:solidFill>
                  <a:srgbClr val="56636B"/>
                </a:solidFill>
                <a:latin typeface="Aptos"/>
              </a:defRPr>
            </a:pPr>
            <a:r>
              <a:t>06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937760" cy="256032"/>
          </a:xfrm>
          <a:prstGeom prst="rect">
            <a:avLst/>
          </a:prstGeom>
          <a:noFill/>
        </p:spPr>
        <p:txBody>
          <a:bodyPr wrap="square">
            <a:spAutoFit/>
          </a:bodyPr>
          <a:lstStyle/>
          <a:p>
            <a:pPr>
              <a:defRPr sz="900" b="1">
                <a:solidFill>
                  <a:srgbClr val="008074"/>
                </a:solidFill>
                <a:latin typeface="Aptos"/>
              </a:defRPr>
            </a:pPr>
            <a:r>
              <a:t>ADDITIONAL DISTORTIONS</a:t>
            </a:r>
          </a:p>
        </p:txBody>
      </p:sp>
      <p:sp>
        <p:nvSpPr>
          <p:cNvPr id="3" name="TextBox 2"/>
          <p:cNvSpPr txBox="1"/>
          <p:nvPr/>
        </p:nvSpPr>
        <p:spPr>
          <a:xfrm>
            <a:off x="502920" y="640080"/>
            <a:ext cx="9784080" cy="566928"/>
          </a:xfrm>
          <a:prstGeom prst="rect">
            <a:avLst/>
          </a:prstGeom>
          <a:noFill/>
        </p:spPr>
        <p:txBody>
          <a:bodyPr wrap="square">
            <a:spAutoFit/>
          </a:bodyPr>
          <a:lstStyle/>
          <a:p>
            <a:pPr>
              <a:defRPr sz="2300" b="1">
                <a:solidFill>
                  <a:srgbClr val="182228"/>
                </a:solidFill>
                <a:latin typeface="Aptos"/>
              </a:defRPr>
            </a:pPr>
            <a:r>
              <a:t>Original, distorted, and restored images for the other distortions.</a:t>
            </a:r>
          </a:p>
        </p:txBody>
      </p:sp>
      <p:sp>
        <p:nvSpPr>
          <p:cNvPr id="4" name="TextBox 3"/>
          <p:cNvSpPr txBox="1"/>
          <p:nvPr/>
        </p:nvSpPr>
        <p:spPr>
          <a:xfrm>
            <a:off x="521207" y="1225296"/>
            <a:ext cx="10058400" cy="292608"/>
          </a:xfrm>
          <a:prstGeom prst="rect">
            <a:avLst/>
          </a:prstGeom>
          <a:noFill/>
        </p:spPr>
        <p:txBody>
          <a:bodyPr wrap="square">
            <a:spAutoFit/>
          </a:bodyPr>
          <a:lstStyle/>
          <a:p>
            <a:pPr>
              <a:defRPr sz="1050" b="0">
                <a:solidFill>
                  <a:srgbClr val="56636B"/>
                </a:solidFill>
                <a:latin typeface="Aptos"/>
              </a:defRPr>
            </a:pPr>
            <a:r>
              <a:t>These methods were also implemented in the distortion/restoration pipeline and are shown with the same before/after structure as slide 6.</a:t>
            </a:r>
          </a:p>
        </p:txBody>
      </p:sp>
      <p:sp>
        <p:nvSpPr>
          <p:cNvPr id="5" name="TextBox 4"/>
          <p:cNvSpPr txBox="1"/>
          <p:nvPr/>
        </p:nvSpPr>
        <p:spPr>
          <a:xfrm>
            <a:off x="9692640" y="347472"/>
            <a:ext cx="1920240" cy="228600"/>
          </a:xfrm>
          <a:prstGeom prst="rect">
            <a:avLst/>
          </a:prstGeom>
          <a:noFill/>
        </p:spPr>
        <p:txBody>
          <a:bodyPr wrap="square">
            <a:spAutoFit/>
          </a:bodyPr>
          <a:lstStyle/>
          <a:p>
            <a:pPr algn="r">
              <a:defRPr sz="850" b="0">
                <a:solidFill>
                  <a:srgbClr val="56636B"/>
                </a:solidFill>
                <a:latin typeface="Aptos"/>
              </a:defRPr>
            </a:pPr>
            <a:r>
              <a:t>Brain MRI robustness</a:t>
            </a:r>
          </a:p>
        </p:txBody>
      </p:sp>
      <p:sp>
        <p:nvSpPr>
          <p:cNvPr id="6" name="Rounded Rectangle 5"/>
          <p:cNvSpPr/>
          <p:nvPr/>
        </p:nvSpPr>
        <p:spPr>
          <a:xfrm>
            <a:off x="502920" y="1719072"/>
            <a:ext cx="2148840" cy="452628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713232" y="2331720"/>
            <a:ext cx="1737360" cy="1737360"/>
          </a:xfrm>
          <a:prstGeom prst="rect">
            <a:avLst/>
          </a:prstGeom>
        </p:spPr>
      </p:pic>
      <p:sp>
        <p:nvSpPr>
          <p:cNvPr id="8" name="TextBox 7"/>
          <p:cNvSpPr txBox="1"/>
          <p:nvPr/>
        </p:nvSpPr>
        <p:spPr>
          <a:xfrm>
            <a:off x="749808" y="4617720"/>
            <a:ext cx="1645920" cy="256032"/>
          </a:xfrm>
          <a:prstGeom prst="rect">
            <a:avLst/>
          </a:prstGeom>
          <a:noFill/>
        </p:spPr>
        <p:txBody>
          <a:bodyPr wrap="square">
            <a:spAutoFit/>
          </a:bodyPr>
          <a:lstStyle/>
          <a:p>
            <a:pPr algn="ctr">
              <a:defRPr sz="1500" b="1">
                <a:solidFill>
                  <a:srgbClr val="182228"/>
                </a:solidFill>
                <a:latin typeface="Aptos"/>
              </a:defRPr>
            </a:pPr>
            <a:r>
              <a:t>Original</a:t>
            </a:r>
          </a:p>
        </p:txBody>
      </p:sp>
      <p:sp>
        <p:nvSpPr>
          <p:cNvPr id="9" name="TextBox 8"/>
          <p:cNvSpPr txBox="1"/>
          <p:nvPr/>
        </p:nvSpPr>
        <p:spPr>
          <a:xfrm>
            <a:off x="749808" y="4956048"/>
            <a:ext cx="1645920" cy="228600"/>
          </a:xfrm>
          <a:prstGeom prst="rect">
            <a:avLst/>
          </a:prstGeom>
          <a:noFill/>
        </p:spPr>
        <p:txBody>
          <a:bodyPr wrap="square">
            <a:spAutoFit/>
          </a:bodyPr>
          <a:lstStyle/>
          <a:p>
            <a:pPr algn="ctr">
              <a:defRPr sz="950" b="0">
                <a:solidFill>
                  <a:srgbClr val="56636B"/>
                </a:solidFill>
                <a:latin typeface="Aptos"/>
              </a:defRPr>
            </a:pPr>
            <a:r>
              <a:t>clean baseline</a:t>
            </a:r>
          </a:p>
        </p:txBody>
      </p:sp>
      <p:sp>
        <p:nvSpPr>
          <p:cNvPr id="10" name="TextBox 9"/>
          <p:cNvSpPr txBox="1"/>
          <p:nvPr/>
        </p:nvSpPr>
        <p:spPr>
          <a:xfrm>
            <a:off x="713232" y="5358384"/>
            <a:ext cx="1737360" cy="384048"/>
          </a:xfrm>
          <a:prstGeom prst="rect">
            <a:avLst/>
          </a:prstGeom>
          <a:noFill/>
        </p:spPr>
        <p:txBody>
          <a:bodyPr wrap="square">
            <a:spAutoFit/>
          </a:bodyPr>
          <a:lstStyle/>
          <a:p>
            <a:pPr algn="ctr">
              <a:defRPr sz="900" b="0">
                <a:solidFill>
                  <a:srgbClr val="56636B"/>
                </a:solidFill>
                <a:latin typeface="Aptos"/>
              </a:defRPr>
            </a:pPr>
            <a:r>
              <a:t>used before all distortions</a:t>
            </a:r>
          </a:p>
        </p:txBody>
      </p:sp>
      <p:sp>
        <p:nvSpPr>
          <p:cNvPr id="11" name="Rounded Rectangle 10"/>
          <p:cNvSpPr/>
          <p:nvPr/>
        </p:nvSpPr>
        <p:spPr>
          <a:xfrm>
            <a:off x="2880360" y="1719072"/>
            <a:ext cx="434340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44952" y="1856231"/>
            <a:ext cx="3977639" cy="219456"/>
          </a:xfrm>
          <a:prstGeom prst="rect">
            <a:avLst/>
          </a:prstGeom>
          <a:noFill/>
        </p:spPr>
        <p:txBody>
          <a:bodyPr wrap="square">
            <a:spAutoFit/>
          </a:bodyPr>
          <a:lstStyle/>
          <a:p>
            <a:pPr>
              <a:defRPr sz="1250" b="1">
                <a:solidFill>
                  <a:srgbClr val="2666AC"/>
                </a:solidFill>
                <a:latin typeface="Aptos"/>
              </a:defRPr>
            </a:pPr>
            <a:r>
              <a:t>Rotation</a:t>
            </a:r>
          </a:p>
        </p:txBody>
      </p:sp>
      <p:sp>
        <p:nvSpPr>
          <p:cNvPr id="13" name="Rounded Rectangle 12"/>
          <p:cNvSpPr/>
          <p:nvPr/>
        </p:nvSpPr>
        <p:spPr>
          <a:xfrm>
            <a:off x="3063240" y="217627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166360" y="217627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rotation.png"/>
          <p:cNvPicPr>
            <a:picLocks noChangeAspect="1"/>
          </p:cNvPicPr>
          <p:nvPr/>
        </p:nvPicPr>
        <p:blipFill>
          <a:blip r:embed="rId3"/>
          <a:stretch>
            <a:fillRect/>
          </a:stretch>
        </p:blipFill>
        <p:spPr>
          <a:xfrm>
            <a:off x="3447287" y="2249424"/>
            <a:ext cx="1060704" cy="1060704"/>
          </a:xfrm>
          <a:prstGeom prst="rect">
            <a:avLst/>
          </a:prstGeom>
        </p:spPr>
      </p:pic>
      <p:pic>
        <p:nvPicPr>
          <p:cNvPr id="16" name="Picture 15" descr="rotation_restored.png"/>
          <p:cNvPicPr>
            <a:picLocks noChangeAspect="1"/>
          </p:cNvPicPr>
          <p:nvPr/>
        </p:nvPicPr>
        <p:blipFill>
          <a:blip r:embed="rId4"/>
          <a:stretch>
            <a:fillRect/>
          </a:stretch>
        </p:blipFill>
        <p:spPr>
          <a:xfrm>
            <a:off x="5550407" y="2249424"/>
            <a:ext cx="1060704" cy="1060704"/>
          </a:xfrm>
          <a:prstGeom prst="rect">
            <a:avLst/>
          </a:prstGeom>
        </p:spPr>
      </p:pic>
      <p:sp>
        <p:nvSpPr>
          <p:cNvPr id="17" name="TextBox 16"/>
          <p:cNvSpPr txBox="1"/>
          <p:nvPr/>
        </p:nvSpPr>
        <p:spPr>
          <a:xfrm>
            <a:off x="3291840" y="3438144"/>
            <a:ext cx="1417320" cy="164592"/>
          </a:xfrm>
          <a:prstGeom prst="rect">
            <a:avLst/>
          </a:prstGeom>
          <a:noFill/>
        </p:spPr>
        <p:txBody>
          <a:bodyPr wrap="square">
            <a:spAutoFit/>
          </a:bodyPr>
          <a:lstStyle/>
          <a:p>
            <a:pPr algn="ctr">
              <a:defRPr sz="850" b="0">
                <a:solidFill>
                  <a:srgbClr val="56636B"/>
                </a:solidFill>
                <a:latin typeface="Aptos"/>
              </a:defRPr>
            </a:pPr>
            <a:r>
              <a:t>distorted</a:t>
            </a:r>
          </a:p>
        </p:txBody>
      </p:sp>
      <p:sp>
        <p:nvSpPr>
          <p:cNvPr id="18" name="TextBox 17"/>
          <p:cNvSpPr txBox="1"/>
          <p:nvPr/>
        </p:nvSpPr>
        <p:spPr>
          <a:xfrm>
            <a:off x="5394960" y="3438144"/>
            <a:ext cx="1417320" cy="164592"/>
          </a:xfrm>
          <a:prstGeom prst="rect">
            <a:avLst/>
          </a:prstGeom>
          <a:noFill/>
        </p:spPr>
        <p:txBody>
          <a:bodyPr wrap="square">
            <a:spAutoFit/>
          </a:bodyPr>
          <a:lstStyle/>
          <a:p>
            <a:pPr algn="ctr">
              <a:defRPr sz="850" b="0">
                <a:solidFill>
                  <a:srgbClr val="56636B"/>
                </a:solidFill>
                <a:latin typeface="Aptos"/>
              </a:defRPr>
            </a:pPr>
            <a:r>
              <a:t>restored</a:t>
            </a:r>
          </a:p>
        </p:txBody>
      </p:sp>
      <p:cxnSp>
        <p:nvCxnSpPr>
          <p:cNvPr id="19" name="Connector 18"/>
          <p:cNvCxnSpPr/>
          <p:nvPr/>
        </p:nvCxnSpPr>
        <p:spPr>
          <a:xfrm>
            <a:off x="4919472" y="2834639"/>
            <a:ext cx="201168" cy="0"/>
          </a:xfrm>
          <a:prstGeom prst="line">
            <a:avLst/>
          </a:prstGeom>
          <a:ln w="17780">
            <a:solidFill>
              <a:srgbClr val="2666A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98079" y="1719072"/>
            <a:ext cx="434340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62671" y="1856231"/>
            <a:ext cx="3977639" cy="219456"/>
          </a:xfrm>
          <a:prstGeom prst="rect">
            <a:avLst/>
          </a:prstGeom>
          <a:noFill/>
        </p:spPr>
        <p:txBody>
          <a:bodyPr wrap="square">
            <a:spAutoFit/>
          </a:bodyPr>
          <a:lstStyle/>
          <a:p>
            <a:pPr>
              <a:defRPr sz="1250" b="1">
                <a:solidFill>
                  <a:srgbClr val="69559E"/>
                </a:solidFill>
                <a:latin typeface="Aptos"/>
              </a:defRPr>
            </a:pPr>
            <a:r>
              <a:t>Perspective warp</a:t>
            </a:r>
          </a:p>
        </p:txBody>
      </p:sp>
      <p:sp>
        <p:nvSpPr>
          <p:cNvPr id="22" name="Rounded Rectangle 21"/>
          <p:cNvSpPr/>
          <p:nvPr/>
        </p:nvSpPr>
        <p:spPr>
          <a:xfrm>
            <a:off x="7680959" y="217627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784080" y="217627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perspective_warp.png"/>
          <p:cNvPicPr>
            <a:picLocks noChangeAspect="1"/>
          </p:cNvPicPr>
          <p:nvPr/>
        </p:nvPicPr>
        <p:blipFill>
          <a:blip r:embed="rId5"/>
          <a:stretch>
            <a:fillRect/>
          </a:stretch>
        </p:blipFill>
        <p:spPr>
          <a:xfrm>
            <a:off x="8065008" y="2249424"/>
            <a:ext cx="1060704" cy="1060704"/>
          </a:xfrm>
          <a:prstGeom prst="rect">
            <a:avLst/>
          </a:prstGeom>
        </p:spPr>
      </p:pic>
      <p:pic>
        <p:nvPicPr>
          <p:cNvPr id="25" name="Picture 24" descr="perspective_warp_restored.png"/>
          <p:cNvPicPr>
            <a:picLocks noChangeAspect="1"/>
          </p:cNvPicPr>
          <p:nvPr/>
        </p:nvPicPr>
        <p:blipFill>
          <a:blip r:embed="rId6"/>
          <a:stretch>
            <a:fillRect/>
          </a:stretch>
        </p:blipFill>
        <p:spPr>
          <a:xfrm>
            <a:off x="10168128" y="2249424"/>
            <a:ext cx="1060704" cy="1060704"/>
          </a:xfrm>
          <a:prstGeom prst="rect">
            <a:avLst/>
          </a:prstGeom>
        </p:spPr>
      </p:pic>
      <p:sp>
        <p:nvSpPr>
          <p:cNvPr id="26" name="TextBox 25"/>
          <p:cNvSpPr txBox="1"/>
          <p:nvPr/>
        </p:nvSpPr>
        <p:spPr>
          <a:xfrm>
            <a:off x="7909559" y="3438144"/>
            <a:ext cx="1417320" cy="164592"/>
          </a:xfrm>
          <a:prstGeom prst="rect">
            <a:avLst/>
          </a:prstGeom>
          <a:noFill/>
        </p:spPr>
        <p:txBody>
          <a:bodyPr wrap="square">
            <a:spAutoFit/>
          </a:bodyPr>
          <a:lstStyle/>
          <a:p>
            <a:pPr algn="ctr">
              <a:defRPr sz="850" b="0">
                <a:solidFill>
                  <a:srgbClr val="56636B"/>
                </a:solidFill>
                <a:latin typeface="Aptos"/>
              </a:defRPr>
            </a:pPr>
            <a:r>
              <a:t>distorted</a:t>
            </a:r>
          </a:p>
        </p:txBody>
      </p:sp>
      <p:sp>
        <p:nvSpPr>
          <p:cNvPr id="27" name="TextBox 26"/>
          <p:cNvSpPr txBox="1"/>
          <p:nvPr/>
        </p:nvSpPr>
        <p:spPr>
          <a:xfrm>
            <a:off x="10012680" y="3438144"/>
            <a:ext cx="1417320" cy="164592"/>
          </a:xfrm>
          <a:prstGeom prst="rect">
            <a:avLst/>
          </a:prstGeom>
          <a:noFill/>
        </p:spPr>
        <p:txBody>
          <a:bodyPr wrap="square">
            <a:spAutoFit/>
          </a:bodyPr>
          <a:lstStyle/>
          <a:p>
            <a:pPr algn="ctr">
              <a:defRPr sz="850" b="0">
                <a:solidFill>
                  <a:srgbClr val="56636B"/>
                </a:solidFill>
                <a:latin typeface="Aptos"/>
              </a:defRPr>
            </a:pPr>
            <a:r>
              <a:t>restored</a:t>
            </a:r>
          </a:p>
        </p:txBody>
      </p:sp>
      <p:cxnSp>
        <p:nvCxnSpPr>
          <p:cNvPr id="28" name="Connector 27"/>
          <p:cNvCxnSpPr/>
          <p:nvPr/>
        </p:nvCxnSpPr>
        <p:spPr>
          <a:xfrm>
            <a:off x="9537192" y="2834639"/>
            <a:ext cx="201167" cy="0"/>
          </a:xfrm>
          <a:prstGeom prst="line">
            <a:avLst/>
          </a:prstGeom>
          <a:ln w="17780">
            <a:solidFill>
              <a:srgbClr val="69559E"/>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2880360" y="4096512"/>
            <a:ext cx="434340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044952" y="4233672"/>
            <a:ext cx="3977639" cy="219456"/>
          </a:xfrm>
          <a:prstGeom prst="rect">
            <a:avLst/>
          </a:prstGeom>
          <a:noFill/>
        </p:spPr>
        <p:txBody>
          <a:bodyPr wrap="square">
            <a:spAutoFit/>
          </a:bodyPr>
          <a:lstStyle/>
          <a:p>
            <a:pPr>
              <a:defRPr sz="1250" b="1">
                <a:solidFill>
                  <a:srgbClr val="B2483E"/>
                </a:solidFill>
                <a:latin typeface="Aptos"/>
              </a:defRPr>
            </a:pPr>
            <a:r>
              <a:t>Barrel distortion</a:t>
            </a:r>
          </a:p>
        </p:txBody>
      </p:sp>
      <p:sp>
        <p:nvSpPr>
          <p:cNvPr id="31" name="Rounded Rectangle 30"/>
          <p:cNvSpPr/>
          <p:nvPr/>
        </p:nvSpPr>
        <p:spPr>
          <a:xfrm>
            <a:off x="3063240" y="455371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166360" y="455371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barrel_distortion.png"/>
          <p:cNvPicPr>
            <a:picLocks noChangeAspect="1"/>
          </p:cNvPicPr>
          <p:nvPr/>
        </p:nvPicPr>
        <p:blipFill>
          <a:blip r:embed="rId7"/>
          <a:stretch>
            <a:fillRect/>
          </a:stretch>
        </p:blipFill>
        <p:spPr>
          <a:xfrm>
            <a:off x="3447287" y="4626864"/>
            <a:ext cx="1060704" cy="1060704"/>
          </a:xfrm>
          <a:prstGeom prst="rect">
            <a:avLst/>
          </a:prstGeom>
        </p:spPr>
      </p:pic>
      <p:pic>
        <p:nvPicPr>
          <p:cNvPr id="34" name="Picture 33" descr="barrel_distortion_restored.png"/>
          <p:cNvPicPr>
            <a:picLocks noChangeAspect="1"/>
          </p:cNvPicPr>
          <p:nvPr/>
        </p:nvPicPr>
        <p:blipFill>
          <a:blip r:embed="rId8"/>
          <a:stretch>
            <a:fillRect/>
          </a:stretch>
        </p:blipFill>
        <p:spPr>
          <a:xfrm>
            <a:off x="5550407" y="4626864"/>
            <a:ext cx="1060704" cy="1060704"/>
          </a:xfrm>
          <a:prstGeom prst="rect">
            <a:avLst/>
          </a:prstGeom>
        </p:spPr>
      </p:pic>
      <p:sp>
        <p:nvSpPr>
          <p:cNvPr id="35" name="TextBox 34"/>
          <p:cNvSpPr txBox="1"/>
          <p:nvPr/>
        </p:nvSpPr>
        <p:spPr>
          <a:xfrm>
            <a:off x="3291840" y="5815584"/>
            <a:ext cx="1417320" cy="164592"/>
          </a:xfrm>
          <a:prstGeom prst="rect">
            <a:avLst/>
          </a:prstGeom>
          <a:noFill/>
        </p:spPr>
        <p:txBody>
          <a:bodyPr wrap="square">
            <a:spAutoFit/>
          </a:bodyPr>
          <a:lstStyle/>
          <a:p>
            <a:pPr algn="ctr">
              <a:defRPr sz="850" b="0">
                <a:solidFill>
                  <a:srgbClr val="56636B"/>
                </a:solidFill>
                <a:latin typeface="Aptos"/>
              </a:defRPr>
            </a:pPr>
            <a:r>
              <a:t>distorted</a:t>
            </a:r>
          </a:p>
        </p:txBody>
      </p:sp>
      <p:sp>
        <p:nvSpPr>
          <p:cNvPr id="36" name="TextBox 35"/>
          <p:cNvSpPr txBox="1"/>
          <p:nvPr/>
        </p:nvSpPr>
        <p:spPr>
          <a:xfrm>
            <a:off x="5394960" y="5815584"/>
            <a:ext cx="1417320" cy="164592"/>
          </a:xfrm>
          <a:prstGeom prst="rect">
            <a:avLst/>
          </a:prstGeom>
          <a:noFill/>
        </p:spPr>
        <p:txBody>
          <a:bodyPr wrap="square">
            <a:spAutoFit/>
          </a:bodyPr>
          <a:lstStyle/>
          <a:p>
            <a:pPr algn="ctr">
              <a:defRPr sz="850" b="0">
                <a:solidFill>
                  <a:srgbClr val="56636B"/>
                </a:solidFill>
                <a:latin typeface="Aptos"/>
              </a:defRPr>
            </a:pPr>
            <a:r>
              <a:t>restored</a:t>
            </a:r>
          </a:p>
        </p:txBody>
      </p:sp>
      <p:cxnSp>
        <p:nvCxnSpPr>
          <p:cNvPr id="37" name="Connector 36"/>
          <p:cNvCxnSpPr/>
          <p:nvPr/>
        </p:nvCxnSpPr>
        <p:spPr>
          <a:xfrm>
            <a:off x="4919472" y="5212080"/>
            <a:ext cx="201168" cy="0"/>
          </a:xfrm>
          <a:prstGeom prst="line">
            <a:avLst/>
          </a:prstGeom>
          <a:ln w="17780">
            <a:solidFill>
              <a:srgbClr val="B2483E"/>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7498079" y="4096512"/>
            <a:ext cx="434340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62671" y="4233672"/>
            <a:ext cx="3977639" cy="219456"/>
          </a:xfrm>
          <a:prstGeom prst="rect">
            <a:avLst/>
          </a:prstGeom>
          <a:noFill/>
        </p:spPr>
        <p:txBody>
          <a:bodyPr wrap="square">
            <a:spAutoFit/>
          </a:bodyPr>
          <a:lstStyle/>
          <a:p>
            <a:pPr>
              <a:defRPr sz="1250" b="1">
                <a:solidFill>
                  <a:srgbClr val="B88630"/>
                </a:solidFill>
                <a:latin typeface="Aptos"/>
              </a:defRPr>
            </a:pPr>
            <a:r>
              <a:t>Pixelation</a:t>
            </a:r>
          </a:p>
        </p:txBody>
      </p:sp>
      <p:sp>
        <p:nvSpPr>
          <p:cNvPr id="40" name="Rounded Rectangle 39"/>
          <p:cNvSpPr/>
          <p:nvPr/>
        </p:nvSpPr>
        <p:spPr>
          <a:xfrm>
            <a:off x="7680959" y="455371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9784080" y="455371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pixelation.png"/>
          <p:cNvPicPr>
            <a:picLocks noChangeAspect="1"/>
          </p:cNvPicPr>
          <p:nvPr/>
        </p:nvPicPr>
        <p:blipFill>
          <a:blip r:embed="rId9"/>
          <a:stretch>
            <a:fillRect/>
          </a:stretch>
        </p:blipFill>
        <p:spPr>
          <a:xfrm>
            <a:off x="8065008" y="4626864"/>
            <a:ext cx="1060704" cy="1060704"/>
          </a:xfrm>
          <a:prstGeom prst="rect">
            <a:avLst/>
          </a:prstGeom>
        </p:spPr>
      </p:pic>
      <p:pic>
        <p:nvPicPr>
          <p:cNvPr id="43" name="Picture 42" descr="pixelation_restored.png"/>
          <p:cNvPicPr>
            <a:picLocks noChangeAspect="1"/>
          </p:cNvPicPr>
          <p:nvPr/>
        </p:nvPicPr>
        <p:blipFill>
          <a:blip r:embed="rId10"/>
          <a:stretch>
            <a:fillRect/>
          </a:stretch>
        </p:blipFill>
        <p:spPr>
          <a:xfrm>
            <a:off x="10168128" y="4626864"/>
            <a:ext cx="1060704" cy="1060704"/>
          </a:xfrm>
          <a:prstGeom prst="rect">
            <a:avLst/>
          </a:prstGeom>
        </p:spPr>
      </p:pic>
      <p:sp>
        <p:nvSpPr>
          <p:cNvPr id="44" name="TextBox 43"/>
          <p:cNvSpPr txBox="1"/>
          <p:nvPr/>
        </p:nvSpPr>
        <p:spPr>
          <a:xfrm>
            <a:off x="7909559" y="5815584"/>
            <a:ext cx="1417320" cy="164592"/>
          </a:xfrm>
          <a:prstGeom prst="rect">
            <a:avLst/>
          </a:prstGeom>
          <a:noFill/>
        </p:spPr>
        <p:txBody>
          <a:bodyPr wrap="square">
            <a:spAutoFit/>
          </a:bodyPr>
          <a:lstStyle/>
          <a:p>
            <a:pPr algn="ctr">
              <a:defRPr sz="850" b="0">
                <a:solidFill>
                  <a:srgbClr val="56636B"/>
                </a:solidFill>
                <a:latin typeface="Aptos"/>
              </a:defRPr>
            </a:pPr>
            <a:r>
              <a:t>distorted</a:t>
            </a:r>
          </a:p>
        </p:txBody>
      </p:sp>
      <p:sp>
        <p:nvSpPr>
          <p:cNvPr id="45" name="TextBox 44"/>
          <p:cNvSpPr txBox="1"/>
          <p:nvPr/>
        </p:nvSpPr>
        <p:spPr>
          <a:xfrm>
            <a:off x="10012680" y="5815584"/>
            <a:ext cx="1417320" cy="164592"/>
          </a:xfrm>
          <a:prstGeom prst="rect">
            <a:avLst/>
          </a:prstGeom>
          <a:noFill/>
        </p:spPr>
        <p:txBody>
          <a:bodyPr wrap="square">
            <a:spAutoFit/>
          </a:bodyPr>
          <a:lstStyle/>
          <a:p>
            <a:pPr algn="ctr">
              <a:defRPr sz="850" b="0">
                <a:solidFill>
                  <a:srgbClr val="56636B"/>
                </a:solidFill>
                <a:latin typeface="Aptos"/>
              </a:defRPr>
            </a:pPr>
            <a:r>
              <a:t>restored</a:t>
            </a:r>
          </a:p>
        </p:txBody>
      </p:sp>
      <p:cxnSp>
        <p:nvCxnSpPr>
          <p:cNvPr id="46" name="Connector 45"/>
          <p:cNvCxnSpPr/>
          <p:nvPr/>
        </p:nvCxnSpPr>
        <p:spPr>
          <a:xfrm>
            <a:off x="9537192" y="5212080"/>
            <a:ext cx="201167" cy="0"/>
          </a:xfrm>
          <a:prstGeom prst="line">
            <a:avLst/>
          </a:prstGeom>
          <a:ln w="17780">
            <a:solidFill>
              <a:srgbClr val="B8863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1292840" y="6446520"/>
            <a:ext cx="411480" cy="182880"/>
          </a:xfrm>
          <a:prstGeom prst="rect">
            <a:avLst/>
          </a:prstGeom>
          <a:noFill/>
        </p:spPr>
        <p:txBody>
          <a:bodyPr wrap="square">
            <a:spAutoFit/>
          </a:bodyPr>
          <a:lstStyle/>
          <a:p>
            <a:pPr algn="r">
              <a:defRPr sz="800" b="0">
                <a:solidFill>
                  <a:srgbClr val="56636B"/>
                </a:solidFill>
                <a:latin typeface="Aptos"/>
              </a:defRPr>
            </a:pPr>
            <a:r>
              <a:t>07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937760" cy="256032"/>
          </a:xfrm>
          <a:prstGeom prst="rect">
            <a:avLst/>
          </a:prstGeom>
          <a:noFill/>
        </p:spPr>
        <p:txBody>
          <a:bodyPr wrap="square">
            <a:spAutoFit/>
          </a:bodyPr>
          <a:lstStyle/>
          <a:p>
            <a:pPr>
              <a:defRPr sz="900" b="1">
                <a:solidFill>
                  <a:srgbClr val="008074"/>
                </a:solidFill>
                <a:latin typeface="Aptos"/>
              </a:defRPr>
            </a:pPr>
            <a:r>
              <a:t>RESTORATION METHODS</a:t>
            </a:r>
          </a:p>
        </p:txBody>
      </p:sp>
      <p:sp>
        <p:nvSpPr>
          <p:cNvPr id="3" name="TextBox 2"/>
          <p:cNvSpPr txBox="1"/>
          <p:nvPr/>
        </p:nvSpPr>
        <p:spPr>
          <a:xfrm>
            <a:off x="502920" y="640080"/>
            <a:ext cx="8961120" cy="566928"/>
          </a:xfrm>
          <a:prstGeom prst="rect">
            <a:avLst/>
          </a:prstGeom>
          <a:noFill/>
        </p:spPr>
        <p:txBody>
          <a:bodyPr wrap="square">
            <a:spAutoFit/>
          </a:bodyPr>
          <a:lstStyle/>
          <a:p>
            <a:pPr>
              <a:defRPr sz="2400" b="1">
                <a:solidFill>
                  <a:srgbClr val="182228"/>
                </a:solidFill>
                <a:latin typeface="Aptos"/>
              </a:defRPr>
            </a:pPr>
            <a:r>
              <a:t>How the restorations work after distortion.</a:t>
            </a:r>
          </a:p>
        </p:txBody>
      </p:sp>
      <p:sp>
        <p:nvSpPr>
          <p:cNvPr id="4" name="TextBox 3"/>
          <p:cNvSpPr txBox="1"/>
          <p:nvPr/>
        </p:nvSpPr>
        <p:spPr>
          <a:xfrm>
            <a:off x="521207" y="1225296"/>
            <a:ext cx="9875520" cy="292608"/>
          </a:xfrm>
          <a:prstGeom prst="rect">
            <a:avLst/>
          </a:prstGeom>
          <a:noFill/>
        </p:spPr>
        <p:txBody>
          <a:bodyPr wrap="square">
            <a:spAutoFit/>
          </a:bodyPr>
          <a:lstStyle/>
          <a:p>
            <a:pPr>
              <a:defRPr sz="1050" b="0">
                <a:solidFill>
                  <a:srgbClr val="56636B"/>
                </a:solidFill>
                <a:latin typeface="Aptos"/>
              </a:defRPr>
            </a:pPr>
            <a:r>
              <a:t>Each restoration is a simple image-processing step that tries to recover useful MRI structure before measuring the task.</a:t>
            </a:r>
          </a:p>
        </p:txBody>
      </p:sp>
      <p:sp>
        <p:nvSpPr>
          <p:cNvPr id="5" name="TextBox 4"/>
          <p:cNvSpPr txBox="1"/>
          <p:nvPr/>
        </p:nvSpPr>
        <p:spPr>
          <a:xfrm>
            <a:off x="9692640" y="347472"/>
            <a:ext cx="1920240" cy="228600"/>
          </a:xfrm>
          <a:prstGeom prst="rect">
            <a:avLst/>
          </a:prstGeom>
          <a:noFill/>
        </p:spPr>
        <p:txBody>
          <a:bodyPr wrap="square">
            <a:spAutoFit/>
          </a:bodyPr>
          <a:lstStyle/>
          <a:p>
            <a:pPr algn="r">
              <a:defRPr sz="850" b="0">
                <a:solidFill>
                  <a:srgbClr val="56636B"/>
                </a:solidFill>
                <a:latin typeface="Aptos"/>
              </a:defRPr>
            </a:pPr>
            <a:r>
              <a:t>Brain MRI robustness</a:t>
            </a:r>
          </a:p>
        </p:txBody>
      </p:sp>
      <p:sp>
        <p:nvSpPr>
          <p:cNvPr id="6" name="Rounded Rectangle 5"/>
          <p:cNvSpPr/>
          <p:nvPr/>
        </p:nvSpPr>
        <p:spPr>
          <a:xfrm>
            <a:off x="685800" y="1783080"/>
            <a:ext cx="5166360" cy="196596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947672"/>
            <a:ext cx="3108960" cy="256032"/>
          </a:xfrm>
          <a:prstGeom prst="rect">
            <a:avLst/>
          </a:prstGeom>
          <a:noFill/>
        </p:spPr>
        <p:txBody>
          <a:bodyPr wrap="square">
            <a:spAutoFit/>
          </a:bodyPr>
          <a:lstStyle/>
          <a:p>
            <a:pPr>
              <a:defRPr sz="1500" b="1">
                <a:solidFill>
                  <a:srgbClr val="2666AC"/>
                </a:solidFill>
                <a:latin typeface="Aptos"/>
              </a:defRPr>
            </a:pPr>
            <a:r>
              <a:t>Gaussian noise</a:t>
            </a:r>
          </a:p>
        </p:txBody>
      </p:sp>
      <p:sp>
        <p:nvSpPr>
          <p:cNvPr id="8" name="TextBox 7"/>
          <p:cNvSpPr txBox="1"/>
          <p:nvPr/>
        </p:nvSpPr>
        <p:spPr>
          <a:xfrm>
            <a:off x="886968" y="2313432"/>
            <a:ext cx="4617720" cy="502920"/>
          </a:xfrm>
          <a:prstGeom prst="rect">
            <a:avLst/>
          </a:prstGeom>
          <a:noFill/>
        </p:spPr>
        <p:txBody>
          <a:bodyPr wrap="square">
            <a:spAutoFit/>
          </a:bodyPr>
          <a:lstStyle/>
          <a:p>
            <a:pPr>
              <a:defRPr sz="1050" b="0">
                <a:solidFill>
                  <a:srgbClr val="182228"/>
                </a:solidFill>
                <a:latin typeface="Aptos"/>
              </a:defRPr>
            </a:pPr>
            <a:r>
              <a:t>Light Gaussian smoothing reduces random pixel noise, then unsharp masking brings edges back.</a:t>
            </a:r>
          </a:p>
        </p:txBody>
      </p:sp>
      <p:sp>
        <p:nvSpPr>
          <p:cNvPr id="9" name="Rounded Rectangle 8"/>
          <p:cNvSpPr/>
          <p:nvPr/>
        </p:nvSpPr>
        <p:spPr>
          <a:xfrm>
            <a:off x="1005840" y="3026664"/>
            <a:ext cx="1554480" cy="384048"/>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227832" y="3026664"/>
            <a:ext cx="1554480" cy="384048"/>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3118104"/>
            <a:ext cx="1371600" cy="146304"/>
          </a:xfrm>
          <a:prstGeom prst="rect">
            <a:avLst/>
          </a:prstGeom>
          <a:noFill/>
        </p:spPr>
        <p:txBody>
          <a:bodyPr wrap="square">
            <a:spAutoFit/>
          </a:bodyPr>
          <a:lstStyle/>
          <a:p>
            <a:pPr algn="ctr">
              <a:defRPr sz="850" b="1">
                <a:solidFill>
                  <a:srgbClr val="182228"/>
                </a:solidFill>
                <a:latin typeface="Aptos"/>
              </a:defRPr>
            </a:pPr>
            <a:r>
              <a:t>smooth</a:t>
            </a:r>
          </a:p>
        </p:txBody>
      </p:sp>
      <p:sp>
        <p:nvSpPr>
          <p:cNvPr id="12" name="TextBox 11"/>
          <p:cNvSpPr txBox="1"/>
          <p:nvPr/>
        </p:nvSpPr>
        <p:spPr>
          <a:xfrm>
            <a:off x="3319272" y="3118104"/>
            <a:ext cx="1371600" cy="146304"/>
          </a:xfrm>
          <a:prstGeom prst="rect">
            <a:avLst/>
          </a:prstGeom>
          <a:noFill/>
        </p:spPr>
        <p:txBody>
          <a:bodyPr wrap="square">
            <a:spAutoFit/>
          </a:bodyPr>
          <a:lstStyle/>
          <a:p>
            <a:pPr algn="ctr">
              <a:defRPr sz="850" b="1">
                <a:solidFill>
                  <a:srgbClr val="182228"/>
                </a:solidFill>
                <a:latin typeface="Aptos"/>
              </a:defRPr>
            </a:pPr>
            <a:r>
              <a:t>sharpen</a:t>
            </a:r>
          </a:p>
        </p:txBody>
      </p:sp>
      <p:cxnSp>
        <p:nvCxnSpPr>
          <p:cNvPr id="13" name="Connector 12"/>
          <p:cNvCxnSpPr/>
          <p:nvPr/>
        </p:nvCxnSpPr>
        <p:spPr>
          <a:xfrm>
            <a:off x="2606040" y="3218688"/>
            <a:ext cx="548640" cy="0"/>
          </a:xfrm>
          <a:prstGeom prst="line">
            <a:avLst/>
          </a:prstGeom>
          <a:ln w="20320">
            <a:solidFill>
              <a:srgbClr val="2666A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63640" y="1783080"/>
            <a:ext cx="5166360" cy="196596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64807" y="1947672"/>
            <a:ext cx="3108960" cy="256032"/>
          </a:xfrm>
          <a:prstGeom prst="rect">
            <a:avLst/>
          </a:prstGeom>
          <a:noFill/>
        </p:spPr>
        <p:txBody>
          <a:bodyPr wrap="square">
            <a:spAutoFit/>
          </a:bodyPr>
          <a:lstStyle/>
          <a:p>
            <a:pPr>
              <a:defRPr sz="1500" b="1">
                <a:solidFill>
                  <a:srgbClr val="B2483E"/>
                </a:solidFill>
                <a:latin typeface="Aptos"/>
              </a:defRPr>
            </a:pPr>
            <a:r>
              <a:t>Salt-and-pepper</a:t>
            </a:r>
          </a:p>
        </p:txBody>
      </p:sp>
      <p:sp>
        <p:nvSpPr>
          <p:cNvPr id="16" name="TextBox 15"/>
          <p:cNvSpPr txBox="1"/>
          <p:nvPr/>
        </p:nvSpPr>
        <p:spPr>
          <a:xfrm>
            <a:off x="6464807" y="2313432"/>
            <a:ext cx="4617720" cy="502920"/>
          </a:xfrm>
          <a:prstGeom prst="rect">
            <a:avLst/>
          </a:prstGeom>
          <a:noFill/>
        </p:spPr>
        <p:txBody>
          <a:bodyPr wrap="square">
            <a:spAutoFit/>
          </a:bodyPr>
          <a:lstStyle/>
          <a:p>
            <a:pPr>
              <a:defRPr sz="1050" b="0">
                <a:solidFill>
                  <a:srgbClr val="182228"/>
                </a:solidFill>
                <a:latin typeface="Aptos"/>
              </a:defRPr>
            </a:pPr>
            <a:r>
              <a:t>A median filter replaces isolated black/white pixels using nearby values while preserving edges.</a:t>
            </a:r>
          </a:p>
        </p:txBody>
      </p:sp>
      <p:sp>
        <p:nvSpPr>
          <p:cNvPr id="17" name="Rounded Rectangle 16"/>
          <p:cNvSpPr/>
          <p:nvPr/>
        </p:nvSpPr>
        <p:spPr>
          <a:xfrm>
            <a:off x="6583679" y="3026664"/>
            <a:ext cx="1554480" cy="384048"/>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805672" y="3026664"/>
            <a:ext cx="1554480" cy="384048"/>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0" y="3118104"/>
            <a:ext cx="1371600" cy="146304"/>
          </a:xfrm>
          <a:prstGeom prst="rect">
            <a:avLst/>
          </a:prstGeom>
          <a:noFill/>
        </p:spPr>
        <p:txBody>
          <a:bodyPr wrap="square">
            <a:spAutoFit/>
          </a:bodyPr>
          <a:lstStyle/>
          <a:p>
            <a:pPr algn="ctr">
              <a:defRPr sz="850" b="1">
                <a:solidFill>
                  <a:srgbClr val="182228"/>
                </a:solidFill>
                <a:latin typeface="Aptos"/>
              </a:defRPr>
            </a:pPr>
            <a:r>
              <a:t>median</a:t>
            </a:r>
          </a:p>
        </p:txBody>
      </p:sp>
      <p:sp>
        <p:nvSpPr>
          <p:cNvPr id="20" name="TextBox 19"/>
          <p:cNvSpPr txBox="1"/>
          <p:nvPr/>
        </p:nvSpPr>
        <p:spPr>
          <a:xfrm>
            <a:off x="8897112" y="3118104"/>
            <a:ext cx="1371600" cy="146304"/>
          </a:xfrm>
          <a:prstGeom prst="rect">
            <a:avLst/>
          </a:prstGeom>
          <a:noFill/>
        </p:spPr>
        <p:txBody>
          <a:bodyPr wrap="square">
            <a:spAutoFit/>
          </a:bodyPr>
          <a:lstStyle/>
          <a:p>
            <a:pPr algn="ctr">
              <a:defRPr sz="850" b="1">
                <a:solidFill>
                  <a:srgbClr val="182228"/>
                </a:solidFill>
                <a:latin typeface="Aptos"/>
              </a:defRPr>
            </a:pPr>
            <a:r>
              <a:t>remove specks</a:t>
            </a:r>
          </a:p>
        </p:txBody>
      </p:sp>
      <p:cxnSp>
        <p:nvCxnSpPr>
          <p:cNvPr id="21" name="Connector 20"/>
          <p:cNvCxnSpPr/>
          <p:nvPr/>
        </p:nvCxnSpPr>
        <p:spPr>
          <a:xfrm>
            <a:off x="8183879" y="3218688"/>
            <a:ext cx="548641" cy="0"/>
          </a:xfrm>
          <a:prstGeom prst="line">
            <a:avLst/>
          </a:prstGeom>
          <a:ln w="20320">
            <a:solidFill>
              <a:srgbClr val="B2483E"/>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85800" y="4096512"/>
            <a:ext cx="5166360" cy="196596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86968" y="4261104"/>
            <a:ext cx="3108960" cy="256032"/>
          </a:xfrm>
          <a:prstGeom prst="rect">
            <a:avLst/>
          </a:prstGeom>
          <a:noFill/>
        </p:spPr>
        <p:txBody>
          <a:bodyPr wrap="square">
            <a:spAutoFit/>
          </a:bodyPr>
          <a:lstStyle/>
          <a:p>
            <a:pPr>
              <a:defRPr sz="1500" b="1">
                <a:solidFill>
                  <a:srgbClr val="008074"/>
                </a:solidFill>
                <a:latin typeface="Aptos"/>
              </a:defRPr>
            </a:pPr>
            <a:r>
              <a:t>Gaussian blur</a:t>
            </a:r>
          </a:p>
        </p:txBody>
      </p:sp>
      <p:sp>
        <p:nvSpPr>
          <p:cNvPr id="24" name="TextBox 23"/>
          <p:cNvSpPr txBox="1"/>
          <p:nvPr/>
        </p:nvSpPr>
        <p:spPr>
          <a:xfrm>
            <a:off x="886968" y="4626864"/>
            <a:ext cx="4617720" cy="502920"/>
          </a:xfrm>
          <a:prstGeom prst="rect">
            <a:avLst/>
          </a:prstGeom>
          <a:noFill/>
        </p:spPr>
        <p:txBody>
          <a:bodyPr wrap="square">
            <a:spAutoFit/>
          </a:bodyPr>
          <a:lstStyle/>
          <a:p>
            <a:pPr>
              <a:defRPr sz="1050" b="0">
                <a:solidFill>
                  <a:srgbClr val="182228"/>
                </a:solidFill>
                <a:latin typeface="Aptos"/>
              </a:defRPr>
            </a:pPr>
            <a:r>
              <a:t>Unsharp masking boosts local contrast so softened edges become clearer again.</a:t>
            </a:r>
          </a:p>
        </p:txBody>
      </p:sp>
      <p:sp>
        <p:nvSpPr>
          <p:cNvPr id="25" name="Rounded Rectangle 24"/>
          <p:cNvSpPr/>
          <p:nvPr/>
        </p:nvSpPr>
        <p:spPr>
          <a:xfrm>
            <a:off x="1005840" y="5340096"/>
            <a:ext cx="1554480" cy="384048"/>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227832" y="5340096"/>
            <a:ext cx="1554480" cy="384048"/>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97280" y="5431536"/>
            <a:ext cx="1371600" cy="146304"/>
          </a:xfrm>
          <a:prstGeom prst="rect">
            <a:avLst/>
          </a:prstGeom>
          <a:noFill/>
        </p:spPr>
        <p:txBody>
          <a:bodyPr wrap="square">
            <a:spAutoFit/>
          </a:bodyPr>
          <a:lstStyle/>
          <a:p>
            <a:pPr algn="ctr">
              <a:defRPr sz="850" b="1">
                <a:solidFill>
                  <a:srgbClr val="182228"/>
                </a:solidFill>
                <a:latin typeface="Aptos"/>
              </a:defRPr>
            </a:pPr>
            <a:r>
              <a:t>edge boost</a:t>
            </a:r>
          </a:p>
        </p:txBody>
      </p:sp>
      <p:sp>
        <p:nvSpPr>
          <p:cNvPr id="28" name="TextBox 27"/>
          <p:cNvSpPr txBox="1"/>
          <p:nvPr/>
        </p:nvSpPr>
        <p:spPr>
          <a:xfrm>
            <a:off x="3319272" y="5431536"/>
            <a:ext cx="1371600" cy="146304"/>
          </a:xfrm>
          <a:prstGeom prst="rect">
            <a:avLst/>
          </a:prstGeom>
          <a:noFill/>
        </p:spPr>
        <p:txBody>
          <a:bodyPr wrap="square">
            <a:spAutoFit/>
          </a:bodyPr>
          <a:lstStyle/>
          <a:p>
            <a:pPr algn="ctr">
              <a:defRPr sz="850" b="1">
                <a:solidFill>
                  <a:srgbClr val="182228"/>
                </a:solidFill>
                <a:latin typeface="Aptos"/>
              </a:defRPr>
            </a:pPr>
            <a:r>
              <a:t>sharpen</a:t>
            </a:r>
          </a:p>
        </p:txBody>
      </p:sp>
      <p:cxnSp>
        <p:nvCxnSpPr>
          <p:cNvPr id="29" name="Connector 28"/>
          <p:cNvCxnSpPr/>
          <p:nvPr/>
        </p:nvCxnSpPr>
        <p:spPr>
          <a:xfrm>
            <a:off x="2606040" y="5532120"/>
            <a:ext cx="548640" cy="0"/>
          </a:xfrm>
          <a:prstGeom prst="line">
            <a:avLst/>
          </a:prstGeom>
          <a:ln w="20320">
            <a:solidFill>
              <a:srgbClr val="008074"/>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263640" y="4096512"/>
            <a:ext cx="5166360" cy="196596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64807" y="4261104"/>
            <a:ext cx="3108960" cy="256032"/>
          </a:xfrm>
          <a:prstGeom prst="rect">
            <a:avLst/>
          </a:prstGeom>
          <a:noFill/>
        </p:spPr>
        <p:txBody>
          <a:bodyPr wrap="square">
            <a:spAutoFit/>
          </a:bodyPr>
          <a:lstStyle/>
          <a:p>
            <a:pPr>
              <a:defRPr sz="1500" b="1">
                <a:solidFill>
                  <a:srgbClr val="B88630"/>
                </a:solidFill>
                <a:latin typeface="Aptos"/>
              </a:defRPr>
            </a:pPr>
            <a:r>
              <a:t>Brightness / contrast</a:t>
            </a:r>
          </a:p>
        </p:txBody>
      </p:sp>
      <p:sp>
        <p:nvSpPr>
          <p:cNvPr id="32" name="TextBox 31"/>
          <p:cNvSpPr txBox="1"/>
          <p:nvPr/>
        </p:nvSpPr>
        <p:spPr>
          <a:xfrm>
            <a:off x="6464807" y="4626864"/>
            <a:ext cx="4617720" cy="502920"/>
          </a:xfrm>
          <a:prstGeom prst="rect">
            <a:avLst/>
          </a:prstGeom>
          <a:noFill/>
        </p:spPr>
        <p:txBody>
          <a:bodyPr wrap="square">
            <a:spAutoFit/>
          </a:bodyPr>
          <a:lstStyle/>
          <a:p>
            <a:pPr>
              <a:defRPr sz="1050" b="0">
                <a:solidFill>
                  <a:srgbClr val="182228"/>
                </a:solidFill>
                <a:latin typeface="Aptos"/>
              </a:defRPr>
            </a:pPr>
            <a:r>
              <a:t>Autocontrast spreads useful intensities, then contrast normalization brings the image back to a stable range.</a:t>
            </a:r>
          </a:p>
        </p:txBody>
      </p:sp>
      <p:sp>
        <p:nvSpPr>
          <p:cNvPr id="33" name="Rounded Rectangle 32"/>
          <p:cNvSpPr/>
          <p:nvPr/>
        </p:nvSpPr>
        <p:spPr>
          <a:xfrm>
            <a:off x="6583679" y="5340096"/>
            <a:ext cx="1554480" cy="384048"/>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8805672" y="5340096"/>
            <a:ext cx="1554480" cy="384048"/>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75120" y="5431536"/>
            <a:ext cx="1371600" cy="146304"/>
          </a:xfrm>
          <a:prstGeom prst="rect">
            <a:avLst/>
          </a:prstGeom>
          <a:noFill/>
        </p:spPr>
        <p:txBody>
          <a:bodyPr wrap="square">
            <a:spAutoFit/>
          </a:bodyPr>
          <a:lstStyle/>
          <a:p>
            <a:pPr algn="ctr">
              <a:defRPr sz="850" b="1">
                <a:solidFill>
                  <a:srgbClr val="182228"/>
                </a:solidFill>
                <a:latin typeface="Aptos"/>
              </a:defRPr>
            </a:pPr>
            <a:r>
              <a:t>normalize</a:t>
            </a:r>
          </a:p>
        </p:txBody>
      </p:sp>
      <p:sp>
        <p:nvSpPr>
          <p:cNvPr id="36" name="TextBox 35"/>
          <p:cNvSpPr txBox="1"/>
          <p:nvPr/>
        </p:nvSpPr>
        <p:spPr>
          <a:xfrm>
            <a:off x="8897112" y="5431536"/>
            <a:ext cx="1371600" cy="146304"/>
          </a:xfrm>
          <a:prstGeom prst="rect">
            <a:avLst/>
          </a:prstGeom>
          <a:noFill/>
        </p:spPr>
        <p:txBody>
          <a:bodyPr wrap="square">
            <a:spAutoFit/>
          </a:bodyPr>
          <a:lstStyle/>
          <a:p>
            <a:pPr algn="ctr">
              <a:defRPr sz="850" b="1">
                <a:solidFill>
                  <a:srgbClr val="182228"/>
                </a:solidFill>
                <a:latin typeface="Aptos"/>
              </a:defRPr>
            </a:pPr>
            <a:r>
              <a:t>rebalance</a:t>
            </a:r>
          </a:p>
        </p:txBody>
      </p:sp>
      <p:cxnSp>
        <p:nvCxnSpPr>
          <p:cNvPr id="37" name="Connector 36"/>
          <p:cNvCxnSpPr/>
          <p:nvPr/>
        </p:nvCxnSpPr>
        <p:spPr>
          <a:xfrm>
            <a:off x="8183879" y="5532120"/>
            <a:ext cx="548641" cy="0"/>
          </a:xfrm>
          <a:prstGeom prst="line">
            <a:avLst/>
          </a:prstGeom>
          <a:ln w="20320">
            <a:solidFill>
              <a:srgbClr val="B8863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1292840" y="6446520"/>
            <a:ext cx="411480" cy="182880"/>
          </a:xfrm>
          <a:prstGeom prst="rect">
            <a:avLst/>
          </a:prstGeom>
          <a:noFill/>
        </p:spPr>
        <p:txBody>
          <a:bodyPr wrap="square">
            <a:spAutoFit/>
          </a:bodyPr>
          <a:lstStyle/>
          <a:p>
            <a:pPr algn="r">
              <a:defRPr sz="800" b="0">
                <a:solidFill>
                  <a:srgbClr val="56636B"/>
                </a:solidFill>
                <a:latin typeface="Aptos"/>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262C"/>
        </a:solidFill>
        <a:effectLst/>
      </p:bgPr>
    </p:bg>
    <p:spTree>
      <p:nvGrpSpPr>
        <p:cNvPr id="1" name=""/>
        <p:cNvGrpSpPr/>
        <p:nvPr/>
      </p:nvGrpSpPr>
      <p:grpSpPr>
        <a:xfrm>
          <a:off x="0" y="0"/>
          <a:ext cx="0" cy="0"/>
          <a:chOff x="0" y="0"/>
          <a:chExt cx="0" cy="0"/>
        </a:xfrm>
      </p:grpSpPr>
      <p:sp>
        <p:nvSpPr>
          <p:cNvPr id="2" name="TextBox 1"/>
          <p:cNvSpPr txBox="1"/>
          <p:nvPr/>
        </p:nvSpPr>
        <p:spPr>
          <a:xfrm>
            <a:off x="685800" y="685800"/>
            <a:ext cx="2011680" cy="320040"/>
          </a:xfrm>
          <a:prstGeom prst="rect">
            <a:avLst/>
          </a:prstGeom>
          <a:noFill/>
        </p:spPr>
        <p:txBody>
          <a:bodyPr wrap="none" lIns="18288" tIns="9144" rIns="18288" bIns="9144">
            <a:spAutoFit/>
          </a:bodyPr>
          <a:lstStyle/>
          <a:p>
            <a:pPr>
              <a:defRPr sz="1500" b="1">
                <a:solidFill>
                  <a:srgbClr val="2666AC"/>
                </a:solidFill>
                <a:latin typeface="Aptos"/>
              </a:defRPr>
            </a:pPr>
            <a:r>
              <a:t>Task 1</a:t>
            </a:r>
          </a:p>
        </p:txBody>
      </p:sp>
      <p:sp>
        <p:nvSpPr>
          <p:cNvPr id="3" name="TextBox 2"/>
          <p:cNvSpPr txBox="1"/>
          <p:nvPr/>
        </p:nvSpPr>
        <p:spPr>
          <a:xfrm>
            <a:off x="685800" y="1188720"/>
            <a:ext cx="8046720" cy="685800"/>
          </a:xfrm>
          <a:prstGeom prst="rect">
            <a:avLst/>
          </a:prstGeom>
          <a:noFill/>
        </p:spPr>
        <p:txBody>
          <a:bodyPr wrap="none" lIns="18288" tIns="9144" rIns="18288" bIns="9144">
            <a:spAutoFit/>
          </a:bodyPr>
          <a:lstStyle/>
          <a:p>
            <a:pPr>
              <a:defRPr sz="3400" b="1">
                <a:solidFill>
                  <a:srgbClr val="FFFFFF"/>
                </a:solidFill>
                <a:latin typeface="Aptos"/>
              </a:defRPr>
            </a:pPr>
            <a:r>
              <a:t>Super-resolution</a:t>
            </a:r>
          </a:p>
        </p:txBody>
      </p:sp>
      <p:cxnSp>
        <p:nvCxnSpPr>
          <p:cNvPr id="4" name="Connector 3"/>
          <p:cNvCxnSpPr/>
          <p:nvPr/>
        </p:nvCxnSpPr>
        <p:spPr>
          <a:xfrm>
            <a:off x="713232" y="2148840"/>
            <a:ext cx="10259568" cy="0"/>
          </a:xfrm>
          <a:prstGeom prst="line">
            <a:avLst/>
          </a:prstGeom>
          <a:ln w="25400">
            <a:solidFill>
              <a:srgbClr val="2666A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2514600"/>
            <a:ext cx="7863840" cy="548640"/>
          </a:xfrm>
          <a:prstGeom prst="rect">
            <a:avLst/>
          </a:prstGeom>
          <a:noFill/>
        </p:spPr>
        <p:txBody>
          <a:bodyPr wrap="none" lIns="18288" tIns="9144" rIns="18288" bIns="9144">
            <a:spAutoFit/>
          </a:bodyPr>
          <a:lstStyle/>
          <a:p>
            <a:pPr>
              <a:defRPr sz="1700" b="0">
                <a:solidFill>
                  <a:srgbClr val="E0E8E8"/>
                </a:solidFill>
                <a:latin typeface="Aptos"/>
              </a:defRPr>
            </a:pPr>
            <a:r>
              <a:t>Downsample x2, reconstruct, and measure image fidelity with PSNR.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TASK 1 | CLEAN SUPER-RESOLUTION</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Lanczos gives the strongest clean PSNR on the selected MRI image.</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Sharpened_lanczos is used in the SNR/level experiments to compare distorted and restored images.</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08</a:t>
            </a:r>
          </a:p>
        </p:txBody>
      </p:sp>
      <p:sp>
        <p:nvSpPr>
          <p:cNvPr id="7" name="Rounded Rectangle 6"/>
          <p:cNvSpPr/>
          <p:nvPr/>
        </p:nvSpPr>
        <p:spPr>
          <a:xfrm>
            <a:off x="594360" y="1645920"/>
            <a:ext cx="6629400" cy="443484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uper_resolution_grid.png"/>
          <p:cNvPicPr>
            <a:picLocks noChangeAspect="1"/>
          </p:cNvPicPr>
          <p:nvPr/>
        </p:nvPicPr>
        <p:blipFill>
          <a:blip r:embed="rId2"/>
          <a:stretch>
            <a:fillRect/>
          </a:stretch>
        </p:blipFill>
        <p:spPr>
          <a:xfrm>
            <a:off x="1797231" y="1645920"/>
            <a:ext cx="4223657" cy="4434840"/>
          </a:xfrm>
          <a:prstGeom prst="rect">
            <a:avLst/>
          </a:prstGeom>
        </p:spPr>
      </p:pic>
      <p:sp>
        <p:nvSpPr>
          <p:cNvPr id="9" name="Rounded Rectangle 8"/>
          <p:cNvSpPr/>
          <p:nvPr/>
        </p:nvSpPr>
        <p:spPr>
          <a:xfrm>
            <a:off x="7635240" y="1874519"/>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99831" y="1984248"/>
            <a:ext cx="1874519" cy="320040"/>
          </a:xfrm>
          <a:prstGeom prst="rect">
            <a:avLst/>
          </a:prstGeom>
          <a:noFill/>
        </p:spPr>
        <p:txBody>
          <a:bodyPr wrap="none" lIns="18288" tIns="9144" rIns="18288" bIns="9144">
            <a:spAutoFit/>
          </a:bodyPr>
          <a:lstStyle/>
          <a:p>
            <a:pPr>
              <a:defRPr sz="2100" b="1">
                <a:solidFill>
                  <a:srgbClr val="2666AC"/>
                </a:solidFill>
                <a:latin typeface="Aptos"/>
              </a:defRPr>
            </a:pPr>
            <a:r>
              <a:t>29.62</a:t>
            </a:r>
          </a:p>
        </p:txBody>
      </p:sp>
      <p:sp>
        <p:nvSpPr>
          <p:cNvPr id="11" name="TextBox 10"/>
          <p:cNvSpPr txBox="1"/>
          <p:nvPr/>
        </p:nvSpPr>
        <p:spPr>
          <a:xfrm>
            <a:off x="7799831" y="2404872"/>
            <a:ext cx="1901952" cy="228600"/>
          </a:xfrm>
          <a:prstGeom prst="rect">
            <a:avLst/>
          </a:prstGeom>
          <a:noFill/>
        </p:spPr>
        <p:txBody>
          <a:bodyPr wrap="none" lIns="18288" tIns="9144" rIns="18288" bIns="9144">
            <a:spAutoFit/>
          </a:bodyPr>
          <a:lstStyle/>
          <a:p>
            <a:pPr>
              <a:defRPr sz="850" b="0">
                <a:solidFill>
                  <a:srgbClr val="56636B"/>
                </a:solidFill>
                <a:latin typeface="Aptos"/>
              </a:defRPr>
            </a:pPr>
            <a:r>
              <a:t>Best clean PSNR: Lanczos</a:t>
            </a:r>
          </a:p>
        </p:txBody>
      </p:sp>
      <p:sp>
        <p:nvSpPr>
          <p:cNvPr id="12" name="Rounded Rectangle 11"/>
          <p:cNvSpPr/>
          <p:nvPr/>
        </p:nvSpPr>
        <p:spPr>
          <a:xfrm>
            <a:off x="7635240" y="2971800"/>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99831" y="3081528"/>
            <a:ext cx="1874519" cy="320040"/>
          </a:xfrm>
          <a:prstGeom prst="rect">
            <a:avLst/>
          </a:prstGeom>
          <a:noFill/>
        </p:spPr>
        <p:txBody>
          <a:bodyPr wrap="none" lIns="18288" tIns="9144" rIns="18288" bIns="9144">
            <a:spAutoFit/>
          </a:bodyPr>
          <a:lstStyle/>
          <a:p>
            <a:pPr>
              <a:defRPr sz="2100" b="1">
                <a:solidFill>
                  <a:srgbClr val="008074"/>
                </a:solidFill>
                <a:latin typeface="Aptos"/>
              </a:defRPr>
            </a:pPr>
            <a:r>
              <a:t>26.87</a:t>
            </a:r>
          </a:p>
        </p:txBody>
      </p:sp>
      <p:sp>
        <p:nvSpPr>
          <p:cNvPr id="14" name="TextBox 13"/>
          <p:cNvSpPr txBox="1"/>
          <p:nvPr/>
        </p:nvSpPr>
        <p:spPr>
          <a:xfrm>
            <a:off x="7799831" y="3502152"/>
            <a:ext cx="1901952" cy="228600"/>
          </a:xfrm>
          <a:prstGeom prst="rect">
            <a:avLst/>
          </a:prstGeom>
          <a:noFill/>
        </p:spPr>
        <p:txBody>
          <a:bodyPr wrap="none" lIns="18288" tIns="9144" rIns="18288" bIns="9144">
            <a:spAutoFit/>
          </a:bodyPr>
          <a:lstStyle/>
          <a:p>
            <a:pPr>
              <a:defRPr sz="850" b="0">
                <a:solidFill>
                  <a:srgbClr val="56636B"/>
                </a:solidFill>
                <a:latin typeface="Aptos"/>
              </a:defRPr>
            </a:pPr>
            <a:r>
              <a:t>Sharpened_lanczos PSNR</a:t>
            </a:r>
          </a:p>
        </p:txBody>
      </p:sp>
      <p:sp>
        <p:nvSpPr>
          <p:cNvPr id="15" name="Rounded Rectangle 14"/>
          <p:cNvSpPr/>
          <p:nvPr/>
        </p:nvSpPr>
        <p:spPr>
          <a:xfrm>
            <a:off x="7635240" y="4069080"/>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99831" y="4178808"/>
            <a:ext cx="1874519" cy="320040"/>
          </a:xfrm>
          <a:prstGeom prst="rect">
            <a:avLst/>
          </a:prstGeom>
          <a:noFill/>
        </p:spPr>
        <p:txBody>
          <a:bodyPr wrap="none" lIns="18288" tIns="9144" rIns="18288" bIns="9144">
            <a:spAutoFit/>
          </a:bodyPr>
          <a:lstStyle/>
          <a:p>
            <a:pPr>
              <a:defRPr sz="2100" b="1">
                <a:solidFill>
                  <a:srgbClr val="B88630"/>
                </a:solidFill>
                <a:latin typeface="Aptos"/>
              </a:defRPr>
            </a:pPr>
            <a:r>
              <a:t>98.38</a:t>
            </a:r>
          </a:p>
        </p:txBody>
      </p:sp>
      <p:sp>
        <p:nvSpPr>
          <p:cNvPr id="17" name="TextBox 16"/>
          <p:cNvSpPr txBox="1"/>
          <p:nvPr/>
        </p:nvSpPr>
        <p:spPr>
          <a:xfrm>
            <a:off x="7799831" y="4599432"/>
            <a:ext cx="1901952" cy="228600"/>
          </a:xfrm>
          <a:prstGeom prst="rect">
            <a:avLst/>
          </a:prstGeom>
          <a:noFill/>
        </p:spPr>
        <p:txBody>
          <a:bodyPr wrap="none" lIns="18288" tIns="9144" rIns="18288" bIns="9144">
            <a:spAutoFit/>
          </a:bodyPr>
          <a:lstStyle/>
          <a:p>
            <a:pPr>
              <a:defRPr sz="850" b="0">
                <a:solidFill>
                  <a:srgbClr val="56636B"/>
                </a:solidFill>
                <a:latin typeface="Aptos"/>
              </a:defRPr>
            </a:pPr>
            <a:r>
              <a:t>Best reconstruction score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TASK 1 | DISTORTED SUPER-RESOLUTION</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Restored inputs usually recover PSNR before sharpened_lanczos reconstruction.</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rPr dirty="0"/>
              <a:t>Each graph includes a dashed clean baseline.</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09</a:t>
            </a:r>
          </a:p>
        </p:txBody>
      </p:sp>
      <p:sp>
        <p:nvSpPr>
          <p:cNvPr id="7" name="Rounded Rectangle 6"/>
          <p:cNvSpPr/>
          <p:nvPr/>
        </p:nvSpPr>
        <p:spPr>
          <a:xfrm>
            <a:off x="502920" y="1508760"/>
            <a:ext cx="3657600" cy="224028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gaussian_noise_snr_psnr_graph.png"/>
          <p:cNvPicPr>
            <a:picLocks noChangeAspect="1"/>
          </p:cNvPicPr>
          <p:nvPr/>
        </p:nvPicPr>
        <p:blipFill>
          <a:blip r:embed="rId2"/>
          <a:stretch>
            <a:fillRect/>
          </a:stretch>
        </p:blipFill>
        <p:spPr>
          <a:xfrm>
            <a:off x="502920" y="1612900"/>
            <a:ext cx="3657600" cy="2032000"/>
          </a:xfrm>
          <a:prstGeom prst="rect">
            <a:avLst/>
          </a:prstGeom>
        </p:spPr>
      </p:pic>
      <p:sp>
        <p:nvSpPr>
          <p:cNvPr id="9" name="Rounded Rectangle 8"/>
          <p:cNvSpPr/>
          <p:nvPr/>
        </p:nvSpPr>
        <p:spPr>
          <a:xfrm>
            <a:off x="4251960" y="1508760"/>
            <a:ext cx="3657600" cy="224028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alt_and_pepper_density_psnr_graph.png"/>
          <p:cNvPicPr>
            <a:picLocks noChangeAspect="1"/>
          </p:cNvPicPr>
          <p:nvPr/>
        </p:nvPicPr>
        <p:blipFill>
          <a:blip r:embed="rId3"/>
          <a:stretch>
            <a:fillRect/>
          </a:stretch>
        </p:blipFill>
        <p:spPr>
          <a:xfrm>
            <a:off x="4251960" y="1612900"/>
            <a:ext cx="3657600" cy="2032000"/>
          </a:xfrm>
          <a:prstGeom prst="rect">
            <a:avLst/>
          </a:prstGeom>
        </p:spPr>
      </p:pic>
      <p:sp>
        <p:nvSpPr>
          <p:cNvPr id="11" name="Rounded Rectangle 10"/>
          <p:cNvSpPr/>
          <p:nvPr/>
        </p:nvSpPr>
        <p:spPr>
          <a:xfrm>
            <a:off x="8001000" y="1508760"/>
            <a:ext cx="3657600" cy="224028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gaussian_blur_sigma_psnr_graph.png"/>
          <p:cNvPicPr>
            <a:picLocks noChangeAspect="1"/>
          </p:cNvPicPr>
          <p:nvPr/>
        </p:nvPicPr>
        <p:blipFill>
          <a:blip r:embed="rId4"/>
          <a:stretch>
            <a:fillRect/>
          </a:stretch>
        </p:blipFill>
        <p:spPr>
          <a:xfrm>
            <a:off x="8001000" y="1612900"/>
            <a:ext cx="3657600" cy="2032000"/>
          </a:xfrm>
          <a:prstGeom prst="rect">
            <a:avLst/>
          </a:prstGeom>
        </p:spPr>
      </p:pic>
      <p:sp>
        <p:nvSpPr>
          <p:cNvPr id="13" name="TextBox 12"/>
          <p:cNvSpPr txBox="1"/>
          <p:nvPr/>
        </p:nvSpPr>
        <p:spPr>
          <a:xfrm>
            <a:off x="868680" y="4136658"/>
            <a:ext cx="10424160" cy="731520"/>
          </a:xfrm>
          <a:prstGeom prst="rect">
            <a:avLst/>
          </a:prstGeom>
          <a:noFill/>
        </p:spPr>
        <p:txBody>
          <a:bodyPr wrap="square">
            <a:spAutoFit/>
          </a:bodyPr>
          <a:lstStyle/>
          <a:p>
            <a:pPr>
              <a:spcAft>
                <a:spcPts val="800"/>
              </a:spcAft>
              <a:defRPr sz="1400">
                <a:solidFill>
                  <a:srgbClr val="182228"/>
                </a:solidFill>
                <a:latin typeface="Aptos"/>
              </a:defRPr>
            </a:pPr>
            <a:r>
              <a:rPr dirty="0"/>
              <a:t>Main metric: PSNR. Restoration helps most when noise can be reduced without destroying structure. Severe salt-and-pepper is the hardest setting.</a:t>
            </a:r>
          </a:p>
        </p:txBody>
      </p:sp>
      <p:sp>
        <p:nvSpPr>
          <p:cNvPr id="16" name="TextBox 15">
            <a:extLst>
              <a:ext uri="{FF2B5EF4-FFF2-40B4-BE49-F238E27FC236}">
                <a16:creationId xmlns:a16="http://schemas.microsoft.com/office/drawing/2014/main" id="{746CAD84-42C9-FD1E-23CA-55D2AC98F67E}"/>
              </a:ext>
            </a:extLst>
          </p:cNvPr>
          <p:cNvSpPr txBox="1"/>
          <p:nvPr/>
        </p:nvSpPr>
        <p:spPr>
          <a:xfrm>
            <a:off x="521207" y="4827379"/>
            <a:ext cx="11452650" cy="1384995"/>
          </a:xfrm>
          <a:prstGeom prst="rect">
            <a:avLst/>
          </a:prstGeom>
          <a:noFill/>
        </p:spPr>
        <p:txBody>
          <a:bodyPr wrap="square">
            <a:spAutoFit/>
          </a:bodyPr>
          <a:lstStyle/>
          <a:p>
            <a:r>
              <a:rPr lang="en-IL" sz="1400" dirty="0"/>
              <a:t>Disclaimer: Due to the nature of the super resolution task, it makes no sense to compare the final product to the original image because the noise affects each image differently, so in each experiment the final product is compared to the image with the noise/with the restoration.</a:t>
            </a:r>
          </a:p>
          <a:p>
            <a:r>
              <a:rPr lang="en-IL" sz="1400" dirty="0"/>
              <a:t>Following these changes, an interesting phenomenon occurs that due to a certain amount of noise, reducing it by 2 loses less information.</a:t>
            </a:r>
          </a:p>
          <a:p>
            <a:r>
              <a:rPr lang="en-IL" sz="1400" dirty="0"/>
              <a:t>I will give you an example: If I take an image and take extreme noise that turns it white – and then after I divide it by 2 and return it to the original image, I will get a white image, so we got the same image and did not lose information.</a:t>
            </a:r>
          </a:p>
          <a:p>
            <a:r>
              <a:rPr lang="en-IL" sz="1400" dirty="0"/>
              <a:t>I know that this was not the goal of the work, but unfortunately super resolution is the only task that fits the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937760" cy="256032"/>
          </a:xfrm>
          <a:prstGeom prst="rect">
            <a:avLst/>
          </a:prstGeom>
          <a:noFill/>
        </p:spPr>
        <p:txBody>
          <a:bodyPr wrap="square">
            <a:spAutoFit/>
          </a:bodyPr>
          <a:lstStyle/>
          <a:p>
            <a:pPr>
              <a:defRPr sz="900" b="1">
                <a:solidFill>
                  <a:srgbClr val="008074"/>
                </a:solidFill>
                <a:latin typeface="Aptos"/>
              </a:defRPr>
            </a:pPr>
            <a:r>
              <a:t>TASK 1 EXTRA</a:t>
            </a:r>
          </a:p>
        </p:txBody>
      </p:sp>
      <p:sp>
        <p:nvSpPr>
          <p:cNvPr id="3" name="TextBox 2"/>
          <p:cNvSpPr txBox="1"/>
          <p:nvPr/>
        </p:nvSpPr>
        <p:spPr>
          <a:xfrm>
            <a:off x="502920" y="640080"/>
            <a:ext cx="9966960" cy="566928"/>
          </a:xfrm>
          <a:prstGeom prst="rect">
            <a:avLst/>
          </a:prstGeom>
          <a:noFill/>
        </p:spPr>
        <p:txBody>
          <a:bodyPr wrap="square">
            <a:spAutoFit/>
          </a:bodyPr>
          <a:lstStyle/>
          <a:p>
            <a:pPr>
              <a:defRPr sz="2300" b="1">
                <a:solidFill>
                  <a:srgbClr val="182228"/>
                </a:solidFill>
                <a:latin typeface="Aptos"/>
              </a:defRPr>
            </a:pPr>
            <a:r>
              <a:t>Dividing the clean image by more than x2 quickly lowers Lanczos quality.</a:t>
            </a:r>
          </a:p>
        </p:txBody>
      </p:sp>
      <p:sp>
        <p:nvSpPr>
          <p:cNvPr id="4" name="TextBox 3"/>
          <p:cNvSpPr txBox="1"/>
          <p:nvPr/>
        </p:nvSpPr>
        <p:spPr>
          <a:xfrm>
            <a:off x="521207" y="1225296"/>
            <a:ext cx="9875520" cy="292608"/>
          </a:xfrm>
          <a:prstGeom prst="rect">
            <a:avLst/>
          </a:prstGeom>
          <a:noFill/>
        </p:spPr>
        <p:txBody>
          <a:bodyPr wrap="square">
            <a:spAutoFit/>
          </a:bodyPr>
          <a:lstStyle/>
          <a:p>
            <a:pPr>
              <a:defRPr sz="1050" b="0">
                <a:solidFill>
                  <a:srgbClr val="56636B"/>
                </a:solidFill>
                <a:latin typeface="Aptos"/>
              </a:defRPr>
            </a:pPr>
            <a:r>
              <a:t>The clean MRI image was downsampled by stronger factors and reconstructed back to 224x224 using Lanczos.</a:t>
            </a:r>
          </a:p>
        </p:txBody>
      </p:sp>
      <p:sp>
        <p:nvSpPr>
          <p:cNvPr id="5" name="TextBox 4"/>
          <p:cNvSpPr txBox="1"/>
          <p:nvPr/>
        </p:nvSpPr>
        <p:spPr>
          <a:xfrm>
            <a:off x="9692640" y="347472"/>
            <a:ext cx="1920240" cy="228600"/>
          </a:xfrm>
          <a:prstGeom prst="rect">
            <a:avLst/>
          </a:prstGeom>
          <a:noFill/>
        </p:spPr>
        <p:txBody>
          <a:bodyPr wrap="square">
            <a:spAutoFit/>
          </a:bodyPr>
          <a:lstStyle/>
          <a:p>
            <a:pPr algn="r">
              <a:defRPr sz="850" b="0">
                <a:solidFill>
                  <a:srgbClr val="56636B"/>
                </a:solidFill>
                <a:latin typeface="Aptos"/>
              </a:defRPr>
            </a:pPr>
            <a:r>
              <a:t>Brain MRI robustness</a:t>
            </a:r>
          </a:p>
        </p:txBody>
      </p:sp>
      <p:sp>
        <p:nvSpPr>
          <p:cNvPr id="6" name="Rounded Rectangle 5"/>
          <p:cNvSpPr/>
          <p:nvPr/>
        </p:nvSpPr>
        <p:spPr>
          <a:xfrm>
            <a:off x="594360" y="1691640"/>
            <a:ext cx="5715000" cy="438912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anczos_psnr_by_downscale_factor.png"/>
          <p:cNvPicPr>
            <a:picLocks noChangeAspect="1"/>
          </p:cNvPicPr>
          <p:nvPr/>
        </p:nvPicPr>
        <p:blipFill>
          <a:blip r:embed="rId2"/>
          <a:stretch>
            <a:fillRect/>
          </a:stretch>
        </p:blipFill>
        <p:spPr>
          <a:xfrm>
            <a:off x="822960" y="2326132"/>
            <a:ext cx="5257800" cy="3037840"/>
          </a:xfrm>
          <a:prstGeom prst="rect">
            <a:avLst/>
          </a:prstGeom>
        </p:spPr>
      </p:pic>
      <p:sp>
        <p:nvSpPr>
          <p:cNvPr id="8" name="Rounded Rectangle 7"/>
          <p:cNvSpPr/>
          <p:nvPr/>
        </p:nvSpPr>
        <p:spPr>
          <a:xfrm>
            <a:off x="6629400" y="1691640"/>
            <a:ext cx="4892040" cy="233172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lanczos_extra_downscale_grid.png"/>
          <p:cNvPicPr>
            <a:picLocks noChangeAspect="1"/>
          </p:cNvPicPr>
          <p:nvPr/>
        </p:nvPicPr>
        <p:blipFill>
          <a:blip r:embed="rId3"/>
          <a:stretch>
            <a:fillRect/>
          </a:stretch>
        </p:blipFill>
        <p:spPr>
          <a:xfrm>
            <a:off x="7533513" y="1874519"/>
            <a:ext cx="3092958" cy="1874519"/>
          </a:xfrm>
          <a:prstGeom prst="rect">
            <a:avLst/>
          </a:prstGeom>
        </p:spPr>
      </p:pic>
      <p:sp>
        <p:nvSpPr>
          <p:cNvPr id="10" name="Rounded Rectangle 9"/>
          <p:cNvSpPr/>
          <p:nvPr/>
        </p:nvSpPr>
        <p:spPr>
          <a:xfrm>
            <a:off x="6629400" y="4251960"/>
            <a:ext cx="4892040" cy="141732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76288" y="4462272"/>
            <a:ext cx="2011680" cy="228600"/>
          </a:xfrm>
          <a:prstGeom prst="rect">
            <a:avLst/>
          </a:prstGeom>
          <a:noFill/>
        </p:spPr>
        <p:txBody>
          <a:bodyPr wrap="square">
            <a:spAutoFit/>
          </a:bodyPr>
          <a:lstStyle/>
          <a:p>
            <a:pPr>
              <a:defRPr sz="1400" b="1">
                <a:solidFill>
                  <a:srgbClr val="2666AC"/>
                </a:solidFill>
                <a:latin typeface="Aptos"/>
              </a:defRPr>
            </a:pPr>
            <a:r>
              <a:t>What the graph shows</a:t>
            </a:r>
          </a:p>
        </p:txBody>
      </p:sp>
      <p:sp>
        <p:nvSpPr>
          <p:cNvPr id="12" name="TextBox 11"/>
          <p:cNvSpPr txBox="1"/>
          <p:nvPr/>
        </p:nvSpPr>
        <p:spPr>
          <a:xfrm>
            <a:off x="6876288" y="4828032"/>
            <a:ext cx="4160520" cy="475488"/>
          </a:xfrm>
          <a:prstGeom prst="rect">
            <a:avLst/>
          </a:prstGeom>
          <a:noFill/>
        </p:spPr>
        <p:txBody>
          <a:bodyPr wrap="square">
            <a:spAutoFit/>
          </a:bodyPr>
          <a:lstStyle/>
          <a:p>
            <a:pPr>
              <a:defRPr sz="1100" b="0">
                <a:solidFill>
                  <a:srgbClr val="182228"/>
                </a:solidFill>
                <a:latin typeface="Aptos"/>
              </a:defRPr>
            </a:pPr>
            <a:r>
              <a:t>PSNR drops from 29.62 at x2 to 16.72 at x10. Stronger downsampling removes detail that Lanczos cannot fully reconstruct.</a:t>
            </a:r>
          </a:p>
        </p:txBody>
      </p:sp>
      <p:sp>
        <p:nvSpPr>
          <p:cNvPr id="13" name="TextBox 12"/>
          <p:cNvSpPr txBox="1"/>
          <p:nvPr/>
        </p:nvSpPr>
        <p:spPr>
          <a:xfrm>
            <a:off x="6876288" y="5376672"/>
            <a:ext cx="3749039" cy="182880"/>
          </a:xfrm>
          <a:prstGeom prst="rect">
            <a:avLst/>
          </a:prstGeom>
          <a:noFill/>
        </p:spPr>
        <p:txBody>
          <a:bodyPr wrap="square">
            <a:spAutoFit/>
          </a:bodyPr>
          <a:lstStyle/>
          <a:p>
            <a:pPr>
              <a:defRPr sz="950" b="0">
                <a:solidFill>
                  <a:srgbClr val="56636B"/>
                </a:solidFill>
                <a:latin typeface="Aptos"/>
              </a:defRPr>
            </a:pPr>
            <a:r>
              <a:t>Main metric: PSNR, higher is better.</a:t>
            </a:r>
          </a:p>
        </p:txBody>
      </p:sp>
      <p:sp>
        <p:nvSpPr>
          <p:cNvPr id="14" name="TextBox 13"/>
          <p:cNvSpPr txBox="1"/>
          <p:nvPr/>
        </p:nvSpPr>
        <p:spPr>
          <a:xfrm>
            <a:off x="11292840" y="6446520"/>
            <a:ext cx="411480" cy="182880"/>
          </a:xfrm>
          <a:prstGeom prst="rect">
            <a:avLst/>
          </a:prstGeom>
          <a:noFill/>
        </p:spPr>
        <p:txBody>
          <a:bodyPr wrap="square">
            <a:spAutoFit/>
          </a:bodyPr>
          <a:lstStyle/>
          <a:p>
            <a:pPr algn="r">
              <a:defRPr sz="800" b="0">
                <a:solidFill>
                  <a:srgbClr val="56636B"/>
                </a:solidFill>
                <a:latin typeface="Aptos"/>
              </a:defRPr>
            </a:pPr>
            <a:r>
              <a:t>12</a:t>
            </a:r>
          </a:p>
        </p:txBody>
      </p:sp>
      <p:sp>
        <p:nvSpPr>
          <p:cNvPr id="15" name="TextBox 14">
            <a:extLst>
              <a:ext uri="{FF2B5EF4-FFF2-40B4-BE49-F238E27FC236}">
                <a16:creationId xmlns:a16="http://schemas.microsoft.com/office/drawing/2014/main" id="{19A53906-AC5B-0580-F884-9B775C9FA211}"/>
              </a:ext>
            </a:extLst>
          </p:cNvPr>
          <p:cNvSpPr txBox="1"/>
          <p:nvPr/>
        </p:nvSpPr>
        <p:spPr>
          <a:xfrm>
            <a:off x="3951214" y="252460"/>
            <a:ext cx="3260188" cy="369332"/>
          </a:xfrm>
          <a:prstGeom prst="rect">
            <a:avLst/>
          </a:prstGeom>
          <a:noFill/>
        </p:spPr>
        <p:txBody>
          <a:bodyPr wrap="none" rtlCol="0">
            <a:spAutoFit/>
          </a:bodyPr>
          <a:lstStyle/>
          <a:p>
            <a:r>
              <a:rPr lang="en-US" dirty="0"/>
              <a:t>I decided to do some extra work.</a:t>
            </a:r>
            <a:endParaRPr lang="en-IL"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262C"/>
        </a:solidFill>
        <a:effectLst/>
      </p:bgPr>
    </p:bg>
    <p:spTree>
      <p:nvGrpSpPr>
        <p:cNvPr id="1" name=""/>
        <p:cNvGrpSpPr/>
        <p:nvPr/>
      </p:nvGrpSpPr>
      <p:grpSpPr>
        <a:xfrm>
          <a:off x="0" y="0"/>
          <a:ext cx="0" cy="0"/>
          <a:chOff x="0" y="0"/>
          <a:chExt cx="0" cy="0"/>
        </a:xfrm>
      </p:grpSpPr>
      <p:sp>
        <p:nvSpPr>
          <p:cNvPr id="2" name="TextBox 1"/>
          <p:cNvSpPr txBox="1"/>
          <p:nvPr/>
        </p:nvSpPr>
        <p:spPr>
          <a:xfrm>
            <a:off x="685800" y="685800"/>
            <a:ext cx="2011680" cy="320040"/>
          </a:xfrm>
          <a:prstGeom prst="rect">
            <a:avLst/>
          </a:prstGeom>
          <a:noFill/>
        </p:spPr>
        <p:txBody>
          <a:bodyPr wrap="none" lIns="18288" tIns="9144" rIns="18288" bIns="9144">
            <a:spAutoFit/>
          </a:bodyPr>
          <a:lstStyle/>
          <a:p>
            <a:pPr>
              <a:defRPr sz="1500" b="1">
                <a:solidFill>
                  <a:srgbClr val="008074"/>
                </a:solidFill>
                <a:latin typeface="Aptos"/>
              </a:defRPr>
            </a:pPr>
            <a:r>
              <a:t>Task 2</a:t>
            </a:r>
          </a:p>
        </p:txBody>
      </p:sp>
      <p:sp>
        <p:nvSpPr>
          <p:cNvPr id="3" name="TextBox 2"/>
          <p:cNvSpPr txBox="1"/>
          <p:nvPr/>
        </p:nvSpPr>
        <p:spPr>
          <a:xfrm>
            <a:off x="685800" y="1188720"/>
            <a:ext cx="8046720" cy="685800"/>
          </a:xfrm>
          <a:prstGeom prst="rect">
            <a:avLst/>
          </a:prstGeom>
          <a:noFill/>
        </p:spPr>
        <p:txBody>
          <a:bodyPr wrap="none" lIns="18288" tIns="9144" rIns="18288" bIns="9144">
            <a:spAutoFit/>
          </a:bodyPr>
          <a:lstStyle/>
          <a:p>
            <a:pPr>
              <a:defRPr sz="3400" b="1">
                <a:solidFill>
                  <a:srgbClr val="FFFFFF"/>
                </a:solidFill>
                <a:latin typeface="Aptos"/>
              </a:defRPr>
            </a:pPr>
            <a:r>
              <a:t>CNN tumor classification</a:t>
            </a:r>
          </a:p>
        </p:txBody>
      </p:sp>
      <p:cxnSp>
        <p:nvCxnSpPr>
          <p:cNvPr id="4" name="Connector 3"/>
          <p:cNvCxnSpPr/>
          <p:nvPr/>
        </p:nvCxnSpPr>
        <p:spPr>
          <a:xfrm>
            <a:off x="713232" y="2148840"/>
            <a:ext cx="10259568" cy="0"/>
          </a:xfrm>
          <a:prstGeom prst="line">
            <a:avLst/>
          </a:prstGeom>
          <a:ln w="25400">
            <a:solidFill>
              <a:srgbClr val="00807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2514600"/>
            <a:ext cx="7863840" cy="548640"/>
          </a:xfrm>
          <a:prstGeom prst="rect">
            <a:avLst/>
          </a:prstGeom>
          <a:noFill/>
        </p:spPr>
        <p:txBody>
          <a:bodyPr wrap="none" lIns="18288" tIns="9144" rIns="18288" bIns="9144">
            <a:spAutoFit/>
          </a:bodyPr>
          <a:lstStyle/>
          <a:p>
            <a:pPr>
              <a:defRPr sz="1700" b="0">
                <a:solidFill>
                  <a:srgbClr val="E0E8E8"/>
                </a:solidFill>
                <a:latin typeface="Aptos"/>
              </a:defRPr>
            </a:pPr>
            <a:r>
              <a:t>Classify Data 1 images as tumor or no_tumor, then test robustness.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TASK 2 | BASIC CNN</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The basic CNN reaches 78.95% accuracy on clean Data 1 test images.</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The confusion matrix shows actual labels as rows and predicted labels as columns.</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11</a:t>
            </a:r>
          </a:p>
        </p:txBody>
      </p:sp>
      <p:sp>
        <p:nvSpPr>
          <p:cNvPr id="7" name="Rounded Rectangle 6"/>
          <p:cNvSpPr/>
          <p:nvPr/>
        </p:nvSpPr>
        <p:spPr>
          <a:xfrm>
            <a:off x="868680" y="1691640"/>
            <a:ext cx="3840480" cy="329184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onfusion_matrix.png"/>
          <p:cNvPicPr>
            <a:picLocks noChangeAspect="1"/>
          </p:cNvPicPr>
          <p:nvPr/>
        </p:nvPicPr>
        <p:blipFill>
          <a:blip r:embed="rId2"/>
          <a:stretch>
            <a:fillRect/>
          </a:stretch>
        </p:blipFill>
        <p:spPr>
          <a:xfrm>
            <a:off x="868680" y="1801368"/>
            <a:ext cx="3840480" cy="3072384"/>
          </a:xfrm>
          <a:prstGeom prst="rect">
            <a:avLst/>
          </a:prstGeom>
        </p:spPr>
      </p:pic>
      <p:sp>
        <p:nvSpPr>
          <p:cNvPr id="9" name="Rounded Rectangle 8"/>
          <p:cNvSpPr/>
          <p:nvPr/>
        </p:nvSpPr>
        <p:spPr>
          <a:xfrm>
            <a:off x="5577840" y="1691640"/>
            <a:ext cx="5166360" cy="329184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training_history.png"/>
          <p:cNvPicPr>
            <a:picLocks noChangeAspect="1"/>
          </p:cNvPicPr>
          <p:nvPr/>
        </p:nvPicPr>
        <p:blipFill>
          <a:blip r:embed="rId3"/>
          <a:stretch>
            <a:fillRect/>
          </a:stretch>
        </p:blipFill>
        <p:spPr>
          <a:xfrm>
            <a:off x="5577840" y="2304288"/>
            <a:ext cx="5166360" cy="2066544"/>
          </a:xfrm>
          <a:prstGeom prst="rect">
            <a:avLst/>
          </a:prstGeom>
        </p:spPr>
      </p:pic>
      <p:sp>
        <p:nvSpPr>
          <p:cNvPr id="11" name="Rounded Rectangle 10"/>
          <p:cNvSpPr/>
          <p:nvPr/>
        </p:nvSpPr>
        <p:spPr>
          <a:xfrm>
            <a:off x="1005840" y="5394960"/>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70432" y="5504688"/>
            <a:ext cx="1874519" cy="320040"/>
          </a:xfrm>
          <a:prstGeom prst="rect">
            <a:avLst/>
          </a:prstGeom>
          <a:noFill/>
        </p:spPr>
        <p:txBody>
          <a:bodyPr wrap="none" lIns="18288" tIns="9144" rIns="18288" bIns="9144">
            <a:spAutoFit/>
          </a:bodyPr>
          <a:lstStyle/>
          <a:p>
            <a:pPr>
              <a:defRPr sz="2100" b="1">
                <a:solidFill>
                  <a:srgbClr val="2666AC"/>
                </a:solidFill>
                <a:latin typeface="Aptos"/>
              </a:defRPr>
            </a:pPr>
            <a:r>
              <a:t>78.95%</a:t>
            </a:r>
          </a:p>
        </p:txBody>
      </p:sp>
      <p:sp>
        <p:nvSpPr>
          <p:cNvPr id="13" name="TextBox 12"/>
          <p:cNvSpPr txBox="1"/>
          <p:nvPr/>
        </p:nvSpPr>
        <p:spPr>
          <a:xfrm>
            <a:off x="1170432" y="5925312"/>
            <a:ext cx="1901952" cy="228600"/>
          </a:xfrm>
          <a:prstGeom prst="rect">
            <a:avLst/>
          </a:prstGeom>
          <a:noFill/>
        </p:spPr>
        <p:txBody>
          <a:bodyPr wrap="none" lIns="18288" tIns="9144" rIns="18288" bIns="9144">
            <a:spAutoFit/>
          </a:bodyPr>
          <a:lstStyle/>
          <a:p>
            <a:pPr>
              <a:defRPr sz="850" b="0">
                <a:solidFill>
                  <a:srgbClr val="56636B"/>
                </a:solidFill>
                <a:latin typeface="Aptos"/>
              </a:defRPr>
            </a:pPr>
            <a:r>
              <a:t>Basic CNN test accuracy</a:t>
            </a:r>
          </a:p>
        </p:txBody>
      </p:sp>
      <p:sp>
        <p:nvSpPr>
          <p:cNvPr id="14" name="Rounded Rectangle 13"/>
          <p:cNvSpPr/>
          <p:nvPr/>
        </p:nvSpPr>
        <p:spPr>
          <a:xfrm>
            <a:off x="3566160" y="5394960"/>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30752" y="5504688"/>
            <a:ext cx="1874519" cy="320040"/>
          </a:xfrm>
          <a:prstGeom prst="rect">
            <a:avLst/>
          </a:prstGeom>
          <a:noFill/>
        </p:spPr>
        <p:txBody>
          <a:bodyPr wrap="none" lIns="18288" tIns="9144" rIns="18288" bIns="9144">
            <a:spAutoFit/>
          </a:bodyPr>
          <a:lstStyle/>
          <a:p>
            <a:pPr>
              <a:defRPr sz="2100" b="1">
                <a:solidFill>
                  <a:srgbClr val="008074"/>
                </a:solidFill>
                <a:latin typeface="Aptos"/>
              </a:defRPr>
            </a:pPr>
            <a:r>
              <a:t>38</a:t>
            </a:r>
          </a:p>
        </p:txBody>
      </p:sp>
      <p:sp>
        <p:nvSpPr>
          <p:cNvPr id="16" name="TextBox 15"/>
          <p:cNvSpPr txBox="1"/>
          <p:nvPr/>
        </p:nvSpPr>
        <p:spPr>
          <a:xfrm>
            <a:off x="3730752" y="5925312"/>
            <a:ext cx="1901952" cy="228600"/>
          </a:xfrm>
          <a:prstGeom prst="rect">
            <a:avLst/>
          </a:prstGeom>
          <a:noFill/>
        </p:spPr>
        <p:txBody>
          <a:bodyPr wrap="none" lIns="18288" tIns="9144" rIns="18288" bIns="9144">
            <a:spAutoFit/>
          </a:bodyPr>
          <a:lstStyle/>
          <a:p>
            <a:pPr>
              <a:defRPr sz="850" b="0">
                <a:solidFill>
                  <a:srgbClr val="56636B"/>
                </a:solidFill>
                <a:latin typeface="Aptos"/>
              </a:defRPr>
            </a:pPr>
            <a:r>
              <a:t>test images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rPr dirty="0"/>
              <a:t>TASK 2 | AUGMENTATION</a:t>
            </a:r>
          </a:p>
        </p:txBody>
      </p:sp>
      <p:sp>
        <p:nvSpPr>
          <p:cNvPr id="3" name="TextBox 2"/>
          <p:cNvSpPr txBox="1"/>
          <p:nvPr/>
        </p:nvSpPr>
        <p:spPr>
          <a:xfrm>
            <a:off x="502920" y="640080"/>
            <a:ext cx="10745827" cy="387798"/>
          </a:xfrm>
          <a:prstGeom prst="rect">
            <a:avLst/>
          </a:prstGeom>
          <a:noFill/>
        </p:spPr>
        <p:txBody>
          <a:bodyPr wrap="none" lIns="18288" tIns="9144" rIns="18288" bIns="9144">
            <a:spAutoFit/>
          </a:bodyPr>
          <a:lstStyle/>
          <a:p>
            <a:pPr>
              <a:defRPr sz="2400" b="1">
                <a:solidFill>
                  <a:srgbClr val="182228"/>
                </a:solidFill>
                <a:latin typeface="Aptos"/>
              </a:defRPr>
            </a:pPr>
            <a:r>
              <a:rPr lang="en-US" dirty="0"/>
              <a:t>Extra: </a:t>
            </a:r>
            <a:r>
              <a:rPr dirty="0"/>
              <a:t>Rotation augmentation improved the CNN, but only by a small amount.</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Because the dataset is small, augmentation adds examples; changing head position did not create a large gain.</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12</a:t>
            </a:r>
          </a:p>
        </p:txBody>
      </p:sp>
      <p:sp>
        <p:nvSpPr>
          <p:cNvPr id="7" name="Rounded Rectangle 6"/>
          <p:cNvSpPr/>
          <p:nvPr/>
        </p:nvSpPr>
        <p:spPr>
          <a:xfrm>
            <a:off x="731520" y="1691640"/>
            <a:ext cx="3337560" cy="283464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onfusion_matrix.png"/>
          <p:cNvPicPr>
            <a:picLocks noChangeAspect="1"/>
          </p:cNvPicPr>
          <p:nvPr/>
        </p:nvPicPr>
        <p:blipFill>
          <a:blip r:embed="rId2"/>
          <a:stretch>
            <a:fillRect/>
          </a:stretch>
        </p:blipFill>
        <p:spPr>
          <a:xfrm>
            <a:off x="731520" y="1773936"/>
            <a:ext cx="3337560" cy="2670048"/>
          </a:xfrm>
          <a:prstGeom prst="rect">
            <a:avLst/>
          </a:prstGeom>
        </p:spPr>
      </p:pic>
      <p:sp>
        <p:nvSpPr>
          <p:cNvPr id="9" name="Rounded Rectangle 8"/>
          <p:cNvSpPr/>
          <p:nvPr/>
        </p:nvSpPr>
        <p:spPr>
          <a:xfrm>
            <a:off x="4617720" y="1874519"/>
            <a:ext cx="2011680" cy="192024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task2_cnn_original_example.jpg"/>
          <p:cNvPicPr>
            <a:picLocks noChangeAspect="1"/>
          </p:cNvPicPr>
          <p:nvPr/>
        </p:nvPicPr>
        <p:blipFill>
          <a:blip r:embed="rId3"/>
          <a:stretch>
            <a:fillRect/>
          </a:stretch>
        </p:blipFill>
        <p:spPr>
          <a:xfrm>
            <a:off x="4663440" y="1874519"/>
            <a:ext cx="1920240" cy="1920240"/>
          </a:xfrm>
          <a:prstGeom prst="rect">
            <a:avLst/>
          </a:prstGeom>
        </p:spPr>
      </p:pic>
      <p:sp>
        <p:nvSpPr>
          <p:cNvPr id="11" name="Rounded Rectangle 10"/>
          <p:cNvSpPr/>
          <p:nvPr/>
        </p:nvSpPr>
        <p:spPr>
          <a:xfrm>
            <a:off x="6903720" y="1874519"/>
            <a:ext cx="2011680" cy="192024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task2_cnn_augmented_rot20_example.jpg"/>
          <p:cNvPicPr>
            <a:picLocks noChangeAspect="1"/>
          </p:cNvPicPr>
          <p:nvPr/>
        </p:nvPicPr>
        <p:blipFill>
          <a:blip r:embed="rId4"/>
          <a:stretch>
            <a:fillRect/>
          </a:stretch>
        </p:blipFill>
        <p:spPr>
          <a:xfrm>
            <a:off x="6949440" y="1874519"/>
            <a:ext cx="1920240" cy="1920240"/>
          </a:xfrm>
          <a:prstGeom prst="rect">
            <a:avLst/>
          </a:prstGeom>
        </p:spPr>
      </p:pic>
      <p:sp>
        <p:nvSpPr>
          <p:cNvPr id="13" name="Rounded Rectangle 12"/>
          <p:cNvSpPr/>
          <p:nvPr/>
        </p:nvSpPr>
        <p:spPr>
          <a:xfrm>
            <a:off x="9326880" y="1920240"/>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491472" y="2029968"/>
            <a:ext cx="1874519" cy="320040"/>
          </a:xfrm>
          <a:prstGeom prst="rect">
            <a:avLst/>
          </a:prstGeom>
          <a:noFill/>
        </p:spPr>
        <p:txBody>
          <a:bodyPr wrap="none" lIns="18288" tIns="9144" rIns="18288" bIns="9144">
            <a:spAutoFit/>
          </a:bodyPr>
          <a:lstStyle/>
          <a:p>
            <a:pPr>
              <a:defRPr sz="2100" b="1">
                <a:solidFill>
                  <a:srgbClr val="008074"/>
                </a:solidFill>
                <a:latin typeface="Aptos"/>
              </a:defRPr>
            </a:pPr>
            <a:r>
              <a:t>81.58%</a:t>
            </a:r>
          </a:p>
        </p:txBody>
      </p:sp>
      <p:sp>
        <p:nvSpPr>
          <p:cNvPr id="15" name="TextBox 14"/>
          <p:cNvSpPr txBox="1"/>
          <p:nvPr/>
        </p:nvSpPr>
        <p:spPr>
          <a:xfrm>
            <a:off x="9491472" y="2450592"/>
            <a:ext cx="1901952" cy="228600"/>
          </a:xfrm>
          <a:prstGeom prst="rect">
            <a:avLst/>
          </a:prstGeom>
          <a:noFill/>
        </p:spPr>
        <p:txBody>
          <a:bodyPr wrap="none" lIns="18288" tIns="9144" rIns="18288" bIns="9144">
            <a:spAutoFit/>
          </a:bodyPr>
          <a:lstStyle/>
          <a:p>
            <a:pPr>
              <a:defRPr sz="850" b="0">
                <a:solidFill>
                  <a:srgbClr val="56636B"/>
                </a:solidFill>
                <a:latin typeface="Aptos"/>
              </a:defRPr>
            </a:pPr>
            <a:r>
              <a:t>Augmented CNN accuracy</a:t>
            </a:r>
          </a:p>
        </p:txBody>
      </p:sp>
      <p:sp>
        <p:nvSpPr>
          <p:cNvPr id="16" name="Rounded Rectangle 15"/>
          <p:cNvSpPr/>
          <p:nvPr/>
        </p:nvSpPr>
        <p:spPr>
          <a:xfrm>
            <a:off x="9326880" y="3063240"/>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491472" y="3172968"/>
            <a:ext cx="1874519" cy="320040"/>
          </a:xfrm>
          <a:prstGeom prst="rect">
            <a:avLst/>
          </a:prstGeom>
          <a:noFill/>
        </p:spPr>
        <p:txBody>
          <a:bodyPr wrap="none" lIns="18288" tIns="9144" rIns="18288" bIns="9144">
            <a:spAutoFit/>
          </a:bodyPr>
          <a:lstStyle/>
          <a:p>
            <a:pPr>
              <a:defRPr sz="2100" b="1">
                <a:solidFill>
                  <a:srgbClr val="B88630"/>
                </a:solidFill>
                <a:latin typeface="Aptos"/>
              </a:defRPr>
            </a:pPr>
            <a:r>
              <a:t>+2.63 pp</a:t>
            </a:r>
          </a:p>
        </p:txBody>
      </p:sp>
      <p:sp>
        <p:nvSpPr>
          <p:cNvPr id="18" name="TextBox 17"/>
          <p:cNvSpPr txBox="1"/>
          <p:nvPr/>
        </p:nvSpPr>
        <p:spPr>
          <a:xfrm>
            <a:off x="9491472" y="3593592"/>
            <a:ext cx="1901952" cy="228600"/>
          </a:xfrm>
          <a:prstGeom prst="rect">
            <a:avLst/>
          </a:prstGeom>
          <a:noFill/>
        </p:spPr>
        <p:txBody>
          <a:bodyPr wrap="none" lIns="18288" tIns="9144" rIns="18288" bIns="9144">
            <a:spAutoFit/>
          </a:bodyPr>
          <a:lstStyle/>
          <a:p>
            <a:pPr>
              <a:defRPr sz="850" b="0">
                <a:solidFill>
                  <a:srgbClr val="56636B"/>
                </a:solidFill>
                <a:latin typeface="Aptos"/>
              </a:defRPr>
            </a:pPr>
            <a:r>
              <a:t>gain over basic CNN</a:t>
            </a:r>
          </a:p>
        </p:txBody>
      </p:sp>
      <p:sp>
        <p:nvSpPr>
          <p:cNvPr id="19" name="TextBox 18"/>
          <p:cNvSpPr txBox="1"/>
          <p:nvPr/>
        </p:nvSpPr>
        <p:spPr>
          <a:xfrm>
            <a:off x="4892040" y="4160520"/>
            <a:ext cx="1463040" cy="228600"/>
          </a:xfrm>
          <a:prstGeom prst="rect">
            <a:avLst/>
          </a:prstGeom>
          <a:noFill/>
        </p:spPr>
        <p:txBody>
          <a:bodyPr wrap="none" lIns="18288" tIns="9144" rIns="18288" bIns="9144">
            <a:spAutoFit/>
          </a:bodyPr>
          <a:lstStyle/>
          <a:p>
            <a:pPr algn="ctr">
              <a:defRPr sz="1200" b="1">
                <a:solidFill>
                  <a:srgbClr val="182228"/>
                </a:solidFill>
                <a:latin typeface="Aptos"/>
              </a:defRPr>
            </a:pPr>
            <a:r>
              <a:t>Original</a:t>
            </a:r>
          </a:p>
        </p:txBody>
      </p:sp>
      <p:sp>
        <p:nvSpPr>
          <p:cNvPr id="20" name="TextBox 19"/>
          <p:cNvSpPr txBox="1"/>
          <p:nvPr/>
        </p:nvSpPr>
        <p:spPr>
          <a:xfrm>
            <a:off x="7132320" y="4160520"/>
            <a:ext cx="1645920" cy="228600"/>
          </a:xfrm>
          <a:prstGeom prst="rect">
            <a:avLst/>
          </a:prstGeom>
          <a:noFill/>
        </p:spPr>
        <p:txBody>
          <a:bodyPr wrap="none" lIns="18288" tIns="9144" rIns="18288" bIns="9144">
            <a:spAutoFit/>
          </a:bodyPr>
          <a:lstStyle/>
          <a:p>
            <a:pPr algn="ctr">
              <a:defRPr sz="1200" b="1">
                <a:solidFill>
                  <a:srgbClr val="182228"/>
                </a:solidFill>
                <a:latin typeface="Aptos"/>
              </a:defRPr>
            </a:pPr>
            <a:r>
              <a:t>Augmented</a:t>
            </a:r>
          </a:p>
        </p:txBody>
      </p:sp>
      <p:sp>
        <p:nvSpPr>
          <p:cNvPr id="22" name="TextBox 21">
            <a:extLst>
              <a:ext uri="{FF2B5EF4-FFF2-40B4-BE49-F238E27FC236}">
                <a16:creationId xmlns:a16="http://schemas.microsoft.com/office/drawing/2014/main" id="{E30C2D00-1276-F0B3-F742-0547190A8D8D}"/>
              </a:ext>
            </a:extLst>
          </p:cNvPr>
          <p:cNvSpPr txBox="1"/>
          <p:nvPr/>
        </p:nvSpPr>
        <p:spPr>
          <a:xfrm>
            <a:off x="3951214" y="252460"/>
            <a:ext cx="3260188" cy="369332"/>
          </a:xfrm>
          <a:prstGeom prst="rect">
            <a:avLst/>
          </a:prstGeom>
          <a:noFill/>
        </p:spPr>
        <p:txBody>
          <a:bodyPr wrap="none" rtlCol="0">
            <a:spAutoFit/>
          </a:bodyPr>
          <a:lstStyle/>
          <a:p>
            <a:r>
              <a:rPr lang="en-US" dirty="0"/>
              <a:t>I decided to do some extra work.</a:t>
            </a:r>
            <a:endParaRPr lang="en-IL" dirty="0"/>
          </a:p>
        </p:txBody>
      </p:sp>
      <p:sp>
        <p:nvSpPr>
          <p:cNvPr id="24" name="TextBox 23">
            <a:extLst>
              <a:ext uri="{FF2B5EF4-FFF2-40B4-BE49-F238E27FC236}">
                <a16:creationId xmlns:a16="http://schemas.microsoft.com/office/drawing/2014/main" id="{3C6E6C9E-7DF5-805C-B0A5-7DE4D6D113EB}"/>
              </a:ext>
            </a:extLst>
          </p:cNvPr>
          <p:cNvSpPr txBox="1"/>
          <p:nvPr/>
        </p:nvSpPr>
        <p:spPr>
          <a:xfrm>
            <a:off x="2283903" y="4974401"/>
            <a:ext cx="6094602" cy="923330"/>
          </a:xfrm>
          <a:prstGeom prst="rect">
            <a:avLst/>
          </a:prstGeom>
          <a:noFill/>
        </p:spPr>
        <p:txBody>
          <a:bodyPr wrap="square">
            <a:spAutoFit/>
          </a:bodyPr>
          <a:lstStyle/>
          <a:p>
            <a:r>
              <a:rPr lang="en-US" dirty="0"/>
              <a:t>I wanted to improve the results, because the data was small, I thought about using Augmentation, unfortunately it didn't help much with the results.</a:t>
            </a:r>
            <a:endParaRPr lang="en-IL"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4B9035-3739-33FA-870D-676BED4BEF1E}"/>
              </a:ext>
            </a:extLst>
          </p:cNvPr>
          <p:cNvSpPr>
            <a:spLocks noGrp="1"/>
          </p:cNvSpPr>
          <p:nvPr>
            <p:ph type="ctrTitle"/>
          </p:nvPr>
        </p:nvSpPr>
        <p:spPr>
          <a:xfrm>
            <a:off x="556532" y="643467"/>
            <a:ext cx="11210925" cy="744836"/>
          </a:xfrm>
        </p:spPr>
        <p:txBody>
          <a:bodyPr vert="horz" lIns="91440" tIns="45720" rIns="91440" bIns="45720" rtlCol="0" anchor="ctr">
            <a:normAutofit/>
          </a:bodyPr>
          <a:lstStyle/>
          <a:p>
            <a:pPr defTabSz="914400">
              <a:lnSpc>
                <a:spcPct val="90000"/>
              </a:lnSpc>
            </a:pPr>
            <a:r>
              <a:rPr lang="en-US" sz="3200" kern="1200" dirty="0" err="1">
                <a:solidFill>
                  <a:schemeClr val="bg1"/>
                </a:solidFill>
                <a:latin typeface="+mj-lt"/>
                <a:ea typeface="+mj-ea"/>
                <a:cs typeface="+mj-cs"/>
              </a:rPr>
              <a:t>Cnn</a:t>
            </a:r>
            <a:r>
              <a:rPr lang="en-US" sz="3200" kern="1200" dirty="0">
                <a:solidFill>
                  <a:schemeClr val="bg1"/>
                </a:solidFill>
                <a:latin typeface="+mj-lt"/>
                <a:ea typeface="+mj-ea"/>
                <a:cs typeface="+mj-cs"/>
              </a:rPr>
              <a:t> on different distortions with</a:t>
            </a:r>
            <a:r>
              <a:rPr lang="he-IL" sz="3200" kern="1200" dirty="0">
                <a:solidFill>
                  <a:schemeClr val="bg1"/>
                </a:solidFill>
                <a:latin typeface="+mj-lt"/>
                <a:ea typeface="+mj-ea"/>
                <a:cs typeface="+mj-cs"/>
              </a:rPr>
              <a:t> </a:t>
            </a:r>
            <a:r>
              <a:rPr lang="en-US" sz="3200" kern="1200" dirty="0" err="1">
                <a:solidFill>
                  <a:schemeClr val="bg1"/>
                </a:solidFill>
                <a:latin typeface="+mj-lt"/>
                <a:ea typeface="+mj-ea"/>
                <a:cs typeface="+mj-cs"/>
              </a:rPr>
              <a:t>restor</a:t>
            </a:r>
            <a:r>
              <a:rPr lang="en-US" sz="3200" kern="1200" dirty="0">
                <a:solidFill>
                  <a:schemeClr val="bg1"/>
                </a:solidFill>
                <a:latin typeface="+mj-lt"/>
                <a:ea typeface="+mj-ea"/>
                <a:cs typeface="+mj-cs"/>
              </a:rPr>
              <a:t> ,</a:t>
            </a:r>
            <a:r>
              <a:rPr lang="en-US" sz="3200" dirty="0">
                <a:solidFill>
                  <a:schemeClr val="bg1"/>
                </a:solidFill>
              </a:rPr>
              <a:t>without</a:t>
            </a:r>
            <a:r>
              <a:rPr lang="en-US" sz="3200" kern="1200" dirty="0">
                <a:solidFill>
                  <a:schemeClr val="bg1"/>
                </a:solidFill>
                <a:latin typeface="+mj-lt"/>
                <a:ea typeface="+mj-ea"/>
                <a:cs typeface="+mj-cs"/>
              </a:rPr>
              <a:t> fine tuning</a:t>
            </a:r>
          </a:p>
        </p:txBody>
      </p:sp>
      <p:pic>
        <p:nvPicPr>
          <p:cNvPr id="7" name="Picture 6" descr="total_true_percent_graph.png">
            <a:extLst>
              <a:ext uri="{FF2B5EF4-FFF2-40B4-BE49-F238E27FC236}">
                <a16:creationId xmlns:a16="http://schemas.microsoft.com/office/drawing/2014/main" id="{2444DAF3-E0B3-3E33-18AC-A7934B8CAF2F}"/>
              </a:ext>
            </a:extLst>
          </p:cNvPr>
          <p:cNvPicPr>
            <a:picLocks noChangeAspect="1"/>
          </p:cNvPicPr>
          <p:nvPr/>
        </p:nvPicPr>
        <p:blipFill>
          <a:blip r:embed="rId2"/>
          <a:stretch>
            <a:fillRect/>
          </a:stretch>
        </p:blipFill>
        <p:spPr>
          <a:xfrm>
            <a:off x="833485" y="1675227"/>
            <a:ext cx="10525029" cy="4394199"/>
          </a:xfrm>
          <a:prstGeom prst="rect">
            <a:avLst/>
          </a:prstGeom>
        </p:spPr>
      </p:pic>
    </p:spTree>
    <p:extLst>
      <p:ext uri="{BB962C8B-B14F-4D97-AF65-F5344CB8AC3E}">
        <p14:creationId xmlns:p14="http://schemas.microsoft.com/office/powerpoint/2010/main" val="484880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TASK 2 | RESTORATION AND FINE-TUNING</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Fine-tuning and restoration are compared against the same clean CNN baseline.</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Total true percent summarizes how many tumor/no-tumor predictions are correct.</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13</a:t>
            </a:r>
          </a:p>
        </p:txBody>
      </p:sp>
      <p:sp>
        <p:nvSpPr>
          <p:cNvPr id="11" name="TextBox 10"/>
          <p:cNvSpPr txBox="1"/>
          <p:nvPr/>
        </p:nvSpPr>
        <p:spPr>
          <a:xfrm>
            <a:off x="822960" y="5486400"/>
            <a:ext cx="10515600" cy="457200"/>
          </a:xfrm>
          <a:prstGeom prst="rect">
            <a:avLst/>
          </a:prstGeom>
          <a:noFill/>
        </p:spPr>
        <p:txBody>
          <a:bodyPr wrap="square">
            <a:spAutoFit/>
          </a:bodyPr>
          <a:lstStyle/>
          <a:p>
            <a:pPr>
              <a:spcAft>
                <a:spcPts val="800"/>
              </a:spcAft>
              <a:defRPr sz="1300">
                <a:solidFill>
                  <a:srgbClr val="182228"/>
                </a:solidFill>
                <a:latin typeface="Aptos"/>
              </a:defRPr>
            </a:pPr>
            <a:r>
              <a:t>Salt-and-pepper noise is the clearest CNN failure mode. Restoration recovers some cases; fine-tuning is the stronger model-level improvement.</a:t>
            </a:r>
          </a:p>
        </p:txBody>
      </p:sp>
      <p:pic>
        <p:nvPicPr>
          <p:cNvPr id="13" name="Picture 12" descr="cnn_compare_distortion_restoration_fine_tune_total_true_percent_graph.png">
            <a:extLst>
              <a:ext uri="{FF2B5EF4-FFF2-40B4-BE49-F238E27FC236}">
                <a16:creationId xmlns:a16="http://schemas.microsoft.com/office/drawing/2014/main" id="{6F80A51B-92A1-8241-610F-B2985B1F9CE1}"/>
              </a:ext>
            </a:extLst>
          </p:cNvPr>
          <p:cNvPicPr>
            <a:picLocks noChangeAspect="1"/>
          </p:cNvPicPr>
          <p:nvPr/>
        </p:nvPicPr>
        <p:blipFill>
          <a:blip r:embed="rId2"/>
          <a:stretch>
            <a:fillRect/>
          </a:stretch>
        </p:blipFill>
        <p:spPr>
          <a:xfrm>
            <a:off x="1500930" y="1612080"/>
            <a:ext cx="7800003" cy="360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TASK 2 | CNN SNR AND LEVEL ANALYSIS</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Separate distortion-level graphs show where classification begins to break.</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The dashed line is the basic CNN on clean, non-distorted images.</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14</a:t>
            </a:r>
          </a:p>
        </p:txBody>
      </p:sp>
      <p:sp>
        <p:nvSpPr>
          <p:cNvPr id="7" name="Rounded Rectangle 6"/>
          <p:cNvSpPr/>
          <p:nvPr/>
        </p:nvSpPr>
        <p:spPr>
          <a:xfrm>
            <a:off x="502920" y="1508760"/>
            <a:ext cx="3657600" cy="233172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nn_compare_snr_distortion_restoration_fine_tune_total_true_percent_graph.png"/>
          <p:cNvPicPr>
            <a:picLocks noChangeAspect="1"/>
          </p:cNvPicPr>
          <p:nvPr/>
        </p:nvPicPr>
        <p:blipFill>
          <a:blip r:embed="rId2"/>
          <a:stretch>
            <a:fillRect/>
          </a:stretch>
        </p:blipFill>
        <p:spPr>
          <a:xfrm>
            <a:off x="502920" y="1658619"/>
            <a:ext cx="3657600" cy="2032000"/>
          </a:xfrm>
          <a:prstGeom prst="rect">
            <a:avLst/>
          </a:prstGeom>
        </p:spPr>
      </p:pic>
      <p:sp>
        <p:nvSpPr>
          <p:cNvPr id="9" name="Rounded Rectangle 8"/>
          <p:cNvSpPr/>
          <p:nvPr/>
        </p:nvSpPr>
        <p:spPr>
          <a:xfrm>
            <a:off x="4251960" y="1508760"/>
            <a:ext cx="3657600" cy="233172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cnn_compare_salt_and_pepper_distortion_restoration_fine_tune_total_true_percent_graph.png"/>
          <p:cNvPicPr>
            <a:picLocks noChangeAspect="1"/>
          </p:cNvPicPr>
          <p:nvPr/>
        </p:nvPicPr>
        <p:blipFill>
          <a:blip r:embed="rId3"/>
          <a:stretch>
            <a:fillRect/>
          </a:stretch>
        </p:blipFill>
        <p:spPr>
          <a:xfrm>
            <a:off x="4251960" y="1658619"/>
            <a:ext cx="3657600" cy="2032000"/>
          </a:xfrm>
          <a:prstGeom prst="rect">
            <a:avLst/>
          </a:prstGeom>
        </p:spPr>
      </p:pic>
      <p:sp>
        <p:nvSpPr>
          <p:cNvPr id="11" name="Rounded Rectangle 10"/>
          <p:cNvSpPr/>
          <p:nvPr/>
        </p:nvSpPr>
        <p:spPr>
          <a:xfrm>
            <a:off x="8001000" y="1508760"/>
            <a:ext cx="3657600" cy="233172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cnn_compare_gaussian_blur_distortion_restoration_fine_tune_total_true_percent_graph.png"/>
          <p:cNvPicPr>
            <a:picLocks noChangeAspect="1"/>
          </p:cNvPicPr>
          <p:nvPr/>
        </p:nvPicPr>
        <p:blipFill>
          <a:blip r:embed="rId4"/>
          <a:stretch>
            <a:fillRect/>
          </a:stretch>
        </p:blipFill>
        <p:spPr>
          <a:xfrm>
            <a:off x="8001000" y="1658619"/>
            <a:ext cx="3657600" cy="2032000"/>
          </a:xfrm>
          <a:prstGeom prst="rect">
            <a:avLst/>
          </a:prstGeom>
        </p:spPr>
      </p:pic>
      <p:sp>
        <p:nvSpPr>
          <p:cNvPr id="13" name="TextBox 12"/>
          <p:cNvSpPr txBox="1"/>
          <p:nvPr/>
        </p:nvSpPr>
        <p:spPr>
          <a:xfrm>
            <a:off x="914400" y="4434840"/>
            <a:ext cx="10058400" cy="457200"/>
          </a:xfrm>
          <a:prstGeom prst="rect">
            <a:avLst/>
          </a:prstGeom>
          <a:noFill/>
        </p:spPr>
        <p:txBody>
          <a:bodyPr wrap="square">
            <a:spAutoFit/>
          </a:bodyPr>
          <a:lstStyle/>
          <a:p>
            <a:pPr>
              <a:spcAft>
                <a:spcPts val="800"/>
              </a:spcAft>
              <a:defRPr sz="1300">
                <a:solidFill>
                  <a:srgbClr val="182228"/>
                </a:solidFill>
                <a:latin typeface="Aptos"/>
              </a:defRPr>
            </a:pPr>
            <a:r>
              <a:t>Reading the graphs together separates distortion strength from model strategy: basic, restored, and fine-tuned.</a:t>
            </a:r>
          </a:p>
        </p:txBody>
      </p:sp>
      <p:sp>
        <p:nvSpPr>
          <p:cNvPr id="15" name="TextBox 14">
            <a:extLst>
              <a:ext uri="{FF2B5EF4-FFF2-40B4-BE49-F238E27FC236}">
                <a16:creationId xmlns:a16="http://schemas.microsoft.com/office/drawing/2014/main" id="{52532892-14F8-12CF-BE42-EC86E4AC7916}"/>
              </a:ext>
            </a:extLst>
          </p:cNvPr>
          <p:cNvSpPr txBox="1"/>
          <p:nvPr/>
        </p:nvSpPr>
        <p:spPr>
          <a:xfrm>
            <a:off x="2027619" y="5005183"/>
            <a:ext cx="6094602" cy="369332"/>
          </a:xfrm>
          <a:prstGeom prst="rect">
            <a:avLst/>
          </a:prstGeom>
          <a:noFill/>
        </p:spPr>
        <p:txBody>
          <a:bodyPr wrap="square">
            <a:spAutoFit/>
          </a:bodyPr>
          <a:lstStyle/>
          <a:p>
            <a:r>
              <a:rPr lang="en-IL" dirty="0"/>
              <a:t>Each fine tuning was performed on a different SNR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B262C"/>
        </a:solidFill>
        <a:effectLst/>
      </p:bgPr>
    </p:bg>
    <p:spTree>
      <p:nvGrpSpPr>
        <p:cNvPr id="1" name=""/>
        <p:cNvGrpSpPr/>
        <p:nvPr/>
      </p:nvGrpSpPr>
      <p:grpSpPr>
        <a:xfrm>
          <a:off x="0" y="0"/>
          <a:ext cx="0" cy="0"/>
          <a:chOff x="0" y="0"/>
          <a:chExt cx="0" cy="0"/>
        </a:xfrm>
      </p:grpSpPr>
      <p:sp>
        <p:nvSpPr>
          <p:cNvPr id="2" name="TextBox 1"/>
          <p:cNvSpPr txBox="1"/>
          <p:nvPr/>
        </p:nvSpPr>
        <p:spPr>
          <a:xfrm>
            <a:off x="685800" y="685800"/>
            <a:ext cx="2011680" cy="320040"/>
          </a:xfrm>
          <a:prstGeom prst="rect">
            <a:avLst/>
          </a:prstGeom>
          <a:noFill/>
        </p:spPr>
        <p:txBody>
          <a:bodyPr wrap="none" lIns="18288" tIns="9144" rIns="18288" bIns="9144">
            <a:spAutoFit/>
          </a:bodyPr>
          <a:lstStyle/>
          <a:p>
            <a:pPr>
              <a:defRPr sz="1500" b="1">
                <a:solidFill>
                  <a:srgbClr val="B2483E"/>
                </a:solidFill>
                <a:latin typeface="Aptos"/>
              </a:defRPr>
            </a:pPr>
            <a:r>
              <a:t>Task 3</a:t>
            </a:r>
          </a:p>
        </p:txBody>
      </p:sp>
      <p:sp>
        <p:nvSpPr>
          <p:cNvPr id="3" name="TextBox 2"/>
          <p:cNvSpPr txBox="1"/>
          <p:nvPr/>
        </p:nvSpPr>
        <p:spPr>
          <a:xfrm>
            <a:off x="685800" y="1188720"/>
            <a:ext cx="8046720" cy="685800"/>
          </a:xfrm>
          <a:prstGeom prst="rect">
            <a:avLst/>
          </a:prstGeom>
          <a:noFill/>
        </p:spPr>
        <p:txBody>
          <a:bodyPr wrap="none" lIns="18288" tIns="9144" rIns="18288" bIns="9144">
            <a:spAutoFit/>
          </a:bodyPr>
          <a:lstStyle/>
          <a:p>
            <a:pPr>
              <a:defRPr sz="3400" b="1">
                <a:solidFill>
                  <a:srgbClr val="FFFFFF"/>
                </a:solidFill>
                <a:latin typeface="Aptos"/>
              </a:defRPr>
            </a:pPr>
            <a:r>
              <a:t>YOLO tumor segmentation</a:t>
            </a:r>
          </a:p>
        </p:txBody>
      </p:sp>
      <p:cxnSp>
        <p:nvCxnSpPr>
          <p:cNvPr id="4" name="Connector 3"/>
          <p:cNvCxnSpPr/>
          <p:nvPr/>
        </p:nvCxnSpPr>
        <p:spPr>
          <a:xfrm>
            <a:off x="713232" y="2148840"/>
            <a:ext cx="10259568" cy="0"/>
          </a:xfrm>
          <a:prstGeom prst="line">
            <a:avLst/>
          </a:prstGeom>
          <a:ln w="25400">
            <a:solidFill>
              <a:srgbClr val="B2483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2514600"/>
            <a:ext cx="7863840" cy="548640"/>
          </a:xfrm>
          <a:prstGeom prst="rect">
            <a:avLst/>
          </a:prstGeom>
          <a:noFill/>
        </p:spPr>
        <p:txBody>
          <a:bodyPr wrap="none" lIns="18288" tIns="9144" rIns="18288" bIns="9144">
            <a:spAutoFit/>
          </a:bodyPr>
          <a:lstStyle/>
          <a:p>
            <a:pPr>
              <a:defRPr sz="1700" b="0">
                <a:solidFill>
                  <a:srgbClr val="E0E8E8"/>
                </a:solidFill>
                <a:latin typeface="Aptos"/>
              </a:defRPr>
            </a:pPr>
            <a:r>
              <a:t>Use Data 2 masks so the model can mark tumor regions, not only classify the image.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TASK 3 | SEGMENTATION EXAMPLES</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YOLO output is evaluated as a mask prediction problem.</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Clean, mask, distorted, and restored images show the full experiment path.</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16</a:t>
            </a:r>
          </a:p>
        </p:txBody>
      </p:sp>
      <p:sp>
        <p:nvSpPr>
          <p:cNvPr id="7" name="Rounded Rectangle 6"/>
          <p:cNvSpPr/>
          <p:nvPr/>
        </p:nvSpPr>
        <p:spPr>
          <a:xfrm>
            <a:off x="502920" y="1691640"/>
            <a:ext cx="2606040" cy="388620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task3_yolo_basic_example.png"/>
          <p:cNvPicPr>
            <a:picLocks noChangeAspect="1"/>
          </p:cNvPicPr>
          <p:nvPr/>
        </p:nvPicPr>
        <p:blipFill>
          <a:blip r:embed="rId2"/>
          <a:stretch>
            <a:fillRect/>
          </a:stretch>
        </p:blipFill>
        <p:spPr>
          <a:xfrm>
            <a:off x="667512" y="2034540"/>
            <a:ext cx="2286000" cy="2286000"/>
          </a:xfrm>
          <a:prstGeom prst="rect">
            <a:avLst/>
          </a:prstGeom>
        </p:spPr>
      </p:pic>
      <p:sp>
        <p:nvSpPr>
          <p:cNvPr id="9" name="TextBox 8"/>
          <p:cNvSpPr txBox="1"/>
          <p:nvPr/>
        </p:nvSpPr>
        <p:spPr>
          <a:xfrm>
            <a:off x="731520" y="4956048"/>
            <a:ext cx="2148840" cy="228600"/>
          </a:xfrm>
          <a:prstGeom prst="rect">
            <a:avLst/>
          </a:prstGeom>
          <a:noFill/>
        </p:spPr>
        <p:txBody>
          <a:bodyPr wrap="none" lIns="18288" tIns="9144" rIns="18288" bIns="9144">
            <a:spAutoFit/>
          </a:bodyPr>
          <a:lstStyle/>
          <a:p>
            <a:pPr algn="ctr">
              <a:defRPr sz="1300" b="1">
                <a:solidFill>
                  <a:srgbClr val="182228"/>
                </a:solidFill>
                <a:latin typeface="Aptos"/>
              </a:defRPr>
            </a:pPr>
            <a:r>
              <a:t>Clean</a:t>
            </a:r>
          </a:p>
        </p:txBody>
      </p:sp>
      <p:sp>
        <p:nvSpPr>
          <p:cNvPr id="10" name="Rounded Rectangle 9"/>
          <p:cNvSpPr/>
          <p:nvPr/>
        </p:nvSpPr>
        <p:spPr>
          <a:xfrm>
            <a:off x="3410712" y="1691640"/>
            <a:ext cx="2606040" cy="388620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task3_yolo_mask_example.png"/>
          <p:cNvPicPr>
            <a:picLocks noChangeAspect="1"/>
          </p:cNvPicPr>
          <p:nvPr/>
        </p:nvPicPr>
        <p:blipFill>
          <a:blip r:embed="rId3"/>
          <a:stretch>
            <a:fillRect/>
          </a:stretch>
        </p:blipFill>
        <p:spPr>
          <a:xfrm>
            <a:off x="3575304" y="2512094"/>
            <a:ext cx="2286000" cy="1330890"/>
          </a:xfrm>
          <a:prstGeom prst="rect">
            <a:avLst/>
          </a:prstGeom>
        </p:spPr>
      </p:pic>
      <p:sp>
        <p:nvSpPr>
          <p:cNvPr id="12" name="TextBox 11"/>
          <p:cNvSpPr txBox="1"/>
          <p:nvPr/>
        </p:nvSpPr>
        <p:spPr>
          <a:xfrm>
            <a:off x="3639312" y="4956048"/>
            <a:ext cx="2148840" cy="228600"/>
          </a:xfrm>
          <a:prstGeom prst="rect">
            <a:avLst/>
          </a:prstGeom>
          <a:noFill/>
        </p:spPr>
        <p:txBody>
          <a:bodyPr wrap="none" lIns="18288" tIns="9144" rIns="18288" bIns="9144">
            <a:spAutoFit/>
          </a:bodyPr>
          <a:lstStyle/>
          <a:p>
            <a:pPr algn="ctr">
              <a:defRPr sz="1300" b="1">
                <a:solidFill>
                  <a:srgbClr val="182228"/>
                </a:solidFill>
                <a:latin typeface="Aptos"/>
              </a:defRPr>
            </a:pPr>
            <a:r>
              <a:t>Mask</a:t>
            </a:r>
          </a:p>
        </p:txBody>
      </p:sp>
      <p:sp>
        <p:nvSpPr>
          <p:cNvPr id="13" name="Rounded Rectangle 12"/>
          <p:cNvSpPr/>
          <p:nvPr/>
        </p:nvSpPr>
        <p:spPr>
          <a:xfrm>
            <a:off x="6318504" y="1691640"/>
            <a:ext cx="2606040" cy="388620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task3_yolo_distorted_gaussian_noise_15db_example.jpg"/>
          <p:cNvPicPr>
            <a:picLocks noChangeAspect="1"/>
          </p:cNvPicPr>
          <p:nvPr/>
        </p:nvPicPr>
        <p:blipFill>
          <a:blip r:embed="rId4"/>
          <a:stretch>
            <a:fillRect/>
          </a:stretch>
        </p:blipFill>
        <p:spPr>
          <a:xfrm>
            <a:off x="6483096" y="2034540"/>
            <a:ext cx="2286000" cy="2286000"/>
          </a:xfrm>
          <a:prstGeom prst="rect">
            <a:avLst/>
          </a:prstGeom>
        </p:spPr>
      </p:pic>
      <p:sp>
        <p:nvSpPr>
          <p:cNvPr id="15" name="TextBox 14"/>
          <p:cNvSpPr txBox="1"/>
          <p:nvPr/>
        </p:nvSpPr>
        <p:spPr>
          <a:xfrm>
            <a:off x="6547104" y="4956048"/>
            <a:ext cx="2148840" cy="228600"/>
          </a:xfrm>
          <a:prstGeom prst="rect">
            <a:avLst/>
          </a:prstGeom>
          <a:noFill/>
        </p:spPr>
        <p:txBody>
          <a:bodyPr wrap="none" lIns="18288" tIns="9144" rIns="18288" bIns="9144">
            <a:spAutoFit/>
          </a:bodyPr>
          <a:lstStyle/>
          <a:p>
            <a:pPr algn="ctr">
              <a:defRPr sz="1300" b="1">
                <a:solidFill>
                  <a:srgbClr val="182228"/>
                </a:solidFill>
                <a:latin typeface="Aptos"/>
              </a:defRPr>
            </a:pPr>
            <a:r>
              <a:t>Distorted</a:t>
            </a:r>
          </a:p>
        </p:txBody>
      </p:sp>
      <p:sp>
        <p:nvSpPr>
          <p:cNvPr id="16" name="Rounded Rectangle 15"/>
          <p:cNvSpPr/>
          <p:nvPr/>
        </p:nvSpPr>
        <p:spPr>
          <a:xfrm>
            <a:off x="9226296" y="1691640"/>
            <a:ext cx="2606040" cy="388620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task3_yolo_restored_gaussian_noise_15db_example.jpg"/>
          <p:cNvPicPr>
            <a:picLocks noChangeAspect="1"/>
          </p:cNvPicPr>
          <p:nvPr/>
        </p:nvPicPr>
        <p:blipFill>
          <a:blip r:embed="rId5"/>
          <a:stretch>
            <a:fillRect/>
          </a:stretch>
        </p:blipFill>
        <p:spPr>
          <a:xfrm>
            <a:off x="9390888" y="2034540"/>
            <a:ext cx="2286000" cy="2286000"/>
          </a:xfrm>
          <a:prstGeom prst="rect">
            <a:avLst/>
          </a:prstGeom>
        </p:spPr>
      </p:pic>
      <p:sp>
        <p:nvSpPr>
          <p:cNvPr id="18" name="TextBox 17"/>
          <p:cNvSpPr txBox="1"/>
          <p:nvPr/>
        </p:nvSpPr>
        <p:spPr>
          <a:xfrm>
            <a:off x="9454896" y="4956048"/>
            <a:ext cx="2148840" cy="228600"/>
          </a:xfrm>
          <a:prstGeom prst="rect">
            <a:avLst/>
          </a:prstGeom>
          <a:noFill/>
        </p:spPr>
        <p:txBody>
          <a:bodyPr wrap="none" lIns="18288" tIns="9144" rIns="18288" bIns="9144">
            <a:spAutoFit/>
          </a:bodyPr>
          <a:lstStyle/>
          <a:p>
            <a:pPr algn="ctr">
              <a:defRPr sz="1300" b="1">
                <a:solidFill>
                  <a:srgbClr val="182228"/>
                </a:solidFill>
                <a:latin typeface="Aptos"/>
              </a:defRPr>
            </a:pPr>
            <a:r>
              <a:t>Restored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TASK 3 | YOLO MAP50</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Clean YOLO is the reference line; distortion and fine-tuning reveal robustness.</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mAP50 is shown separately for gaussian noise, blur, and brightness/contrast levels.</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17</a:t>
            </a:r>
          </a:p>
        </p:txBody>
      </p:sp>
      <p:sp>
        <p:nvSpPr>
          <p:cNvPr id="7" name="Rounded Rectangle 6"/>
          <p:cNvSpPr/>
          <p:nvPr/>
        </p:nvSpPr>
        <p:spPr>
          <a:xfrm>
            <a:off x="502920" y="1508760"/>
            <a:ext cx="3657600" cy="233172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yolo_gaussian_noise_snr_map50_graph.png"/>
          <p:cNvPicPr>
            <a:picLocks noChangeAspect="1"/>
          </p:cNvPicPr>
          <p:nvPr/>
        </p:nvPicPr>
        <p:blipFill>
          <a:blip r:embed="rId2"/>
          <a:stretch>
            <a:fillRect/>
          </a:stretch>
        </p:blipFill>
        <p:spPr>
          <a:xfrm>
            <a:off x="502920" y="1658619"/>
            <a:ext cx="3657600" cy="2032000"/>
          </a:xfrm>
          <a:prstGeom prst="rect">
            <a:avLst/>
          </a:prstGeom>
        </p:spPr>
      </p:pic>
      <p:sp>
        <p:nvSpPr>
          <p:cNvPr id="9" name="Rounded Rectangle 8"/>
          <p:cNvSpPr/>
          <p:nvPr/>
        </p:nvSpPr>
        <p:spPr>
          <a:xfrm>
            <a:off x="4251960" y="1508760"/>
            <a:ext cx="3657600" cy="233172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yolo_gaussian_blur_sigma_map50_graph.png"/>
          <p:cNvPicPr>
            <a:picLocks noChangeAspect="1"/>
          </p:cNvPicPr>
          <p:nvPr/>
        </p:nvPicPr>
        <p:blipFill>
          <a:blip r:embed="rId3"/>
          <a:stretch>
            <a:fillRect/>
          </a:stretch>
        </p:blipFill>
        <p:spPr>
          <a:xfrm>
            <a:off x="4251960" y="1658619"/>
            <a:ext cx="3657600" cy="2032000"/>
          </a:xfrm>
          <a:prstGeom prst="rect">
            <a:avLst/>
          </a:prstGeom>
        </p:spPr>
      </p:pic>
      <p:sp>
        <p:nvSpPr>
          <p:cNvPr id="11" name="Rounded Rectangle 10"/>
          <p:cNvSpPr/>
          <p:nvPr/>
        </p:nvSpPr>
        <p:spPr>
          <a:xfrm>
            <a:off x="8001000" y="1508760"/>
            <a:ext cx="3657600" cy="233172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yolo_brightness_contrast_level_map50_graph.png"/>
          <p:cNvPicPr>
            <a:picLocks noChangeAspect="1"/>
          </p:cNvPicPr>
          <p:nvPr/>
        </p:nvPicPr>
        <p:blipFill>
          <a:blip r:embed="rId4"/>
          <a:stretch>
            <a:fillRect/>
          </a:stretch>
        </p:blipFill>
        <p:spPr>
          <a:xfrm>
            <a:off x="8001000" y="1658619"/>
            <a:ext cx="3657600" cy="2032000"/>
          </a:xfrm>
          <a:prstGeom prst="rect">
            <a:avLst/>
          </a:prstGeom>
        </p:spPr>
      </p:pic>
      <p:sp>
        <p:nvSpPr>
          <p:cNvPr id="13" name="TextBox 12"/>
          <p:cNvSpPr txBox="1"/>
          <p:nvPr/>
        </p:nvSpPr>
        <p:spPr>
          <a:xfrm>
            <a:off x="868680" y="4480560"/>
            <a:ext cx="10241280" cy="594360"/>
          </a:xfrm>
          <a:prstGeom prst="rect">
            <a:avLst/>
          </a:prstGeom>
          <a:noFill/>
        </p:spPr>
        <p:txBody>
          <a:bodyPr wrap="square">
            <a:spAutoFit/>
          </a:bodyPr>
          <a:lstStyle/>
          <a:p>
            <a:pPr>
              <a:spcAft>
                <a:spcPts val="800"/>
              </a:spcAft>
              <a:defRPr sz="1300">
                <a:solidFill>
                  <a:srgbClr val="182228"/>
                </a:solidFill>
                <a:latin typeface="Aptos"/>
              </a:defRPr>
            </a:pPr>
            <a:r>
              <a:t>Main metric: mask mAP50. Fine-tuned YOLO models are trained on matching distorted data; restored images test pre-processing recovery.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B262C"/>
        </a:solidFill>
        <a:effectLst/>
      </p:bgPr>
    </p:bg>
    <p:spTree>
      <p:nvGrpSpPr>
        <p:cNvPr id="1" name=""/>
        <p:cNvGrpSpPr/>
        <p:nvPr/>
      </p:nvGrpSpPr>
      <p:grpSpPr>
        <a:xfrm>
          <a:off x="0" y="0"/>
          <a:ext cx="0" cy="0"/>
          <a:chOff x="0" y="0"/>
          <a:chExt cx="0" cy="0"/>
        </a:xfrm>
      </p:grpSpPr>
      <p:sp>
        <p:nvSpPr>
          <p:cNvPr id="2" name="TextBox 1"/>
          <p:cNvSpPr txBox="1"/>
          <p:nvPr/>
        </p:nvSpPr>
        <p:spPr>
          <a:xfrm>
            <a:off x="685800" y="640080"/>
            <a:ext cx="4754880" cy="502920"/>
          </a:xfrm>
          <a:prstGeom prst="rect">
            <a:avLst/>
          </a:prstGeom>
          <a:noFill/>
        </p:spPr>
        <p:txBody>
          <a:bodyPr wrap="none" lIns="18288" tIns="9144" rIns="18288" bIns="9144">
            <a:spAutoFit/>
          </a:bodyPr>
          <a:lstStyle/>
          <a:p>
            <a:pPr>
              <a:defRPr sz="3200" b="1">
                <a:solidFill>
                  <a:srgbClr val="FFFFFF"/>
                </a:solidFill>
                <a:latin typeface="Aptos"/>
              </a:defRPr>
            </a:pPr>
            <a:r>
              <a:t>Conclusion</a:t>
            </a:r>
          </a:p>
        </p:txBody>
      </p:sp>
      <p:sp>
        <p:nvSpPr>
          <p:cNvPr id="3" name="TextBox 2"/>
          <p:cNvSpPr txBox="1"/>
          <p:nvPr/>
        </p:nvSpPr>
        <p:spPr>
          <a:xfrm>
            <a:off x="731520" y="1325880"/>
            <a:ext cx="9875520" cy="384048"/>
          </a:xfrm>
          <a:prstGeom prst="rect">
            <a:avLst/>
          </a:prstGeom>
          <a:noFill/>
        </p:spPr>
        <p:txBody>
          <a:bodyPr wrap="none" lIns="18288" tIns="9144" rIns="18288" bIns="9144">
            <a:spAutoFit/>
          </a:bodyPr>
          <a:lstStyle/>
          <a:p>
            <a:pPr>
              <a:defRPr sz="1700" b="0">
                <a:solidFill>
                  <a:srgbClr val="E2EBE8"/>
                </a:solidFill>
                <a:latin typeface="Aptos"/>
              </a:defRPr>
            </a:pPr>
            <a:r>
              <a:t>Robustness should be measured across clean, distorted, restored, and fine-tuned settings.</a:t>
            </a:r>
          </a:p>
        </p:txBody>
      </p:sp>
      <p:sp>
        <p:nvSpPr>
          <p:cNvPr id="4" name="TextBox 3"/>
          <p:cNvSpPr txBox="1"/>
          <p:nvPr/>
        </p:nvSpPr>
        <p:spPr>
          <a:xfrm>
            <a:off x="914400" y="2240280"/>
            <a:ext cx="2743200" cy="274320"/>
          </a:xfrm>
          <a:prstGeom prst="rect">
            <a:avLst/>
          </a:prstGeom>
          <a:noFill/>
        </p:spPr>
        <p:txBody>
          <a:bodyPr wrap="none" lIns="18288" tIns="9144" rIns="18288" bIns="9144">
            <a:spAutoFit/>
          </a:bodyPr>
          <a:lstStyle/>
          <a:p>
            <a:pPr>
              <a:defRPr sz="1500" b="1">
                <a:solidFill>
                  <a:srgbClr val="2666AC"/>
                </a:solidFill>
                <a:latin typeface="Aptos"/>
              </a:defRPr>
            </a:pPr>
            <a:r>
              <a:t>Task 1 | Super-resolution</a:t>
            </a:r>
          </a:p>
        </p:txBody>
      </p:sp>
      <p:sp>
        <p:nvSpPr>
          <p:cNvPr id="5" name="TextBox 4"/>
          <p:cNvSpPr txBox="1"/>
          <p:nvPr/>
        </p:nvSpPr>
        <p:spPr>
          <a:xfrm>
            <a:off x="3703320" y="2240280"/>
            <a:ext cx="7223760" cy="320040"/>
          </a:xfrm>
          <a:prstGeom prst="rect">
            <a:avLst/>
          </a:prstGeom>
          <a:noFill/>
        </p:spPr>
        <p:txBody>
          <a:bodyPr wrap="none" lIns="18288" tIns="9144" rIns="18288" bIns="9144">
            <a:spAutoFit/>
          </a:bodyPr>
          <a:lstStyle/>
          <a:p>
            <a:pPr>
              <a:defRPr sz="1350" b="0">
                <a:solidFill>
                  <a:srgbClr val="FFFFFF"/>
                </a:solidFill>
                <a:latin typeface="Aptos"/>
              </a:defRPr>
            </a:pPr>
            <a:r>
              <a:t>Best when image structure remains; restoration often raises PSNR before sharpened_lanczos.</a:t>
            </a:r>
          </a:p>
        </p:txBody>
      </p:sp>
      <p:sp>
        <p:nvSpPr>
          <p:cNvPr id="6" name="TextBox 5"/>
          <p:cNvSpPr txBox="1"/>
          <p:nvPr/>
        </p:nvSpPr>
        <p:spPr>
          <a:xfrm>
            <a:off x="914400" y="3291840"/>
            <a:ext cx="2743200" cy="274320"/>
          </a:xfrm>
          <a:prstGeom prst="rect">
            <a:avLst/>
          </a:prstGeom>
          <a:noFill/>
        </p:spPr>
        <p:txBody>
          <a:bodyPr wrap="none" lIns="18288" tIns="9144" rIns="18288" bIns="9144">
            <a:spAutoFit/>
          </a:bodyPr>
          <a:lstStyle/>
          <a:p>
            <a:pPr>
              <a:defRPr sz="1500" b="1">
                <a:solidFill>
                  <a:srgbClr val="008074"/>
                </a:solidFill>
                <a:latin typeface="Aptos"/>
              </a:defRPr>
            </a:pPr>
            <a:r>
              <a:t>Task 2 | CNN</a:t>
            </a:r>
          </a:p>
        </p:txBody>
      </p:sp>
      <p:sp>
        <p:nvSpPr>
          <p:cNvPr id="7" name="TextBox 6"/>
          <p:cNvSpPr txBox="1"/>
          <p:nvPr/>
        </p:nvSpPr>
        <p:spPr>
          <a:xfrm>
            <a:off x="3703320" y="3291840"/>
            <a:ext cx="7223760" cy="320040"/>
          </a:xfrm>
          <a:prstGeom prst="rect">
            <a:avLst/>
          </a:prstGeom>
          <a:noFill/>
        </p:spPr>
        <p:txBody>
          <a:bodyPr wrap="none" lIns="18288" tIns="9144" rIns="18288" bIns="9144">
            <a:spAutoFit/>
          </a:bodyPr>
          <a:lstStyle/>
          <a:p>
            <a:pPr>
              <a:defRPr sz="1350" b="0">
                <a:solidFill>
                  <a:srgbClr val="FFFFFF"/>
                </a:solidFill>
                <a:latin typeface="Aptos"/>
              </a:defRPr>
            </a:pPr>
            <a:r>
              <a:t>Augmentation improved clean accuracy slightly; salt-and-pepper remains the hardest distortion.</a:t>
            </a:r>
          </a:p>
        </p:txBody>
      </p:sp>
      <p:sp>
        <p:nvSpPr>
          <p:cNvPr id="8" name="TextBox 7"/>
          <p:cNvSpPr txBox="1"/>
          <p:nvPr/>
        </p:nvSpPr>
        <p:spPr>
          <a:xfrm>
            <a:off x="914400" y="4343400"/>
            <a:ext cx="2743200" cy="274320"/>
          </a:xfrm>
          <a:prstGeom prst="rect">
            <a:avLst/>
          </a:prstGeom>
          <a:noFill/>
        </p:spPr>
        <p:txBody>
          <a:bodyPr wrap="none" lIns="18288" tIns="9144" rIns="18288" bIns="9144">
            <a:spAutoFit/>
          </a:bodyPr>
          <a:lstStyle/>
          <a:p>
            <a:pPr>
              <a:defRPr sz="1500" b="1">
                <a:solidFill>
                  <a:srgbClr val="B2483E"/>
                </a:solidFill>
                <a:latin typeface="Aptos"/>
              </a:defRPr>
            </a:pPr>
            <a:r>
              <a:t>Task 3 | YOLO</a:t>
            </a:r>
          </a:p>
        </p:txBody>
      </p:sp>
      <p:sp>
        <p:nvSpPr>
          <p:cNvPr id="9" name="TextBox 8"/>
          <p:cNvSpPr txBox="1"/>
          <p:nvPr/>
        </p:nvSpPr>
        <p:spPr>
          <a:xfrm>
            <a:off x="3703320" y="4343400"/>
            <a:ext cx="7223760" cy="320040"/>
          </a:xfrm>
          <a:prstGeom prst="rect">
            <a:avLst/>
          </a:prstGeom>
          <a:noFill/>
        </p:spPr>
        <p:txBody>
          <a:bodyPr wrap="none" lIns="18288" tIns="9144" rIns="18288" bIns="9144">
            <a:spAutoFit/>
          </a:bodyPr>
          <a:lstStyle/>
          <a:p>
            <a:pPr>
              <a:defRPr sz="1350" b="0">
                <a:solidFill>
                  <a:srgbClr val="FFFFFF"/>
                </a:solidFill>
                <a:latin typeface="Aptos"/>
              </a:defRPr>
            </a:pPr>
            <a:r>
              <a:t>Mask training enables tumor marking; fine-tuning improves robustness on distorted data.</a:t>
            </a:r>
          </a:p>
        </p:txBody>
      </p:sp>
      <p:sp>
        <p:nvSpPr>
          <p:cNvPr id="10" name="TextBox 9"/>
          <p:cNvSpPr txBox="1"/>
          <p:nvPr/>
        </p:nvSpPr>
        <p:spPr>
          <a:xfrm>
            <a:off x="914400" y="5852160"/>
            <a:ext cx="10332720" cy="320040"/>
          </a:xfrm>
          <a:prstGeom prst="rect">
            <a:avLst/>
          </a:prstGeom>
          <a:noFill/>
        </p:spPr>
        <p:txBody>
          <a:bodyPr wrap="none" lIns="18288" tIns="9144" rIns="18288" bIns="9144">
            <a:spAutoFit/>
          </a:bodyPr>
          <a:lstStyle/>
          <a:p>
            <a:pPr>
              <a:defRPr sz="1300" b="0">
                <a:solidFill>
                  <a:srgbClr val="D2DCDA"/>
                </a:solidFill>
                <a:latin typeface="Aptos"/>
              </a:defRPr>
            </a:pPr>
            <a:r>
              <a:t>Main takeaway: restoration is useful, but for deep-learning tasks, distortion-aware fine-tuning is usually the stronger improvement.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58</TotalTime>
  <Words>1355</Words>
  <Application>Microsoft Office PowerPoint</Application>
  <PresentationFormat>Widescreen</PresentationFormat>
  <Paragraphs>208</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Cnn on different distortions with restor ,without fine tuning</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Khadarkevich</cp:lastModifiedBy>
  <cp:revision>8</cp:revision>
  <dcterms:created xsi:type="dcterms:W3CDTF">2013-01-27T09:14:16Z</dcterms:created>
  <dcterms:modified xsi:type="dcterms:W3CDTF">2026-07-31T09:47:54Z</dcterms:modified>
  <cp:category/>
</cp:coreProperties>
</file>