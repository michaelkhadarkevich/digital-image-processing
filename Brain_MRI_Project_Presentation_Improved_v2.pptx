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26"/>
    <p:sldId id="275" r:id="rId25"/>
    <p:sldId id="262" r:id="rId8"/>
    <p:sldId id="263" r:id="rId9"/>
    <p:sldId id="264" r:id="rId10"/>
    <p:sldId id="265" r:id="rId11"/>
    <p:sldId id="266" r:id="rId12"/>
    <p:sldId id="267" r:id="rId13"/>
    <p:sldId id="274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8" d="100"/>
          <a:sy n="98" d="100"/>
        </p:scale>
        <p:origin x="82" y="-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7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8.jpg"/><Relationship Id="rId5" Type="http://schemas.openxmlformats.org/officeDocument/2006/relationships/image" Target="../media/image2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685800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ptos"/>
              </a:defRPr>
            </a:pPr>
            <a:r>
              <a:t>Digital Image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98448"/>
            <a:ext cx="548640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DDE7E7"/>
                </a:solidFill>
                <a:latin typeface="Aptos"/>
              </a:defRPr>
            </a:pPr>
            <a:r>
              <a:t>Brain MRI Robustness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828800"/>
            <a:ext cx="58521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0">
                <a:solidFill>
                  <a:srgbClr val="C6D2D2"/>
                </a:solidFill>
                <a:latin typeface="Aptos"/>
              </a:defRPr>
            </a:pPr>
            <a:r>
              <a:t>By Michael Khadarkevich and Ranana Khava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28529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2666A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32735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27432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8529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32735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datasets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7432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16752" y="28529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B2483E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6752" y="32735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distortion families</a:t>
            </a:r>
          </a:p>
        </p:txBody>
      </p:sp>
      <p:pic>
        <p:nvPicPr>
          <p:cNvPr id="14" name="Picture 13" descr="task3_yolo_basic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777240"/>
            <a:ext cx="2743200" cy="2743200"/>
          </a:xfrm>
          <a:prstGeom prst="rect">
            <a:avLst/>
          </a:prstGeom>
        </p:spPr>
      </p:pic>
      <p:pic>
        <p:nvPicPr>
          <p:cNvPr id="15" name="Picture 14" descr="data1_tumor_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3886200"/>
            <a:ext cx="1737360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2960" y="5623560"/>
            <a:ext cx="6583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ptos"/>
              </a:defRPr>
            </a:pPr>
            <a:r>
              <a:t>Clean → distorted → restored → fine-tuned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PROJECT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Why this project uses brain MRI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selected data supports medical image-processing tasks better than some generic vision tasks.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10607040" cy="3383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828800" cy="36576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200" b="1">
                <a:solidFill>
                  <a:srgbClr val="008074"/>
                </a:solidFill>
                <a:latin typeface="Aptos"/>
              </a:defRPr>
            </a:pPr>
            <a:r>
              <a:t>הערה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9692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82228"/>
                </a:solidFill>
                <a:latin typeface="Aptos"/>
              </a:defRPr>
            </a:pPr>
            <a:r>
              <a:t>בחרנו לעסוק בסרטן מוח משום שהדאטה מתאים למשימות של עיבוד תמונה וראייה ממוחשבת.</a:t>
            </a:r>
          </a:p>
          <a:p>
            <a:pPr>
              <a:spcAft>
                <a:spcPts val="800"/>
              </a:spcAft>
              <a:defRPr sz="1600">
                <a:solidFill>
                  <a:srgbClr val="182228"/>
                </a:solidFill>
                <a:latin typeface="Aptos"/>
              </a:defRPr>
            </a:pPr>
            <a:r>
              <a:t>בפרויקט נבדק איך עיוותים פוגעים בתמונה ובמודלים, ואיך שחזור או אימון נוסף יכולים לשפר את התוצאות.</a:t>
            </a:r>
          </a:p>
          <a:p>
            <a:pPr>
              <a:spcAft>
                <a:spcPts val="800"/>
              </a:spcAft>
              <a:defRPr sz="1600">
                <a:solidFill>
                  <a:srgbClr val="182228"/>
                </a:solidFill>
                <a:latin typeface="Aptos"/>
              </a:defRPr>
            </a:pPr>
            <a:r>
              <a:t>המטרה היא לא אבחון רפואי, אלא בדיקת עמידות של אלגוריתמים על תמונות MRI.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Distortions reduce reliability, so the project measures degradation and recovery.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same experiment logic is repeated across super-resolution, CNN classification, and YOLO segmentation.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324612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084831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1">
                <a:solidFill>
                  <a:srgbClr val="2666AC"/>
                </a:solidFill>
                <a:latin typeface="Aptos"/>
              </a:defRPr>
            </a:pPr>
            <a:r>
              <a:t>Super-resolution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60604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PSNR after x2 downsampling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828800"/>
            <a:ext cx="324612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0" y="2084831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1">
                <a:solidFill>
                  <a:srgbClr val="008074"/>
                </a:solidFill>
                <a:latin typeface="Aptos"/>
              </a:defRPr>
            </a:pPr>
            <a:r>
              <a:t>CNN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06040"/>
            <a:ext cx="260604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total true percent on tumor/no-tumor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324612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084831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1">
                <a:solidFill>
                  <a:srgbClr val="B2483E"/>
                </a:solidFill>
                <a:latin typeface="Aptos"/>
              </a:defRPr>
            </a:pPr>
            <a:r>
              <a:t>YOLO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2606040"/>
            <a:ext cx="260604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mask mAP50 on tumor segmentation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Experiment path: clean baseline → distorted input → restored input → fine-tuned model when relevant.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Every task uses the same robustness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How much does distortion hurt, and which improvement helps recover performance?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Data 1: Kaggle tumor/no-tumor classification images.</a:t>
            </a:r>
          </a:p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Data 2: MRI tumor segmentation masks converted to YOLO format.</a:t>
            </a:r>
          </a:p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Distortions: gaussian noise, salt-and-pepper, gaussian blur, and YOLO brightness/contrast.</a:t>
            </a:r>
          </a:p>
          <a:p>
            <a:pPr>
              <a:spcAft>
                <a:spcPts val="800"/>
              </a:spcAft>
              <a:defRPr sz="1500">
                <a:solidFill>
                  <a:srgbClr val="182228"/>
                </a:solidFill>
                <a:latin typeface="Aptos"/>
              </a:defRPr>
            </a:pPr>
            <a:r>
              <a:t>Improvement: restoration pre-processing and fine-tuning for learning-based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28800"/>
            <a:ext cx="4937760" cy="3108960"/>
          </a:xfrm>
          <a:prstGeom prst="roundRect">
            <a:avLst/>
          </a:prstGeom>
          <a:solidFill>
            <a:srgbClr val="F5F8F8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2148840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2666AC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07208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B2483E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807208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65576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008074"/>
                </a:solidFill>
                <a:latin typeface="Aptos"/>
              </a:defRPr>
            </a:pPr>
            <a:r>
              <a:t>Restored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65576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pre-processing 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123944"/>
            <a:ext cx="155448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400" b="1">
                <a:solidFill>
                  <a:srgbClr val="B88630"/>
                </a:solidFill>
                <a:latin typeface="Aptos"/>
              </a:defRPr>
            </a:pPr>
            <a:r>
              <a:t>Fine-tuned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123944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182228"/>
                </a:solidFill>
                <a:latin typeface="Aptos"/>
              </a:defRPr>
            </a:pPr>
            <a:r>
              <a:t>model adaptation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Two datasets support two different outputs: class labels and masks.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Data 1 labels are folder names; Data 2 labels are segmentation polygons for YOLO.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83080"/>
            <a:ext cx="3246120" cy="4114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data1_no_tumor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2057400"/>
            <a:ext cx="256032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5840" y="498348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400" b="1">
                <a:solidFill>
                  <a:srgbClr val="182228"/>
                </a:solidFill>
                <a:latin typeface="Aptos"/>
              </a:defRPr>
            </a:pPr>
            <a:r>
              <a:t>Data 1: no tumor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83080"/>
            <a:ext cx="3246120" cy="4114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data1_tumor_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2057400"/>
            <a:ext cx="2560320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00600" y="498348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400" b="1">
                <a:solidFill>
                  <a:srgbClr val="182228"/>
                </a:solidFill>
                <a:latin typeface="Aptos"/>
              </a:defRPr>
            </a:pPr>
            <a:r>
              <a:t>Data 1: tumor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783080"/>
            <a:ext cx="3246120" cy="41148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task3_yolo_mask_exam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3802" y="2539024"/>
            <a:ext cx="3272050" cy="1904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0" y="4983480"/>
            <a:ext cx="25603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400" b="1">
                <a:solidFill>
                  <a:srgbClr val="182228"/>
                </a:solidFill>
                <a:latin typeface="Aptos"/>
              </a:defRPr>
            </a:pPr>
            <a:r>
              <a:t>Data 2: mask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SHARED DISTORTION AND RESTORATION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9326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228"/>
                </a:solidFill>
                <a:latin typeface="Aptos"/>
              </a:defRPr>
            </a:pPr>
            <a:r>
              <a:t>Original, distorted, and restored images are compared 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Each used distortion is shown with its restored result so the before/after effect is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2148840" cy="4526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31720"/>
            <a:ext cx="173736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4617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82228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9560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6636B"/>
                </a:solidFill>
                <a:latin typeface="Aptos"/>
              </a:defRPr>
            </a:pPr>
            <a:r>
              <a:t>clean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35838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6636B"/>
                </a:solidFill>
                <a:latin typeface="Aptos"/>
              </a:defRPr>
            </a:pPr>
            <a:r>
              <a:t>used before all distortions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44952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2666AC"/>
                </a:solidFill>
                <a:latin typeface="Aptos"/>
              </a:defRPr>
            </a:pPr>
            <a:r>
              <a:t>Gaussian noise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6636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7" y="2249424"/>
            <a:ext cx="1060704" cy="1060704"/>
          </a:xfrm>
          <a:prstGeom prst="rect">
            <a:avLst/>
          </a:prstGeom>
        </p:spPr>
      </p:pic>
      <p:pic>
        <p:nvPicPr>
          <p:cNvPr id="16" name="Picture 15" descr="gaussian_noise_resto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7" y="2249424"/>
            <a:ext cx="1060704" cy="1060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19472" y="2834639"/>
            <a:ext cx="201168" cy="0"/>
          </a:xfrm>
          <a:prstGeom prst="line">
            <a:avLst/>
          </a:prstGeom>
          <a:ln w="1778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79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62671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2483E"/>
                </a:solidFill>
                <a:latin typeface="Aptos"/>
              </a:defRPr>
            </a:pPr>
            <a:r>
              <a:t>Salt-and-pepper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59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8408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2249424"/>
            <a:ext cx="1060704" cy="1060704"/>
          </a:xfrm>
          <a:prstGeom prst="rect">
            <a:avLst/>
          </a:prstGeom>
        </p:spPr>
      </p:pic>
      <p:pic>
        <p:nvPicPr>
          <p:cNvPr id="25" name="Picture 24" descr="salt_and_pepper_resto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8128" y="2249424"/>
            <a:ext cx="1060704" cy="1060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909559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37192" y="2834639"/>
            <a:ext cx="201167" cy="0"/>
          </a:xfrm>
          <a:prstGeom prst="line">
            <a:avLst/>
          </a:prstGeom>
          <a:ln w="1778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80360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44952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8074"/>
                </a:solidFill>
                <a:latin typeface="Aptos"/>
              </a:defRPr>
            </a:pPr>
            <a:r>
              <a:t>Gaussian blur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16636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7287" y="4626864"/>
            <a:ext cx="1060704" cy="1060704"/>
          </a:xfrm>
          <a:prstGeom prst="rect">
            <a:avLst/>
          </a:prstGeom>
        </p:spPr>
      </p:pic>
      <p:pic>
        <p:nvPicPr>
          <p:cNvPr id="34" name="Picture 33" descr="gaussian_blur_resto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50407" y="4626864"/>
            <a:ext cx="1060704" cy="10607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29184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919472" y="5212080"/>
            <a:ext cx="201168" cy="0"/>
          </a:xfrm>
          <a:prstGeom prst="line">
            <a:avLst/>
          </a:prstGeom>
          <a:ln w="17780">
            <a:solidFill>
              <a:srgbClr val="008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498079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62671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88630"/>
                </a:solidFill>
                <a:latin typeface="Aptos"/>
              </a:defRPr>
            </a:pPr>
            <a:r>
              <a:t>Brightness / contrast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59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78408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5008" y="4626864"/>
            <a:ext cx="1060704" cy="1060704"/>
          </a:xfrm>
          <a:prstGeom prst="rect">
            <a:avLst/>
          </a:prstGeom>
        </p:spPr>
      </p:pic>
      <p:pic>
        <p:nvPicPr>
          <p:cNvPr id="43" name="Picture 42" descr="brightness_contrast_restor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68128" y="4626864"/>
            <a:ext cx="1060704" cy="106070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909559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537192" y="5212080"/>
            <a:ext cx="201167" cy="0"/>
          </a:xfrm>
          <a:prstGeom prst="line">
            <a:avLst/>
          </a:prstGeom>
          <a:ln w="17780">
            <a:solidFill>
              <a:srgbClr val="B886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RESTORATION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How the restorations work after distortion.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Each restoration is a simple image-processing step that tries to recover useful MRI structure before measuring the task.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476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666AC"/>
                </a:solidFill>
                <a:latin typeface="Aptos"/>
              </a:defRPr>
            </a:pPr>
            <a:r>
              <a:t>Gaussian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13432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Light Gaussian smoothing reduces random pixel noise, then unsharp masking brings edges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27832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smooth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sharpen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06040" y="3218688"/>
            <a:ext cx="548640" cy="0"/>
          </a:xfrm>
          <a:prstGeom prst="line">
            <a:avLst/>
          </a:prstGeom>
          <a:ln w="2032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63640" y="1783080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194767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2483E"/>
                </a:solidFill>
                <a:latin typeface="Aptos"/>
              </a:defRPr>
            </a:pPr>
            <a:r>
              <a:t>Salt-and-pepper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313432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A median filter replaces isolated black/white pixels using nearby values while preserving edges.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79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05672" y="3026664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median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7112" y="3118104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remove specks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83879" y="3218688"/>
            <a:ext cx="548641" cy="0"/>
          </a:xfrm>
          <a:prstGeom prst="line">
            <a:avLst/>
          </a:prstGeom>
          <a:ln w="2032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096512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2611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8074"/>
                </a:solidFill>
                <a:latin typeface="Aptos"/>
              </a:defRPr>
            </a:pPr>
            <a:r>
              <a:t>Gaussian blur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626864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Unsharp masking boosts local contrast so softened edges become clearer again.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227832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edge boost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9272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sharpen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606040" y="5532120"/>
            <a:ext cx="548640" cy="0"/>
          </a:xfrm>
          <a:prstGeom prst="line">
            <a:avLst/>
          </a:prstGeom>
          <a:ln w="20320">
            <a:solidFill>
              <a:srgbClr val="008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63640" y="4096512"/>
            <a:ext cx="5166360" cy="1965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7" y="42611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88630"/>
                </a:solidFill>
                <a:latin typeface="Aptos"/>
              </a:defRPr>
            </a:pPr>
            <a:r>
              <a:t>Brightness / contrast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7" y="4626864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182228"/>
                </a:solidFill>
                <a:latin typeface="Aptos"/>
              </a:defRPr>
            </a:pPr>
            <a:r>
              <a:t>Autocontrast spreads useful intensities, then contrast normalization brings the image back to a stable range.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79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05672" y="5340096"/>
            <a:ext cx="1554480" cy="384048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normalize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5431536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82228"/>
                </a:solidFill>
                <a:latin typeface="Aptos"/>
              </a:defRPr>
            </a:pPr>
            <a:r>
              <a:t>rebalance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183879" y="5532120"/>
            <a:ext cx="548641" cy="0"/>
          </a:xfrm>
          <a:prstGeom prst="line">
            <a:avLst/>
          </a:prstGeom>
          <a:ln w="20320">
            <a:solidFill>
              <a:srgbClr val="B886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2011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2666AC"/>
                </a:solidFill>
                <a:latin typeface="Aptos"/>
              </a:defRPr>
            </a:pPr>
            <a:r>
              <a:t>Task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46720" cy="6858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Super-resolution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2148840"/>
            <a:ext cx="10259568" cy="0"/>
          </a:xfrm>
          <a:prstGeom prst="line">
            <a:avLst/>
          </a:prstGeom>
          <a:ln w="2540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514600"/>
            <a:ext cx="7863840" cy="5486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0E8E8"/>
                </a:solidFill>
                <a:latin typeface="Aptos"/>
              </a:defRPr>
            </a:pPr>
            <a:r>
              <a:t>Downsample x2, reconstruct, and measure image fidelity with PSNR.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1 | CLEAN SUPER-RESOLUTION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Lanczos gives the strongest clean PSNR on the selected MRI image.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Sharpened_lanczos is used in the SNR/level experiments to compare distorted and restored images.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6629400" cy="4434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uper_resolution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231" y="1645920"/>
            <a:ext cx="4223657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1874519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99831" y="198424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2666AC"/>
                </a:solidFill>
                <a:latin typeface="Aptos"/>
              </a:defRPr>
            </a:pPr>
            <a:r>
              <a:t>29.62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9831" y="240487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Best clean PSNR: Lanczos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97180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9831" y="308152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26.87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9831" y="350215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Sharpened_lanczos PSNR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06908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99831" y="417880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B88630"/>
                </a:solidFill>
                <a:latin typeface="Aptos"/>
              </a:defRPr>
            </a:pPr>
            <a:r>
              <a:t>98.38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9831" y="459943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Best reconstruction score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1 | DISTORTED SUPER-RESOLUTION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Restored inputs usually recover PSNR before sharpened_lanczos reconstruction.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Each graph includes a dashed clean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gaussian_noise_snr_psnr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2900"/>
            <a:ext cx="3657600" cy="203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51960" y="1508760"/>
            <a:ext cx="365760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alt_and_pepper_density_psnr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12900"/>
            <a:ext cx="365760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508760"/>
            <a:ext cx="365760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gaussian_blur_sigma_psnr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12900"/>
            <a:ext cx="36576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413665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82228"/>
                </a:solidFill>
                <a:latin typeface="Aptos"/>
              </a:defRPr>
            </a:pPr>
            <a:r>
              <a:rPr dirty="0"/>
              <a:t>Main metric: PSNR. Restoration helps most when noise can be reduced without destroying structure. Severe salt-and-pepper is the hardest setting.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3512F5-C7CB-89E4-B85E-1DC52C38B301}"/>
              </a:ext>
            </a:extLst>
          </p:cNvPr>
          <p:cNvSpPr txBox="1"/>
          <p:nvPr/>
        </p:nvSpPr>
        <p:spPr>
          <a:xfrm>
            <a:off x="1376885" y="4606558"/>
            <a:ext cx="920163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e-IL" dirty="0"/>
              <a:t>האהרה : בגלל טיב המשימה של הסופר </a:t>
            </a:r>
            <a:r>
              <a:rPr lang="he-IL" dirty="0" err="1"/>
              <a:t>רזלוציה</a:t>
            </a:r>
            <a:r>
              <a:rPr lang="he-IL" dirty="0"/>
              <a:t> אין היגיון בהשוואת התוצר הסופי לעומת התמונה המקורית כי הרעש משפיע באופן שונה על כל </a:t>
            </a:r>
            <a:r>
              <a:rPr lang="he-IL" dirty="0" err="1"/>
              <a:t>ץמונה</a:t>
            </a:r>
            <a:r>
              <a:rPr lang="he-IL" dirty="0"/>
              <a:t>, לכן בכל ניסוי התוצר הסופי מושווה לתמונה עם הרעש\עם </a:t>
            </a:r>
            <a:r>
              <a:rPr lang="he-IL" dirty="0" err="1"/>
              <a:t>הרסטורשין</a:t>
            </a:r>
            <a:r>
              <a:rPr lang="he-IL" dirty="0"/>
              <a:t>.</a:t>
            </a:r>
          </a:p>
          <a:p>
            <a:r>
              <a:rPr lang="he-IL" dirty="0"/>
              <a:t>בעקבות שינויים אלו קוראת תופעה מעניינת שבגלל רעש </a:t>
            </a:r>
            <a:r>
              <a:rPr lang="he-IL" dirty="0" err="1"/>
              <a:t>מסויים</a:t>
            </a:r>
            <a:r>
              <a:rPr lang="he-IL" dirty="0"/>
              <a:t>, ההקטנה פי 2 מאבדת פחות מידע.</a:t>
            </a:r>
          </a:p>
          <a:p>
            <a:r>
              <a:rPr lang="he-IL" dirty="0"/>
              <a:t>אתן </a:t>
            </a:r>
            <a:r>
              <a:rPr lang="he-IL" dirty="0" err="1"/>
              <a:t>דוכמה</a:t>
            </a:r>
            <a:r>
              <a:rPr lang="he-IL" dirty="0"/>
              <a:t>: אם אקח תמונה ואקח רעש קיצוני שהופך אותה ללבנה – ואז אחרי שאני מחלק ל2 ואז מחזיר אותה לתמונה המקורית , אני אקבל תמונה לבנה , כך שקיבלנו אותה תמונה ולא איבדנו מידע.</a:t>
            </a:r>
          </a:p>
          <a:p>
            <a:r>
              <a:rPr lang="he-IL" dirty="0"/>
              <a:t>אני יודע שזו לא </a:t>
            </a:r>
            <a:r>
              <a:rPr lang="he-IL" dirty="0" err="1"/>
              <a:t>היתה</a:t>
            </a:r>
            <a:r>
              <a:rPr lang="he-IL" dirty="0"/>
              <a:t> המטרה של העבודה אך לצערי סופר </a:t>
            </a:r>
            <a:r>
              <a:rPr lang="he-IL" dirty="0" err="1"/>
              <a:t>רזלושין</a:t>
            </a:r>
            <a:r>
              <a:rPr lang="he-IL" dirty="0"/>
              <a:t> היא </a:t>
            </a:r>
            <a:r>
              <a:rPr lang="he-IL" dirty="0" err="1"/>
              <a:t>לוא</a:t>
            </a:r>
            <a:r>
              <a:rPr lang="he-IL" dirty="0"/>
              <a:t> לבלב </a:t>
            </a:r>
            <a:r>
              <a:rPr lang="he-IL" dirty="0" err="1"/>
              <a:t>טסק</a:t>
            </a:r>
            <a:r>
              <a:rPr lang="he-IL" dirty="0"/>
              <a:t> היחיד שמתאים לדאטה</a:t>
            </a:r>
            <a:endParaRPr lang="en-IL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2011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008074"/>
                </a:solidFill>
                <a:latin typeface="Aptos"/>
              </a:defRPr>
            </a:pPr>
            <a:r>
              <a:t>Task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46720" cy="6858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CNN tumor classification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2148840"/>
            <a:ext cx="10259568" cy="0"/>
          </a:xfrm>
          <a:prstGeom prst="line">
            <a:avLst/>
          </a:prstGeom>
          <a:ln w="25400">
            <a:solidFill>
              <a:srgbClr val="0080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514600"/>
            <a:ext cx="7863840" cy="5486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0E8E8"/>
                </a:solidFill>
                <a:latin typeface="Aptos"/>
              </a:defRPr>
            </a:pPr>
            <a:r>
              <a:t>Classify Data 1 images as tumor or no_tumor, then test robustness.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2 | BASIC CNN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The basic CNN reaches 78.95% accuracy on clean Data 1 test images.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confusion matrix shows actual labels as rows and predicted labels as columns.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691640"/>
            <a:ext cx="3840480" cy="3291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01368"/>
            <a:ext cx="3840480" cy="3072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577840" y="1691640"/>
            <a:ext cx="5166360" cy="3291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raining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304288"/>
            <a:ext cx="5166360" cy="20665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539496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70432" y="550468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2666AC"/>
                </a:solidFill>
                <a:latin typeface="Aptos"/>
              </a:defRPr>
            </a:pPr>
            <a:r>
              <a:t>78.95%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92531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Basic CNN test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39496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30752" y="550468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592531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test images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rPr dirty="0"/>
              <a:t>TASK 2 |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10745827" cy="38779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rPr lang="en-US" dirty="0"/>
              <a:t>Extra: </a:t>
            </a:r>
            <a:r>
              <a:rPr dirty="0"/>
              <a:t>Rotation augmentation improved the CNN, but only by a small amount.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Because the dataset is small, augmentation adds examples; changing head position did not create a large 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337560" cy="28346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3936"/>
            <a:ext cx="3337560" cy="2670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617720" y="1874519"/>
            <a:ext cx="2011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ask2_cnn_original_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874519"/>
            <a:ext cx="1920240" cy="19202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903720" y="1874519"/>
            <a:ext cx="2011680" cy="19202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ask2_cnn_augmented_rot20_examp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874519"/>
            <a:ext cx="1920240" cy="19202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326880" y="192024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91472" y="202996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008074"/>
                </a:solidFill>
                <a:latin typeface="Aptos"/>
              </a:defRPr>
            </a:pPr>
            <a:r>
              <a:t>81.58%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91472" y="245059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Augmented CNN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3063240"/>
            <a:ext cx="2240280" cy="914400"/>
          </a:xfrm>
          <a:prstGeom prst="roundRect">
            <a:avLst/>
          </a:prstGeom>
          <a:solidFill>
            <a:srgbClr val="FAFCFC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91472" y="3172968"/>
            <a:ext cx="1874519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100" b="1">
                <a:solidFill>
                  <a:srgbClr val="B88630"/>
                </a:solidFill>
                <a:latin typeface="Aptos"/>
              </a:defRPr>
            </a:pPr>
            <a:r>
              <a:t>+2.63 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1472" y="3593592"/>
            <a:ext cx="1901952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850" b="0">
                <a:solidFill>
                  <a:srgbClr val="56636B"/>
                </a:solidFill>
                <a:latin typeface="Aptos"/>
              </a:defRPr>
            </a:pPr>
            <a:r>
              <a:t>gain over basic CNN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160520"/>
            <a:ext cx="14630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200" b="1">
                <a:solidFill>
                  <a:srgbClr val="182228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160520"/>
            <a:ext cx="164592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200" b="1">
                <a:solidFill>
                  <a:srgbClr val="182228"/>
                </a:solidFill>
                <a:latin typeface="Aptos"/>
              </a:defRPr>
            </a:pPr>
            <a:r>
              <a:t>Augmented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4B9035-3739-33FA-870D-676BED4BEF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Cnn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on different </a:t>
            </a:r>
            <a:r>
              <a:rPr lang="en-US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dostortions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with</a:t>
            </a:r>
            <a:r>
              <a:rPr lang="he-IL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restor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dirty="0">
                <a:solidFill>
                  <a:schemeClr val="bg1"/>
                </a:solidFill>
              </a:rPr>
              <a:t>without</a:t>
            </a:r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fine tuning</a:t>
            </a:r>
          </a:p>
        </p:txBody>
      </p:sp>
      <p:pic>
        <p:nvPicPr>
          <p:cNvPr id="7" name="Picture 6" descr="total_true_percent_graph.png">
            <a:extLst>
              <a:ext uri="{FF2B5EF4-FFF2-40B4-BE49-F238E27FC236}">
                <a16:creationId xmlns:a16="http://schemas.microsoft.com/office/drawing/2014/main" id="{2444DAF3-E0B3-3E33-18AC-A7934B8CA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85" y="1675227"/>
            <a:ext cx="10525029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8804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2 | RESTORATION AND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Fine-tuning and restoration are compared against the same clean CNN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Total true percent summarizes how many tumor/no-tumor predictions are correct.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228"/>
                </a:solidFill>
                <a:latin typeface="Aptos"/>
              </a:defRPr>
            </a:pPr>
            <a:r>
              <a:t>Salt-and-pepper noise is the clearest CNN failure mode. Restoration recovers some cases; fine-tuning is the stronger model-level improvement.</a:t>
            </a:r>
          </a:p>
        </p:txBody>
      </p:sp>
      <p:pic>
        <p:nvPicPr>
          <p:cNvPr id="13" name="Picture 12" descr="cnn_compare_distortion_restoration_fine_tune_total_true_percent_graph.png">
            <a:extLst>
              <a:ext uri="{FF2B5EF4-FFF2-40B4-BE49-F238E27FC236}">
                <a16:creationId xmlns:a16="http://schemas.microsoft.com/office/drawing/2014/main" id="{6F80A51B-92A1-8241-610F-B2985B1F9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930" y="1612080"/>
            <a:ext cx="7800003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2 | CNN SNR AND LEVEL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Separate distortion-level graphs show where classification begins to break.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 dashed line is the basic CNN on clean, non-distorted images.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nn_compare_snr_distortion_restoration_fine_tune_total_true_percen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58619"/>
            <a:ext cx="3657600" cy="203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5196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nn_compare_salt_and_pepper_distortion_restoration_fine_tune_total_true_percent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58619"/>
            <a:ext cx="365760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nn_compare_gaussian_blur_distortion_restoration_fine_tune_total_true_percent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58619"/>
            <a:ext cx="36576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4434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228"/>
                </a:solidFill>
                <a:latin typeface="Aptos"/>
              </a:defRPr>
            </a:pPr>
            <a:r>
              <a:t>Reading the graphs together separates distortion strength from model strategy: basic, restored, and fine-tuned.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85800"/>
            <a:ext cx="201168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B2483E"/>
                </a:solidFill>
                <a:latin typeface="Aptos"/>
              </a:defRPr>
            </a:pPr>
            <a:r>
              <a:t>Task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88720"/>
            <a:ext cx="8046720" cy="6858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t>YOLO tumor segmentation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2148840"/>
            <a:ext cx="10259568" cy="0"/>
          </a:xfrm>
          <a:prstGeom prst="line">
            <a:avLst/>
          </a:prstGeom>
          <a:ln w="2540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2514600"/>
            <a:ext cx="7863840" cy="5486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0E8E8"/>
                </a:solidFill>
                <a:latin typeface="Aptos"/>
              </a:defRPr>
            </a:pPr>
            <a:r>
              <a:t>Use Data 2 masks so the model can mark tumor regions, not only classify the image.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3 | SEGMENTATION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YOLO output is evaluated as a mask prediction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Clean, mask, distorted, and restored images show the full experiment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task3_yolo_basic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34540"/>
            <a:ext cx="228600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task3_yolo_mask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2512094"/>
            <a:ext cx="2286000" cy="133089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39312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Mask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8504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task3_yolo_distorted_gaussian_noise_15db_examp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2034540"/>
            <a:ext cx="2286000" cy="228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7104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26296" y="1691640"/>
            <a:ext cx="2606040" cy="3886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ask3_yolo_restored_gaussian_noise_15db_examp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2034540"/>
            <a:ext cx="2286000" cy="228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54896" y="4956048"/>
            <a:ext cx="21488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ctr">
              <a:defRPr sz="1300" b="1">
                <a:solidFill>
                  <a:srgbClr val="182228"/>
                </a:solidFill>
                <a:latin typeface="Aptos"/>
              </a:defRPr>
            </a:pPr>
            <a:r>
              <a:t>Restored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TASK 3 | YOLO MAP50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8961120" cy="603504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2400" b="1">
                <a:solidFill>
                  <a:srgbClr val="182228"/>
                </a:solidFill>
                <a:latin typeface="Aptos"/>
              </a:defRPr>
            </a:pPr>
            <a:r>
              <a:t>Clean YOLO is the reference line; distortion and fine-tuning reveal robustness.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9052560" cy="29260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mAP50 is shown separately for gaussian noise, blur, and brightness/contrast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yolo_gaussian_noise_snr_map50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58619"/>
            <a:ext cx="3657600" cy="2032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25196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yolo_gaussian_blur_sigma_map50_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658619"/>
            <a:ext cx="3657600" cy="2032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508760"/>
            <a:ext cx="3657600" cy="23317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6DE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yolo_brightness_contrast_level_map50_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658619"/>
            <a:ext cx="36576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448056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228"/>
                </a:solidFill>
                <a:latin typeface="Aptos"/>
              </a:defRPr>
            </a:pPr>
            <a:r>
              <a:t>Main metric: mask mAP50. Fine-tuned YOLO models are trained on matching distorted data; restored images test pre-processing recovery.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6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640080"/>
            <a:ext cx="4754880" cy="5029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9875520" cy="384048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700" b="0">
                <a:solidFill>
                  <a:srgbClr val="E2EBE8"/>
                </a:solidFill>
                <a:latin typeface="Aptos"/>
              </a:defRPr>
            </a:pPr>
            <a:r>
              <a:t>Robustness should be measured across clean, distorted, restored, and fine-tuned settings.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2666AC"/>
                </a:solidFill>
                <a:latin typeface="Aptos"/>
              </a:defRPr>
            </a:pPr>
            <a:r>
              <a:t>Task 1 | Super-resolution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3320" y="2240280"/>
            <a:ext cx="722376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50" b="0">
                <a:solidFill>
                  <a:srgbClr val="FFFFFF"/>
                </a:solidFill>
                <a:latin typeface="Aptos"/>
              </a:defRPr>
            </a:pPr>
            <a:r>
              <a:t>Best when image structure remains; restoration often raises PSNR before sharpened_lanczos.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008074"/>
                </a:solidFill>
                <a:latin typeface="Aptos"/>
              </a:defRPr>
            </a:pPr>
            <a:r>
              <a:t>Task 2 | CNN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3291840"/>
            <a:ext cx="722376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50" b="0">
                <a:solidFill>
                  <a:srgbClr val="FFFFFF"/>
                </a:solidFill>
                <a:latin typeface="Aptos"/>
              </a:defRPr>
            </a:pPr>
            <a:r>
              <a:t>Augmentation improved clean accuracy slightly; salt-and-pepper remains the hardest distortion.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2743200" cy="27432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500" b="1">
                <a:solidFill>
                  <a:srgbClr val="B2483E"/>
                </a:solidFill>
                <a:latin typeface="Aptos"/>
              </a:defRPr>
            </a:pPr>
            <a:r>
              <a:t>Task 3 | YOLO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4343400"/>
            <a:ext cx="722376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50" b="0">
                <a:solidFill>
                  <a:srgbClr val="FFFFFF"/>
                </a:solidFill>
                <a:latin typeface="Aptos"/>
              </a:defRPr>
            </a:pPr>
            <a:r>
              <a:t>Mask training enables tumor marking; fine-tuning improves robustness on distorted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320040"/>
          </a:xfrm>
          <a:prstGeom prst="rect">
            <a:avLst/>
          </a:prstGeom>
          <a:noFill/>
        </p:spPr>
        <p:txBody>
          <a:bodyPr wrap="none" lIns="18288" tIns="9144" rIns="18288" bIns="9144">
            <a:spAutoFit/>
          </a:bodyPr>
          <a:lstStyle/>
          <a:p>
            <a:pPr>
              <a:defRPr sz="1300" b="0">
                <a:solidFill>
                  <a:srgbClr val="D2DCDA"/>
                </a:solidFill>
                <a:latin typeface="Aptos"/>
              </a:defRPr>
            </a:pPr>
            <a:r>
              <a:t>Main takeaway: restoration is useful, but for deep-learning tasks, distortion-aware fine-tuning is usually the stronger improvement.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8074"/>
                </a:solidFill>
                <a:latin typeface="Aptos"/>
              </a:defRPr>
            </a:pPr>
            <a:r>
              <a:t>ADDITIONAL DISTORTIONS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0080"/>
            <a:ext cx="9784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82228"/>
                </a:solidFill>
                <a:latin typeface="Aptos"/>
              </a:defRPr>
            </a:pPr>
            <a:r>
              <a:t>Original, distorted, and restored images for the other distortions.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225296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6636B"/>
                </a:solidFill>
                <a:latin typeface="Aptos"/>
              </a:defRPr>
            </a:pPr>
            <a:r>
              <a:t>These methods were also implemented in the distortion/restoration pipeline and are shown with the same before/after structure as slide 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47472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56636B"/>
                </a:solidFill>
                <a:latin typeface="Aptos"/>
              </a:defRPr>
            </a:pPr>
            <a:r>
              <a:t>Brain MRI robustness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19072"/>
            <a:ext cx="2148840" cy="4526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331720"/>
            <a:ext cx="173736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461772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82228"/>
                </a:solidFill>
                <a:latin typeface="Aptos"/>
              </a:defRPr>
            </a:pPr>
            <a:r>
              <a:t>Original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9560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6636B"/>
                </a:solidFill>
                <a:latin typeface="Aptos"/>
              </a:defRPr>
            </a:pPr>
            <a:r>
              <a:t>clean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35838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56636B"/>
                </a:solidFill>
                <a:latin typeface="Aptos"/>
              </a:defRPr>
            </a:pPr>
            <a:r>
              <a:t>used before all distortions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2666AC"/>
                </a:solidFill>
                <a:latin typeface="Aptos"/>
              </a:defRPr>
            </a:pPr>
            <a:r>
              <a:t>Rotation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6636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o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287" y="2249424"/>
            <a:ext cx="1060704" cy="1060704"/>
          </a:xfrm>
          <a:prstGeom prst="rect">
            <a:avLst/>
          </a:prstGeom>
        </p:spPr>
      </p:pic>
      <p:pic>
        <p:nvPicPr>
          <p:cNvPr id="16" name="Picture 15" descr="rotation_resto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407" y="2249424"/>
            <a:ext cx="1060704" cy="1060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9184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19472" y="2834639"/>
            <a:ext cx="201168" cy="0"/>
          </a:xfrm>
          <a:prstGeom prst="line">
            <a:avLst/>
          </a:prstGeom>
          <a:ln w="17780">
            <a:solidFill>
              <a:srgbClr val="266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98079" y="171907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1856231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69559E"/>
                </a:solidFill>
                <a:latin typeface="Aptos"/>
              </a:defRPr>
            </a:pPr>
            <a:r>
              <a:t>Perspective warp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59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84080" y="217627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erspective_war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2249424"/>
            <a:ext cx="1060704" cy="1060704"/>
          </a:xfrm>
          <a:prstGeom prst="rect">
            <a:avLst/>
          </a:prstGeom>
        </p:spPr>
      </p:pic>
      <p:pic>
        <p:nvPicPr>
          <p:cNvPr id="25" name="Picture 24" descr="perspective_warp_resto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8128" y="2249424"/>
            <a:ext cx="1060704" cy="1060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909559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343814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537192" y="2834639"/>
            <a:ext cx="201167" cy="0"/>
          </a:xfrm>
          <a:prstGeom prst="line">
            <a:avLst/>
          </a:prstGeom>
          <a:ln w="17780">
            <a:solidFill>
              <a:srgbClr val="69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880360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2483E"/>
                </a:solidFill>
                <a:latin typeface="Aptos"/>
              </a:defRPr>
            </a:pPr>
            <a:r>
              <a:t>Barrel distortion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6324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16636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barrel_distor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47287" y="4626864"/>
            <a:ext cx="1060704" cy="1060704"/>
          </a:xfrm>
          <a:prstGeom prst="rect">
            <a:avLst/>
          </a:prstGeom>
        </p:spPr>
      </p:pic>
      <p:pic>
        <p:nvPicPr>
          <p:cNvPr id="34" name="Picture 33" descr="barrel_distortion_resto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50407" y="4626864"/>
            <a:ext cx="1060704" cy="10607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29184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919472" y="5212080"/>
            <a:ext cx="201168" cy="0"/>
          </a:xfrm>
          <a:prstGeom prst="line">
            <a:avLst/>
          </a:prstGeom>
          <a:ln w="17780">
            <a:solidFill>
              <a:srgbClr val="B248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498079" y="4096512"/>
            <a:ext cx="4343400" cy="21488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62671" y="423367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B88630"/>
                </a:solidFill>
                <a:latin typeface="Aptos"/>
              </a:defRPr>
            </a:pPr>
            <a:r>
              <a:t>Pixelation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80959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784080" y="4553712"/>
            <a:ext cx="1828800" cy="1325880"/>
          </a:xfrm>
          <a:prstGeom prst="roundRect">
            <a:avLst/>
          </a:prstGeom>
          <a:solidFill>
            <a:srgbClr val="F1F5F5"/>
          </a:solidFill>
          <a:ln w="8890">
            <a:solidFill>
              <a:srgbClr val="D2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ixelati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5008" y="4626864"/>
            <a:ext cx="1060704" cy="1060704"/>
          </a:xfrm>
          <a:prstGeom prst="rect">
            <a:avLst/>
          </a:prstGeom>
        </p:spPr>
      </p:pic>
      <p:pic>
        <p:nvPicPr>
          <p:cNvPr id="43" name="Picture 42" descr="pixelation_restor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68128" y="4626864"/>
            <a:ext cx="1060704" cy="106070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909559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distorted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5815584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6636B"/>
                </a:solidFill>
                <a:latin typeface="Aptos"/>
              </a:defRPr>
            </a:pPr>
            <a:r>
              <a:t>restored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537192" y="5212080"/>
            <a:ext cx="201167" cy="0"/>
          </a:xfrm>
          <a:prstGeom prst="line">
            <a:avLst/>
          </a:prstGeom>
          <a:ln w="17780">
            <a:solidFill>
              <a:srgbClr val="B886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56636B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1045</Words>
  <Application>Microsoft Office PowerPoint</Application>
  <PresentationFormat>Widescreen</PresentationFormat>
  <Paragraphs>163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Cnn on different dostortions with restor without fine tuning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Khadarkevich</cp:lastModifiedBy>
  <cp:revision>5</cp:revision>
  <dcterms:created xsi:type="dcterms:W3CDTF">2013-01-27T09:14:16Z</dcterms:created>
  <dcterms:modified xsi:type="dcterms:W3CDTF">2026-07-31T07:53:17Z</dcterms:modified>
  <cp:category/>
</cp:coreProperties>
</file>