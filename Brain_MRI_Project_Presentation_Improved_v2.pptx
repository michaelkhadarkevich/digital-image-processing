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76" r:id="rId26"/>
    <p:sldId id="275" r:id="rId25"/>
    <p:sldId id="262" r:id="rId8"/>
    <p:sldId id="263" r:id="rId9"/>
    <p:sldId id="264" r:id="rId10"/>
    <p:sldId id="277" r:id="rId27"/>
    <p:sldId id="265" r:id="rId11"/>
    <p:sldId id="266" r:id="rId12"/>
    <p:sldId id="267" r:id="rId13"/>
    <p:sldId id="274" r:id="rId14"/>
    <p:sldId id="268" r:id="rId15"/>
    <p:sldId id="269" r:id="rId16"/>
    <p:sldId id="270" r:id="rId17"/>
    <p:sldId id="271" r:id="rId18"/>
    <p:sldId id="272" r:id="rId19"/>
    <p:sldId id="273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98" d="100"/>
          <a:sy n="98" d="100"/>
        </p:scale>
        <p:origin x="82" y="-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9.xml"/><Relationship Id="rId9" Type="http://schemas.openxmlformats.org/officeDocument/2006/relationships/slide" Target="slides/slide10.xml"/><Relationship Id="rId10" Type="http://schemas.openxmlformats.org/officeDocument/2006/relationships/slide" Target="slides/slide11.xml"/><Relationship Id="rId11" Type="http://schemas.openxmlformats.org/officeDocument/2006/relationships/slide" Target="slides/slide12.xml"/><Relationship Id="rId12" Type="http://schemas.openxmlformats.org/officeDocument/2006/relationships/slide" Target="slides/slide13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5" Type="http://schemas.openxmlformats.org/officeDocument/2006/relationships/slide" Target="slides/slide16.xml"/><Relationship Id="rId16" Type="http://schemas.openxmlformats.org/officeDocument/2006/relationships/slide" Target="slides/slide17.xml"/><Relationship Id="rId17" Type="http://schemas.openxmlformats.org/officeDocument/2006/relationships/slide" Target="slides/slide18.xml"/><Relationship Id="rId18" Type="http://schemas.openxmlformats.org/officeDocument/2006/relationships/slide" Target="slides/slide19.xml"/><Relationship Id="rId19" Type="http://schemas.openxmlformats.org/officeDocument/2006/relationships/slide" Target="slides/slide20.xml"/><Relationship Id="rId20" Type="http://schemas.openxmlformats.org/officeDocument/2006/relationships/slide" Target="slides/slide2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openxmlformats.org/officeDocument/2006/relationships/slide" Target="slides/slide8.xml"/><Relationship Id="rId26" Type="http://schemas.openxmlformats.org/officeDocument/2006/relationships/slide" Target="slides/slide7.xml"/><Relationship Id="rId27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jp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Relationship Id="rId9" Type="http://schemas.openxmlformats.org/officeDocument/2006/relationships/image" Target="../media/image12.png"/><Relationship Id="rId10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Relationship Id="rId7" Type="http://schemas.openxmlformats.org/officeDocument/2006/relationships/image" Target="../media/image37.png"/><Relationship Id="rId8" Type="http://schemas.openxmlformats.org/officeDocument/2006/relationships/image" Target="../media/image38.png"/><Relationship Id="rId9" Type="http://schemas.openxmlformats.org/officeDocument/2006/relationships/image" Target="../media/image39.png"/><Relationship Id="rId10" Type="http://schemas.openxmlformats.org/officeDocument/2006/relationships/image" Target="../media/image4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jpg"/><Relationship Id="rId4" Type="http://schemas.openxmlformats.org/officeDocument/2006/relationships/image" Target="../media/image22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28.jpg"/><Relationship Id="rId5" Type="http://schemas.openxmlformats.org/officeDocument/2006/relationships/image" Target="../media/image2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6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685800"/>
            <a:ext cx="6858000" cy="50292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Aptos"/>
              </a:defRPr>
            </a:pPr>
            <a:r>
              <a:t>Digital Image 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298448"/>
            <a:ext cx="5486400" cy="32004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1700" b="0">
                <a:solidFill>
                  <a:srgbClr val="DDE7E7"/>
                </a:solidFill>
                <a:latin typeface="Aptos"/>
              </a:defRPr>
            </a:pPr>
            <a:r>
              <a:t>Brain MRI Robustness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828800"/>
            <a:ext cx="5852160" cy="292608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1400" b="0">
                <a:solidFill>
                  <a:srgbClr val="C6D2D2"/>
                </a:solidFill>
                <a:latin typeface="Aptos"/>
              </a:defRPr>
            </a:pPr>
            <a:r>
              <a:t>By Michael Khadarkevich and Ranana Khava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743200"/>
            <a:ext cx="2240280" cy="914400"/>
          </a:xfrm>
          <a:prstGeom prst="roundRect">
            <a:avLst/>
          </a:prstGeom>
          <a:solidFill>
            <a:srgbClr val="FAFCFC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87552" y="2852928"/>
            <a:ext cx="1874519" cy="32004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2100" b="1">
                <a:solidFill>
                  <a:srgbClr val="2666AC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3273552"/>
            <a:ext cx="1901952" cy="22860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850" b="0">
                <a:solidFill>
                  <a:srgbClr val="56636B"/>
                </a:solidFill>
                <a:latin typeface="Aptos"/>
              </a:defRPr>
            </a:pPr>
            <a:r>
              <a:t>tasks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2743200"/>
            <a:ext cx="2240280" cy="914400"/>
          </a:xfrm>
          <a:prstGeom prst="roundRect">
            <a:avLst/>
          </a:prstGeom>
          <a:solidFill>
            <a:srgbClr val="FAFCFC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502152" y="2852928"/>
            <a:ext cx="1874519" cy="32004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2100" b="1">
                <a:solidFill>
                  <a:srgbClr val="008074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02152" y="3273552"/>
            <a:ext cx="1901952" cy="22860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850" b="0">
                <a:solidFill>
                  <a:srgbClr val="56636B"/>
                </a:solidFill>
                <a:latin typeface="Aptos"/>
              </a:defRPr>
            </a:pPr>
            <a:r>
              <a:t>datasets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52160" y="2743200"/>
            <a:ext cx="2240280" cy="914400"/>
          </a:xfrm>
          <a:prstGeom prst="roundRect">
            <a:avLst/>
          </a:prstGeom>
          <a:solidFill>
            <a:srgbClr val="FAFCFC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016752" y="2852928"/>
            <a:ext cx="1874519" cy="32004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2100" b="1">
                <a:solidFill>
                  <a:srgbClr val="B2483E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16752" y="3273552"/>
            <a:ext cx="1901952" cy="22860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850" b="0">
                <a:solidFill>
                  <a:srgbClr val="56636B"/>
                </a:solidFill>
                <a:latin typeface="Aptos"/>
              </a:defRPr>
            </a:pPr>
            <a:r>
              <a:t>distortion families</a:t>
            </a:r>
          </a:p>
        </p:txBody>
      </p:sp>
      <p:pic>
        <p:nvPicPr>
          <p:cNvPr id="14" name="Picture 13" descr="task3_yolo_basic_ex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777240"/>
            <a:ext cx="2743200" cy="2743200"/>
          </a:xfrm>
          <a:prstGeom prst="rect">
            <a:avLst/>
          </a:prstGeom>
        </p:spPr>
      </p:pic>
      <p:pic>
        <p:nvPicPr>
          <p:cNvPr id="15" name="Picture 14" descr="data1_tumor_exampl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0" y="3886200"/>
            <a:ext cx="1737360" cy="1737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22960" y="5623560"/>
            <a:ext cx="6583680" cy="32004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Aptos"/>
              </a:defRPr>
            </a:pPr>
            <a:r>
              <a:t>Clean → distorted → restored → fine-tuned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4572000" cy="256032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900" b="1">
                <a:solidFill>
                  <a:srgbClr val="008074"/>
                </a:solidFill>
                <a:latin typeface="Aptos"/>
              </a:defRPr>
            </a:pPr>
            <a:r>
              <a:t>PROJECT NOTE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8961120" cy="603504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2400" b="1">
                <a:solidFill>
                  <a:srgbClr val="182228"/>
                </a:solidFill>
                <a:latin typeface="Aptos"/>
              </a:defRPr>
            </a:pPr>
            <a:r>
              <a:t>Why this project uses brain MRI images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225296"/>
            <a:ext cx="9052560" cy="292608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1050" b="0">
                <a:solidFill>
                  <a:srgbClr val="56636B"/>
                </a:solidFill>
                <a:latin typeface="Aptos"/>
              </a:defRPr>
            </a:pPr>
            <a:r>
              <a:t>The selected data supports medical image-processing tasks better than some generic vision tasks.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347472"/>
            <a:ext cx="1920240" cy="22860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 algn="r">
              <a:defRPr sz="850" b="0">
                <a:solidFill>
                  <a:srgbClr val="56636B"/>
                </a:solidFill>
                <a:latin typeface="Aptos"/>
              </a:defRPr>
            </a:pPr>
            <a:r>
              <a:t>Brain MRI robustness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411480" cy="18288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 algn="r">
              <a:defRPr sz="800" b="0">
                <a:solidFill>
                  <a:srgbClr val="56636B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10607040" cy="33832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1560" y="2057400"/>
            <a:ext cx="1828800" cy="36576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2200" b="1">
                <a:solidFill>
                  <a:srgbClr val="008074"/>
                </a:solidFill>
                <a:latin typeface="Aptos"/>
              </a:defRPr>
            </a:pPr>
            <a:r>
              <a:t>הערה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606040"/>
            <a:ext cx="9692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82228"/>
                </a:solidFill>
                <a:latin typeface="Aptos"/>
              </a:defRPr>
            </a:pPr>
            <a:r>
              <a:t>בחרנו לעסוק בסרטן מוח משום שהדאטה מתאים למשימות של עיבוד תמונה וראייה ממוחשבת.</a:t>
            </a:r>
          </a:p>
          <a:p>
            <a:pPr>
              <a:spcAft>
                <a:spcPts val="800"/>
              </a:spcAft>
              <a:defRPr sz="1600">
                <a:solidFill>
                  <a:srgbClr val="182228"/>
                </a:solidFill>
                <a:latin typeface="Aptos"/>
              </a:defRPr>
            </a:pPr>
            <a:r>
              <a:t>בפרויקט נבדק איך עיוותים פוגעים בתמונה ובמודלים, ואיך שחזור או אימון נוסף יכולים לשפר את התוצאות.</a:t>
            </a:r>
          </a:p>
          <a:p>
            <a:pPr>
              <a:spcAft>
                <a:spcPts val="800"/>
              </a:spcAft>
              <a:defRPr sz="1600">
                <a:solidFill>
                  <a:srgbClr val="182228"/>
                </a:solidFill>
                <a:latin typeface="Aptos"/>
              </a:defRPr>
            </a:pPr>
            <a:r>
              <a:t>המטרה היא לא אבחון רפואי, אלא בדיקת עמידות של אלגוריתמים על תמונות MRI.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4572000" cy="256032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900" b="1">
                <a:solidFill>
                  <a:srgbClr val="008074"/>
                </a:solidFill>
                <a:latin typeface="Aptos"/>
              </a:defRPr>
            </a:pPr>
            <a: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8961120" cy="603504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2400" b="1">
                <a:solidFill>
                  <a:srgbClr val="182228"/>
                </a:solidFill>
                <a:latin typeface="Aptos"/>
              </a:defRPr>
            </a:pPr>
            <a:r>
              <a:t>Distortions reduce reliability, so the project measures degradation and recovery.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225296"/>
            <a:ext cx="9052560" cy="292608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1050" b="0">
                <a:solidFill>
                  <a:srgbClr val="56636B"/>
                </a:solidFill>
                <a:latin typeface="Aptos"/>
              </a:defRPr>
            </a:pPr>
            <a:r>
              <a:t>The same experiment logic is repeated across super-resolution, CNN classification, and YOLO segmentation.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347472"/>
            <a:ext cx="1920240" cy="22860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 algn="r">
              <a:defRPr sz="850" b="0">
                <a:solidFill>
                  <a:srgbClr val="56636B"/>
                </a:solidFill>
                <a:latin typeface="Aptos"/>
              </a:defRPr>
            </a:pPr>
            <a:r>
              <a:t>Brain MRI robustness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411480" cy="18288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 algn="r">
              <a:defRPr sz="800" b="0">
                <a:solidFill>
                  <a:srgbClr val="56636B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28800"/>
            <a:ext cx="3246120" cy="214884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2084831"/>
            <a:ext cx="2743200" cy="27432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1700" b="1">
                <a:solidFill>
                  <a:srgbClr val="2666AC"/>
                </a:solidFill>
                <a:latin typeface="Aptos"/>
              </a:defRPr>
            </a:pPr>
            <a:r>
              <a:t>Super-resolution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06040"/>
            <a:ext cx="2606040" cy="50292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1300" b="0">
                <a:solidFill>
                  <a:srgbClr val="182228"/>
                </a:solidFill>
                <a:latin typeface="Aptos"/>
              </a:defRPr>
            </a:pPr>
            <a:r>
              <a:t>PSNR after x2 downsampling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6280" y="1828800"/>
            <a:ext cx="3246120" cy="214884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754880" y="2084831"/>
            <a:ext cx="2743200" cy="27432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1700" b="1">
                <a:solidFill>
                  <a:srgbClr val="008074"/>
                </a:solidFill>
                <a:latin typeface="Aptos"/>
              </a:defRPr>
            </a:pPr>
            <a:r>
              <a:t>CNN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606040"/>
            <a:ext cx="2606040" cy="50292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1300" b="0">
                <a:solidFill>
                  <a:srgbClr val="182228"/>
                </a:solidFill>
                <a:latin typeface="Aptos"/>
              </a:defRPr>
            </a:pPr>
            <a:r>
              <a:t>total true percent on tumor/no-tumor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21040" y="1828800"/>
            <a:ext cx="3246120" cy="214884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549640" y="2084831"/>
            <a:ext cx="2743200" cy="27432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1700" b="1">
                <a:solidFill>
                  <a:srgbClr val="B2483E"/>
                </a:solidFill>
                <a:latin typeface="Aptos"/>
              </a:defRPr>
            </a:pPr>
            <a:r>
              <a:t>YOLO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2606040"/>
            <a:ext cx="2606040" cy="50292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1300" b="0">
                <a:solidFill>
                  <a:srgbClr val="182228"/>
                </a:solidFill>
                <a:latin typeface="Aptos"/>
              </a:defRPr>
            </a:pPr>
            <a:r>
              <a:t>mask mAP50 on tumor segmentation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800600"/>
            <a:ext cx="10332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82228"/>
                </a:solidFill>
                <a:latin typeface="Aptos"/>
              </a:defRPr>
            </a:pPr>
            <a:r>
              <a:t>Experiment path: clean baseline → distorted input → restored input → fine-tuned model when relevant.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4572000" cy="256032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900" b="1">
                <a:solidFill>
                  <a:srgbClr val="008074"/>
                </a:solidFill>
                <a:latin typeface="Aptos"/>
              </a:defRPr>
            </a:pPr>
            <a:r>
              <a:t>EXPERIMENT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8961120" cy="603504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2400" b="1">
                <a:solidFill>
                  <a:srgbClr val="182228"/>
                </a:solidFill>
                <a:latin typeface="Aptos"/>
              </a:defRPr>
            </a:pPr>
            <a:r>
              <a:t>Every task uses the same robustness question.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225296"/>
            <a:ext cx="9052560" cy="292608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1050" b="0">
                <a:solidFill>
                  <a:srgbClr val="56636B"/>
                </a:solidFill>
                <a:latin typeface="Aptos"/>
              </a:defRPr>
            </a:pPr>
            <a:r>
              <a:t>How much does distortion hurt, and which improvement helps recover performance?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347472"/>
            <a:ext cx="1920240" cy="22860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 algn="r">
              <a:defRPr sz="850" b="0">
                <a:solidFill>
                  <a:srgbClr val="56636B"/>
                </a:solidFill>
                <a:latin typeface="Aptos"/>
              </a:defRPr>
            </a:pPr>
            <a:r>
              <a:t>Brain MRI robustness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411480" cy="18288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 algn="r">
              <a:defRPr sz="800" b="0">
                <a:solidFill>
                  <a:srgbClr val="56636B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82880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82228"/>
                </a:solidFill>
                <a:latin typeface="Aptos"/>
              </a:defRPr>
            </a:pPr>
            <a:r>
              <a:t>Data 1: Kaggle tumor/no-tumor classification images.</a:t>
            </a:r>
          </a:p>
          <a:p>
            <a:pPr>
              <a:spcAft>
                <a:spcPts val="800"/>
              </a:spcAft>
              <a:defRPr sz="1500">
                <a:solidFill>
                  <a:srgbClr val="182228"/>
                </a:solidFill>
                <a:latin typeface="Aptos"/>
              </a:defRPr>
            </a:pPr>
            <a:r>
              <a:t>Data 2: MRI tumor segmentation masks converted to YOLO format.</a:t>
            </a:r>
          </a:p>
          <a:p>
            <a:pPr>
              <a:spcAft>
                <a:spcPts val="800"/>
              </a:spcAft>
              <a:defRPr sz="1500">
                <a:solidFill>
                  <a:srgbClr val="182228"/>
                </a:solidFill>
                <a:latin typeface="Aptos"/>
              </a:defRPr>
            </a:pPr>
            <a:r>
              <a:t>Distortions: gaussian noise, salt-and-pepper, gaussian blur, and YOLO brightness/contrast.</a:t>
            </a:r>
          </a:p>
          <a:p>
            <a:pPr>
              <a:spcAft>
                <a:spcPts val="800"/>
              </a:spcAft>
              <a:defRPr sz="1500">
                <a:solidFill>
                  <a:srgbClr val="182228"/>
                </a:solidFill>
                <a:latin typeface="Aptos"/>
              </a:defRPr>
            </a:pPr>
            <a:r>
              <a:t>Improvement: restoration pre-processing and fine-tuning for learning-based models.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80760" y="1828800"/>
            <a:ext cx="4937760" cy="3108960"/>
          </a:xfrm>
          <a:prstGeom prst="roundRect">
            <a:avLst/>
          </a:prstGeom>
          <a:solidFill>
            <a:srgbClr val="F5F8F8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0" y="2148840"/>
            <a:ext cx="1554480" cy="22860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1400" b="1">
                <a:solidFill>
                  <a:srgbClr val="2666AC"/>
                </a:solidFill>
                <a:latin typeface="Aptos"/>
              </a:defRPr>
            </a:pPr>
            <a:r>
              <a:t>Clean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148840"/>
            <a:ext cx="2560320" cy="22860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1300" b="0">
                <a:solidFill>
                  <a:srgbClr val="182228"/>
                </a:solidFill>
                <a:latin typeface="Aptos"/>
              </a:defRPr>
            </a:pPr>
            <a:r>
              <a:t>baseline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807208"/>
            <a:ext cx="1554480" cy="22860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1400" b="1">
                <a:solidFill>
                  <a:srgbClr val="B2483E"/>
                </a:solidFill>
                <a:latin typeface="Aptos"/>
              </a:defRPr>
            </a:pPr>
            <a:r>
              <a:t>Distorted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807208"/>
            <a:ext cx="2560320" cy="22860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1300" b="0">
                <a:solidFill>
                  <a:srgbClr val="182228"/>
                </a:solidFill>
                <a:latin typeface="Aptos"/>
              </a:defRPr>
            </a:pPr>
            <a:r>
              <a:t>degradation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465576"/>
            <a:ext cx="1554480" cy="22860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1400" b="1">
                <a:solidFill>
                  <a:srgbClr val="008074"/>
                </a:solidFill>
                <a:latin typeface="Aptos"/>
              </a:defRPr>
            </a:pPr>
            <a:r>
              <a:t>Restored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3465576"/>
            <a:ext cx="2560320" cy="22860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1300" b="0">
                <a:solidFill>
                  <a:srgbClr val="182228"/>
                </a:solidFill>
                <a:latin typeface="Aptos"/>
              </a:defRPr>
            </a:pPr>
            <a:r>
              <a:t>pre-processing recovery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4123944"/>
            <a:ext cx="1554480" cy="22860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1400" b="1">
                <a:solidFill>
                  <a:srgbClr val="B88630"/>
                </a:solidFill>
                <a:latin typeface="Aptos"/>
              </a:defRPr>
            </a:pPr>
            <a:r>
              <a:t>Fine-tuned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4123944"/>
            <a:ext cx="2560320" cy="22860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1300" b="0">
                <a:solidFill>
                  <a:srgbClr val="182228"/>
                </a:solidFill>
                <a:latin typeface="Aptos"/>
              </a:defRPr>
            </a:pPr>
            <a:r>
              <a:t>model adaptation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4572000" cy="256032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900" b="1">
                <a:solidFill>
                  <a:srgbClr val="008074"/>
                </a:solidFill>
                <a:latin typeface="Aptos"/>
              </a:defRPr>
            </a:pPr>
            <a:r>
              <a:t>DATA PREPARATION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8961120" cy="603504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2400" b="1">
                <a:solidFill>
                  <a:srgbClr val="182228"/>
                </a:solidFill>
                <a:latin typeface="Aptos"/>
              </a:defRPr>
            </a:pPr>
            <a:r>
              <a:t>Two datasets support two different outputs: class labels and masks.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225296"/>
            <a:ext cx="9052560" cy="292608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1050" b="0">
                <a:solidFill>
                  <a:srgbClr val="56636B"/>
                </a:solidFill>
                <a:latin typeface="Aptos"/>
              </a:defRPr>
            </a:pPr>
            <a:r>
              <a:t>Data 1 labels are folder names; Data 2 labels are segmentation polygons for YOLO.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347472"/>
            <a:ext cx="1920240" cy="22860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 algn="r">
              <a:defRPr sz="850" b="0">
                <a:solidFill>
                  <a:srgbClr val="56636B"/>
                </a:solidFill>
                <a:latin typeface="Aptos"/>
              </a:defRPr>
            </a:pPr>
            <a:r>
              <a:t>Brain MRI robustness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411480" cy="18288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 algn="r">
              <a:defRPr sz="800" b="0">
                <a:solidFill>
                  <a:srgbClr val="56636B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83080"/>
            <a:ext cx="3246120" cy="41148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data1_no_tumor_examp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" y="2057400"/>
            <a:ext cx="2560320" cy="2560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05840" y="4983480"/>
            <a:ext cx="2560320" cy="22860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 algn="ctr">
              <a:defRPr sz="1400" b="1">
                <a:solidFill>
                  <a:srgbClr val="182228"/>
                </a:solidFill>
                <a:latin typeface="Aptos"/>
              </a:defRPr>
            </a:pPr>
            <a:r>
              <a:t>Data 1: no tumor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1783080"/>
            <a:ext cx="3246120" cy="41148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data1_tumor_exampl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8032" y="2057400"/>
            <a:ext cx="2560320" cy="2560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00600" y="4983480"/>
            <a:ext cx="2560320" cy="22860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 algn="ctr">
              <a:defRPr sz="1400" b="1">
                <a:solidFill>
                  <a:srgbClr val="182228"/>
                </a:solidFill>
                <a:latin typeface="Aptos"/>
              </a:defRPr>
            </a:pPr>
            <a:r>
              <a:t>Data 1: tumor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5320" y="1783080"/>
            <a:ext cx="3246120" cy="41148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task3_yolo_mask_examp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3802" y="2539024"/>
            <a:ext cx="3272050" cy="19049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595360" y="4983480"/>
            <a:ext cx="2560320" cy="22860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 algn="ctr">
              <a:defRPr sz="1400" b="1">
                <a:solidFill>
                  <a:srgbClr val="182228"/>
                </a:solidFill>
                <a:latin typeface="Aptos"/>
              </a:defRPr>
            </a:pPr>
            <a:r>
              <a:t>Data 2: mask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008074"/>
                </a:solidFill>
                <a:latin typeface="Aptos"/>
              </a:defRPr>
            </a:pPr>
            <a:r>
              <a:t>SHARED DISTORTION AND RESTORATION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9326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182228"/>
                </a:solidFill>
                <a:latin typeface="Aptos"/>
              </a:defRPr>
            </a:pPr>
            <a:r>
              <a:t>Original, distorted, and restored images are compared together.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225296"/>
            <a:ext cx="9875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0">
                <a:solidFill>
                  <a:srgbClr val="56636B"/>
                </a:solidFill>
                <a:latin typeface="Aptos"/>
              </a:defRPr>
            </a:pPr>
            <a:r>
              <a:t>Each used distortion is shown with its restored result so the before/after effect is visible.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347472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56636B"/>
                </a:solidFill>
                <a:latin typeface="Aptos"/>
              </a:defRPr>
            </a:pPr>
            <a:r>
              <a:t>Brain MRI robustness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19072"/>
            <a:ext cx="2148840" cy="45262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331720"/>
            <a:ext cx="1737360" cy="1737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9808" y="461772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182228"/>
                </a:solidFill>
                <a:latin typeface="Aptos"/>
              </a:defRPr>
            </a:pPr>
            <a:r>
              <a:t>Original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4956048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0">
                <a:solidFill>
                  <a:srgbClr val="56636B"/>
                </a:solidFill>
                <a:latin typeface="Aptos"/>
              </a:defRPr>
            </a:pPr>
            <a:r>
              <a:t>clean baseline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5358384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56636B"/>
                </a:solidFill>
                <a:latin typeface="Aptos"/>
              </a:defRPr>
            </a:pPr>
            <a:r>
              <a:t>used before all distortions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80360" y="1719072"/>
            <a:ext cx="4343400" cy="214884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044952" y="1856231"/>
            <a:ext cx="397763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2666AC"/>
                </a:solidFill>
                <a:latin typeface="Aptos"/>
              </a:defRPr>
            </a:pPr>
            <a:r>
              <a:t>Gaussian noise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63240" y="2176272"/>
            <a:ext cx="1828800" cy="1325880"/>
          </a:xfrm>
          <a:prstGeom prst="roundRect">
            <a:avLst/>
          </a:prstGeom>
          <a:solidFill>
            <a:srgbClr val="F1F5F5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5166360" y="2176272"/>
            <a:ext cx="1828800" cy="1325880"/>
          </a:xfrm>
          <a:prstGeom prst="roundRect">
            <a:avLst/>
          </a:prstGeom>
          <a:solidFill>
            <a:srgbClr val="F1F5F5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7287" y="2249424"/>
            <a:ext cx="1060704" cy="1060704"/>
          </a:xfrm>
          <a:prstGeom prst="rect">
            <a:avLst/>
          </a:prstGeom>
        </p:spPr>
      </p:pic>
      <p:pic>
        <p:nvPicPr>
          <p:cNvPr id="16" name="Picture 15" descr="gaussian_noise_restor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50407" y="2249424"/>
            <a:ext cx="1060704" cy="106070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291840" y="3438144"/>
            <a:ext cx="1417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0">
                <a:solidFill>
                  <a:srgbClr val="56636B"/>
                </a:solidFill>
                <a:latin typeface="Aptos"/>
              </a:defRPr>
            </a:pPr>
            <a:r>
              <a:t>distorted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94960" y="3438144"/>
            <a:ext cx="1417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0">
                <a:solidFill>
                  <a:srgbClr val="56636B"/>
                </a:solidFill>
                <a:latin typeface="Aptos"/>
              </a:defRPr>
            </a:pPr>
            <a:r>
              <a:t>restored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919472" y="2834639"/>
            <a:ext cx="201168" cy="0"/>
          </a:xfrm>
          <a:prstGeom prst="line">
            <a:avLst/>
          </a:prstGeom>
          <a:ln w="17780">
            <a:solidFill>
              <a:srgbClr val="2666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498079" y="1719072"/>
            <a:ext cx="4343400" cy="214884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662671" y="1856231"/>
            <a:ext cx="397763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B2483E"/>
                </a:solidFill>
                <a:latin typeface="Aptos"/>
              </a:defRPr>
            </a:pPr>
            <a:r>
              <a:t>Salt-and-pepper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80959" y="2176272"/>
            <a:ext cx="1828800" cy="1325880"/>
          </a:xfrm>
          <a:prstGeom prst="roundRect">
            <a:avLst/>
          </a:prstGeom>
          <a:solidFill>
            <a:srgbClr val="F1F5F5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784080" y="2176272"/>
            <a:ext cx="1828800" cy="1325880"/>
          </a:xfrm>
          <a:prstGeom prst="roundRect">
            <a:avLst/>
          </a:prstGeom>
          <a:solidFill>
            <a:srgbClr val="F1F5F5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5008" y="2249424"/>
            <a:ext cx="1060704" cy="1060704"/>
          </a:xfrm>
          <a:prstGeom prst="rect">
            <a:avLst/>
          </a:prstGeom>
        </p:spPr>
      </p:pic>
      <p:pic>
        <p:nvPicPr>
          <p:cNvPr id="25" name="Picture 24" descr="salt_and_pepper_restor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68128" y="2249424"/>
            <a:ext cx="1060704" cy="106070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909559" y="3438144"/>
            <a:ext cx="1417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0">
                <a:solidFill>
                  <a:srgbClr val="56636B"/>
                </a:solidFill>
                <a:latin typeface="Aptos"/>
              </a:defRPr>
            </a:pPr>
            <a:r>
              <a:t>distorted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12680" y="3438144"/>
            <a:ext cx="1417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0">
                <a:solidFill>
                  <a:srgbClr val="56636B"/>
                </a:solidFill>
                <a:latin typeface="Aptos"/>
              </a:defRPr>
            </a:pPr>
            <a:r>
              <a:t>restored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537192" y="2834639"/>
            <a:ext cx="201167" cy="0"/>
          </a:xfrm>
          <a:prstGeom prst="line">
            <a:avLst/>
          </a:prstGeom>
          <a:ln w="17780">
            <a:solidFill>
              <a:srgbClr val="B248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80360" y="4096512"/>
            <a:ext cx="4343400" cy="214884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044952" y="4233672"/>
            <a:ext cx="397763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008074"/>
                </a:solidFill>
                <a:latin typeface="Aptos"/>
              </a:defRPr>
            </a:pPr>
            <a:r>
              <a:t>Gaussian blur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063240" y="4553712"/>
            <a:ext cx="1828800" cy="1325880"/>
          </a:xfrm>
          <a:prstGeom prst="roundRect">
            <a:avLst/>
          </a:prstGeom>
          <a:solidFill>
            <a:srgbClr val="F1F5F5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5166360" y="4553712"/>
            <a:ext cx="1828800" cy="1325880"/>
          </a:xfrm>
          <a:prstGeom prst="roundRect">
            <a:avLst/>
          </a:prstGeom>
          <a:solidFill>
            <a:srgbClr val="F1F5F5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47287" y="4626864"/>
            <a:ext cx="1060704" cy="1060704"/>
          </a:xfrm>
          <a:prstGeom prst="rect">
            <a:avLst/>
          </a:prstGeom>
        </p:spPr>
      </p:pic>
      <p:pic>
        <p:nvPicPr>
          <p:cNvPr id="34" name="Picture 33" descr="gaussian_blur_restor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50407" y="4626864"/>
            <a:ext cx="1060704" cy="106070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3291840" y="5815584"/>
            <a:ext cx="1417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0">
                <a:solidFill>
                  <a:srgbClr val="56636B"/>
                </a:solidFill>
                <a:latin typeface="Aptos"/>
              </a:defRPr>
            </a:pPr>
            <a:r>
              <a:t>distorted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94960" y="5815584"/>
            <a:ext cx="1417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0">
                <a:solidFill>
                  <a:srgbClr val="56636B"/>
                </a:solidFill>
                <a:latin typeface="Aptos"/>
              </a:defRPr>
            </a:pPr>
            <a:r>
              <a:t>restored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4919472" y="5212080"/>
            <a:ext cx="201168" cy="0"/>
          </a:xfrm>
          <a:prstGeom prst="line">
            <a:avLst/>
          </a:prstGeom>
          <a:ln w="17780">
            <a:solidFill>
              <a:srgbClr val="0080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7498079" y="4096512"/>
            <a:ext cx="4343400" cy="214884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662671" y="4233672"/>
            <a:ext cx="397763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B88630"/>
                </a:solidFill>
                <a:latin typeface="Aptos"/>
              </a:defRPr>
            </a:pPr>
            <a:r>
              <a:t>Brightness / contrast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680959" y="4553712"/>
            <a:ext cx="1828800" cy="1325880"/>
          </a:xfrm>
          <a:prstGeom prst="roundRect">
            <a:avLst/>
          </a:prstGeom>
          <a:solidFill>
            <a:srgbClr val="F1F5F5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9784080" y="4553712"/>
            <a:ext cx="1828800" cy="1325880"/>
          </a:xfrm>
          <a:prstGeom prst="roundRect">
            <a:avLst/>
          </a:prstGeom>
          <a:solidFill>
            <a:srgbClr val="F1F5F5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65008" y="4626864"/>
            <a:ext cx="1060704" cy="1060704"/>
          </a:xfrm>
          <a:prstGeom prst="rect">
            <a:avLst/>
          </a:prstGeom>
        </p:spPr>
      </p:pic>
      <p:pic>
        <p:nvPicPr>
          <p:cNvPr id="43" name="Picture 42" descr="brightness_contrast_restor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68128" y="4626864"/>
            <a:ext cx="1060704" cy="1060704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7909559" y="5815584"/>
            <a:ext cx="1417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0">
                <a:solidFill>
                  <a:srgbClr val="56636B"/>
                </a:solidFill>
                <a:latin typeface="Aptos"/>
              </a:defRPr>
            </a:pPr>
            <a:r>
              <a:t>distorted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12680" y="5815584"/>
            <a:ext cx="1417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0">
                <a:solidFill>
                  <a:srgbClr val="56636B"/>
                </a:solidFill>
                <a:latin typeface="Aptos"/>
              </a:defRPr>
            </a:pPr>
            <a:r>
              <a:t>restored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9537192" y="5212080"/>
            <a:ext cx="201167" cy="0"/>
          </a:xfrm>
          <a:prstGeom prst="line">
            <a:avLst/>
          </a:prstGeom>
          <a:ln w="17780">
            <a:solidFill>
              <a:srgbClr val="B886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11292840" y="6446520"/>
            <a:ext cx="411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6636B"/>
                </a:solidFill>
                <a:latin typeface="Aptos"/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008074"/>
                </a:solidFill>
                <a:latin typeface="Aptos"/>
              </a:defRPr>
            </a:pPr>
            <a:r>
              <a:t>ADDITIONAL DISTORTIONS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97840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182228"/>
                </a:solidFill>
                <a:latin typeface="Aptos"/>
              </a:defRPr>
            </a:pPr>
            <a:r>
              <a:t>Original, distorted, and restored images for the other distortions.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225296"/>
            <a:ext cx="10058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0">
                <a:solidFill>
                  <a:srgbClr val="56636B"/>
                </a:solidFill>
                <a:latin typeface="Aptos"/>
              </a:defRPr>
            </a:pPr>
            <a:r>
              <a:t>These methods were also implemented in the distortion/restoration pipeline and are shown with the same before/after structure as slide 6.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347472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56636B"/>
                </a:solidFill>
                <a:latin typeface="Aptos"/>
              </a:defRPr>
            </a:pPr>
            <a:r>
              <a:t>Brain MRI robustness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19072"/>
            <a:ext cx="2148840" cy="45262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331720"/>
            <a:ext cx="1737360" cy="1737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9808" y="461772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182228"/>
                </a:solidFill>
                <a:latin typeface="Aptos"/>
              </a:defRPr>
            </a:pPr>
            <a:r>
              <a:t>Original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4956048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0">
                <a:solidFill>
                  <a:srgbClr val="56636B"/>
                </a:solidFill>
                <a:latin typeface="Aptos"/>
              </a:defRPr>
            </a:pPr>
            <a:r>
              <a:t>clean baseline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5358384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56636B"/>
                </a:solidFill>
                <a:latin typeface="Aptos"/>
              </a:defRPr>
            </a:pPr>
            <a:r>
              <a:t>used before all distortions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80360" y="1719072"/>
            <a:ext cx="4343400" cy="214884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44952" y="1856231"/>
            <a:ext cx="397763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2666AC"/>
                </a:solidFill>
                <a:latin typeface="Aptos"/>
              </a:defRPr>
            </a:pPr>
            <a:r>
              <a:t>Rotation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63240" y="2176272"/>
            <a:ext cx="1828800" cy="1325880"/>
          </a:xfrm>
          <a:prstGeom prst="roundRect">
            <a:avLst/>
          </a:prstGeom>
          <a:solidFill>
            <a:srgbClr val="F1F5F5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66360" y="2176272"/>
            <a:ext cx="1828800" cy="1325880"/>
          </a:xfrm>
          <a:prstGeom prst="roundRect">
            <a:avLst/>
          </a:prstGeom>
          <a:solidFill>
            <a:srgbClr val="F1F5F5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rot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7287" y="2249424"/>
            <a:ext cx="1060704" cy="1060704"/>
          </a:xfrm>
          <a:prstGeom prst="rect">
            <a:avLst/>
          </a:prstGeom>
        </p:spPr>
      </p:pic>
      <p:pic>
        <p:nvPicPr>
          <p:cNvPr id="16" name="Picture 15" descr="rotation_restor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50407" y="2249424"/>
            <a:ext cx="1060704" cy="106070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291840" y="3438144"/>
            <a:ext cx="1417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0">
                <a:solidFill>
                  <a:srgbClr val="56636B"/>
                </a:solidFill>
                <a:latin typeface="Aptos"/>
              </a:defRPr>
            </a:pPr>
            <a:r>
              <a:t>distorted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94960" y="3438144"/>
            <a:ext cx="1417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0">
                <a:solidFill>
                  <a:srgbClr val="56636B"/>
                </a:solidFill>
                <a:latin typeface="Aptos"/>
              </a:defRPr>
            </a:pPr>
            <a:r>
              <a:t>restored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919472" y="2834639"/>
            <a:ext cx="201168" cy="0"/>
          </a:xfrm>
          <a:prstGeom prst="line">
            <a:avLst/>
          </a:prstGeom>
          <a:ln w="17780">
            <a:solidFill>
              <a:srgbClr val="2666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498079" y="1719072"/>
            <a:ext cx="4343400" cy="214884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62671" y="1856231"/>
            <a:ext cx="397763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69559E"/>
                </a:solidFill>
                <a:latin typeface="Aptos"/>
              </a:defRPr>
            </a:pPr>
            <a:r>
              <a:t>Perspective warp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80959" y="2176272"/>
            <a:ext cx="1828800" cy="1325880"/>
          </a:xfrm>
          <a:prstGeom prst="roundRect">
            <a:avLst/>
          </a:prstGeom>
          <a:solidFill>
            <a:srgbClr val="F1F5F5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784080" y="2176272"/>
            <a:ext cx="1828800" cy="1325880"/>
          </a:xfrm>
          <a:prstGeom prst="roundRect">
            <a:avLst/>
          </a:prstGeom>
          <a:solidFill>
            <a:srgbClr val="F1F5F5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perspective_war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5008" y="2249424"/>
            <a:ext cx="1060704" cy="1060704"/>
          </a:xfrm>
          <a:prstGeom prst="rect">
            <a:avLst/>
          </a:prstGeom>
        </p:spPr>
      </p:pic>
      <p:pic>
        <p:nvPicPr>
          <p:cNvPr id="25" name="Picture 24" descr="perspective_warp_restor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68128" y="2249424"/>
            <a:ext cx="1060704" cy="106070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909559" y="3438144"/>
            <a:ext cx="1417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0">
                <a:solidFill>
                  <a:srgbClr val="56636B"/>
                </a:solidFill>
                <a:latin typeface="Aptos"/>
              </a:defRPr>
            </a:pPr>
            <a:r>
              <a:t>distorted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12680" y="3438144"/>
            <a:ext cx="1417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0">
                <a:solidFill>
                  <a:srgbClr val="56636B"/>
                </a:solidFill>
                <a:latin typeface="Aptos"/>
              </a:defRPr>
            </a:pPr>
            <a:r>
              <a:t>restored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537192" y="2834639"/>
            <a:ext cx="201167" cy="0"/>
          </a:xfrm>
          <a:prstGeom prst="line">
            <a:avLst/>
          </a:prstGeom>
          <a:ln w="17780">
            <a:solidFill>
              <a:srgbClr val="6955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80360" y="4096512"/>
            <a:ext cx="4343400" cy="214884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44952" y="4233672"/>
            <a:ext cx="397763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B2483E"/>
                </a:solidFill>
                <a:latin typeface="Aptos"/>
              </a:defRPr>
            </a:pPr>
            <a:r>
              <a:t>Barrel distortion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063240" y="4553712"/>
            <a:ext cx="1828800" cy="1325880"/>
          </a:xfrm>
          <a:prstGeom prst="roundRect">
            <a:avLst/>
          </a:prstGeom>
          <a:solidFill>
            <a:srgbClr val="F1F5F5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166360" y="4553712"/>
            <a:ext cx="1828800" cy="1325880"/>
          </a:xfrm>
          <a:prstGeom prst="roundRect">
            <a:avLst/>
          </a:prstGeom>
          <a:solidFill>
            <a:srgbClr val="F1F5F5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barrel_distorti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47287" y="4626864"/>
            <a:ext cx="1060704" cy="1060704"/>
          </a:xfrm>
          <a:prstGeom prst="rect">
            <a:avLst/>
          </a:prstGeom>
        </p:spPr>
      </p:pic>
      <p:pic>
        <p:nvPicPr>
          <p:cNvPr id="34" name="Picture 33" descr="barrel_distortion_restor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50407" y="4626864"/>
            <a:ext cx="1060704" cy="106070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3291840" y="5815584"/>
            <a:ext cx="1417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0">
                <a:solidFill>
                  <a:srgbClr val="56636B"/>
                </a:solidFill>
                <a:latin typeface="Aptos"/>
              </a:defRPr>
            </a:pPr>
            <a:r>
              <a:t>distorted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94960" y="5815584"/>
            <a:ext cx="1417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0">
                <a:solidFill>
                  <a:srgbClr val="56636B"/>
                </a:solidFill>
                <a:latin typeface="Aptos"/>
              </a:defRPr>
            </a:pPr>
            <a:r>
              <a:t>restored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4919472" y="5212080"/>
            <a:ext cx="201168" cy="0"/>
          </a:xfrm>
          <a:prstGeom prst="line">
            <a:avLst/>
          </a:prstGeom>
          <a:ln w="17780">
            <a:solidFill>
              <a:srgbClr val="B248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7498079" y="4096512"/>
            <a:ext cx="4343400" cy="214884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662671" y="4233672"/>
            <a:ext cx="397763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B88630"/>
                </a:solidFill>
                <a:latin typeface="Aptos"/>
              </a:defRPr>
            </a:pPr>
            <a:r>
              <a:t>Pixelation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680959" y="4553712"/>
            <a:ext cx="1828800" cy="1325880"/>
          </a:xfrm>
          <a:prstGeom prst="roundRect">
            <a:avLst/>
          </a:prstGeom>
          <a:solidFill>
            <a:srgbClr val="F1F5F5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9784080" y="4553712"/>
            <a:ext cx="1828800" cy="1325880"/>
          </a:xfrm>
          <a:prstGeom prst="roundRect">
            <a:avLst/>
          </a:prstGeom>
          <a:solidFill>
            <a:srgbClr val="F1F5F5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pixelatio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65008" y="4626864"/>
            <a:ext cx="1060704" cy="1060704"/>
          </a:xfrm>
          <a:prstGeom prst="rect">
            <a:avLst/>
          </a:prstGeom>
        </p:spPr>
      </p:pic>
      <p:pic>
        <p:nvPicPr>
          <p:cNvPr id="43" name="Picture 42" descr="pixelation_restor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68128" y="4626864"/>
            <a:ext cx="1060704" cy="1060704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7909559" y="5815584"/>
            <a:ext cx="1417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0">
                <a:solidFill>
                  <a:srgbClr val="56636B"/>
                </a:solidFill>
                <a:latin typeface="Aptos"/>
              </a:defRPr>
            </a:pPr>
            <a:r>
              <a:t>distorted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12680" y="5815584"/>
            <a:ext cx="1417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0">
                <a:solidFill>
                  <a:srgbClr val="56636B"/>
                </a:solidFill>
                <a:latin typeface="Aptos"/>
              </a:defRPr>
            </a:pPr>
            <a:r>
              <a:t>restored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9537192" y="5212080"/>
            <a:ext cx="201167" cy="0"/>
          </a:xfrm>
          <a:prstGeom prst="line">
            <a:avLst/>
          </a:prstGeom>
          <a:ln w="17780">
            <a:solidFill>
              <a:srgbClr val="B886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11292840" y="6446520"/>
            <a:ext cx="411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6636B"/>
                </a:solidFill>
                <a:latin typeface="Aptos"/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008074"/>
                </a:solidFill>
                <a:latin typeface="Aptos"/>
              </a:defRPr>
            </a:pPr>
            <a:r>
              <a:t>RESTORATION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8961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82228"/>
                </a:solidFill>
                <a:latin typeface="Aptos"/>
              </a:defRPr>
            </a:pPr>
            <a:r>
              <a:t>How the restorations work after distortion.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225296"/>
            <a:ext cx="9875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0">
                <a:solidFill>
                  <a:srgbClr val="56636B"/>
                </a:solidFill>
                <a:latin typeface="Aptos"/>
              </a:defRPr>
            </a:pPr>
            <a:r>
              <a:t>Each restoration is a simple image-processing step that tries to recover useful MRI structure before measuring the task.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347472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56636B"/>
                </a:solidFill>
                <a:latin typeface="Aptos"/>
              </a:defRPr>
            </a:pPr>
            <a:r>
              <a:t>Brain MRI robustness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5166360" cy="19659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947672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666AC"/>
                </a:solidFill>
                <a:latin typeface="Aptos"/>
              </a:defRPr>
            </a:pPr>
            <a:r>
              <a:t>Gaussian noise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313432"/>
            <a:ext cx="4617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0">
                <a:solidFill>
                  <a:srgbClr val="182228"/>
                </a:solidFill>
                <a:latin typeface="Aptos"/>
              </a:defRPr>
            </a:pPr>
            <a:r>
              <a:t>Light Gaussian smoothing reduces random pixel noise, then unsharp masking brings edges back.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3026664"/>
            <a:ext cx="1554480" cy="384048"/>
          </a:xfrm>
          <a:prstGeom prst="roundRect">
            <a:avLst/>
          </a:prstGeom>
          <a:solidFill>
            <a:srgbClr val="F1F5F5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27832" y="3026664"/>
            <a:ext cx="1554480" cy="384048"/>
          </a:xfrm>
          <a:prstGeom prst="roundRect">
            <a:avLst/>
          </a:prstGeom>
          <a:solidFill>
            <a:srgbClr val="F1F5F5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118104"/>
            <a:ext cx="13716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>
                <a:solidFill>
                  <a:srgbClr val="182228"/>
                </a:solidFill>
                <a:latin typeface="Aptos"/>
              </a:defRPr>
            </a:pPr>
            <a:r>
              <a:t>smooth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19272" y="3118104"/>
            <a:ext cx="13716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>
                <a:solidFill>
                  <a:srgbClr val="182228"/>
                </a:solidFill>
                <a:latin typeface="Aptos"/>
              </a:defRPr>
            </a:pPr>
            <a:r>
              <a:t>sharpen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606040" y="3218688"/>
            <a:ext cx="548640" cy="0"/>
          </a:xfrm>
          <a:prstGeom prst="line">
            <a:avLst/>
          </a:prstGeom>
          <a:ln w="20320">
            <a:solidFill>
              <a:srgbClr val="2666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263640" y="1783080"/>
            <a:ext cx="5166360" cy="19659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4807" y="1947672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B2483E"/>
                </a:solidFill>
                <a:latin typeface="Aptos"/>
              </a:defRPr>
            </a:pPr>
            <a:r>
              <a:t>Salt-and-pepper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4807" y="2313432"/>
            <a:ext cx="4617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0">
                <a:solidFill>
                  <a:srgbClr val="182228"/>
                </a:solidFill>
                <a:latin typeface="Aptos"/>
              </a:defRPr>
            </a:pPr>
            <a:r>
              <a:t>A median filter replaces isolated black/white pixels using nearby values while preserving edges.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79" y="3026664"/>
            <a:ext cx="1554480" cy="384048"/>
          </a:xfrm>
          <a:prstGeom prst="roundRect">
            <a:avLst/>
          </a:prstGeom>
          <a:solidFill>
            <a:srgbClr val="F1F5F5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05672" y="3026664"/>
            <a:ext cx="1554480" cy="384048"/>
          </a:xfrm>
          <a:prstGeom prst="roundRect">
            <a:avLst/>
          </a:prstGeom>
          <a:solidFill>
            <a:srgbClr val="F1F5F5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0" y="3118104"/>
            <a:ext cx="13716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>
                <a:solidFill>
                  <a:srgbClr val="182228"/>
                </a:solidFill>
                <a:latin typeface="Aptos"/>
              </a:defRPr>
            </a:pPr>
            <a:r>
              <a:t>median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97112" y="3118104"/>
            <a:ext cx="13716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>
                <a:solidFill>
                  <a:srgbClr val="182228"/>
                </a:solidFill>
                <a:latin typeface="Aptos"/>
              </a:defRPr>
            </a:pPr>
            <a:r>
              <a:t>remove specks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183879" y="3218688"/>
            <a:ext cx="548641" cy="0"/>
          </a:xfrm>
          <a:prstGeom prst="line">
            <a:avLst/>
          </a:prstGeom>
          <a:ln w="20320">
            <a:solidFill>
              <a:srgbClr val="B248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85800" y="4096512"/>
            <a:ext cx="5166360" cy="19659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4261104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08074"/>
                </a:solidFill>
                <a:latin typeface="Aptos"/>
              </a:defRPr>
            </a:pPr>
            <a:r>
              <a:t>Gaussian blur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" y="4626864"/>
            <a:ext cx="4617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0">
                <a:solidFill>
                  <a:srgbClr val="182228"/>
                </a:solidFill>
                <a:latin typeface="Aptos"/>
              </a:defRPr>
            </a:pPr>
            <a:r>
              <a:t>Unsharp masking boosts local contrast so softened edges become clearer again.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5840" y="5340096"/>
            <a:ext cx="1554480" cy="384048"/>
          </a:xfrm>
          <a:prstGeom prst="roundRect">
            <a:avLst/>
          </a:prstGeom>
          <a:solidFill>
            <a:srgbClr val="F1F5F5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227832" y="5340096"/>
            <a:ext cx="1554480" cy="384048"/>
          </a:xfrm>
          <a:prstGeom prst="roundRect">
            <a:avLst/>
          </a:prstGeom>
          <a:solidFill>
            <a:srgbClr val="F1F5F5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97280" y="5431536"/>
            <a:ext cx="13716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>
                <a:solidFill>
                  <a:srgbClr val="182228"/>
                </a:solidFill>
                <a:latin typeface="Aptos"/>
              </a:defRPr>
            </a:pPr>
            <a:r>
              <a:t>edge boost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19272" y="5431536"/>
            <a:ext cx="13716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>
                <a:solidFill>
                  <a:srgbClr val="182228"/>
                </a:solidFill>
                <a:latin typeface="Aptos"/>
              </a:defRPr>
            </a:pPr>
            <a:r>
              <a:t>sharpen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606040" y="5532120"/>
            <a:ext cx="548640" cy="0"/>
          </a:xfrm>
          <a:prstGeom prst="line">
            <a:avLst/>
          </a:prstGeom>
          <a:ln w="20320">
            <a:solidFill>
              <a:srgbClr val="0080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6263640" y="4096512"/>
            <a:ext cx="5166360" cy="19659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64807" y="4261104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B88630"/>
                </a:solidFill>
                <a:latin typeface="Aptos"/>
              </a:defRPr>
            </a:pPr>
            <a:r>
              <a:t>Brightness / contrast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64807" y="4626864"/>
            <a:ext cx="4617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0">
                <a:solidFill>
                  <a:srgbClr val="182228"/>
                </a:solidFill>
                <a:latin typeface="Aptos"/>
              </a:defRPr>
            </a:pPr>
            <a:r>
              <a:t>Autocontrast spreads useful intensities, then contrast normalization brings the image back to a stable range.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79" y="5340096"/>
            <a:ext cx="1554480" cy="384048"/>
          </a:xfrm>
          <a:prstGeom prst="roundRect">
            <a:avLst/>
          </a:prstGeom>
          <a:solidFill>
            <a:srgbClr val="F1F5F5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805672" y="5340096"/>
            <a:ext cx="1554480" cy="384048"/>
          </a:xfrm>
          <a:prstGeom prst="roundRect">
            <a:avLst/>
          </a:prstGeom>
          <a:solidFill>
            <a:srgbClr val="F1F5F5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5120" y="5431536"/>
            <a:ext cx="13716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>
                <a:solidFill>
                  <a:srgbClr val="182228"/>
                </a:solidFill>
                <a:latin typeface="Aptos"/>
              </a:defRPr>
            </a:pPr>
            <a:r>
              <a:t>normalize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97112" y="5431536"/>
            <a:ext cx="13716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>
                <a:solidFill>
                  <a:srgbClr val="182228"/>
                </a:solidFill>
                <a:latin typeface="Aptos"/>
              </a:defRPr>
            </a:pPr>
            <a:r>
              <a:t>rebalance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183879" y="5532120"/>
            <a:ext cx="548641" cy="0"/>
          </a:xfrm>
          <a:prstGeom prst="line">
            <a:avLst/>
          </a:prstGeom>
          <a:ln w="20320">
            <a:solidFill>
              <a:srgbClr val="B886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1292840" y="6446520"/>
            <a:ext cx="411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6636B"/>
                </a:solidFill>
                <a:latin typeface="Aptos"/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6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685800"/>
            <a:ext cx="2011680" cy="32004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1500" b="1">
                <a:solidFill>
                  <a:srgbClr val="2666AC"/>
                </a:solidFill>
                <a:latin typeface="Aptos"/>
              </a:defRPr>
            </a:pPr>
            <a:r>
              <a:t>Task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88720"/>
            <a:ext cx="8046720" cy="68580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ptos"/>
              </a:defRPr>
            </a:pPr>
            <a:r>
              <a:t>Super-resolution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13232" y="2148840"/>
            <a:ext cx="10259568" cy="0"/>
          </a:xfrm>
          <a:prstGeom prst="line">
            <a:avLst/>
          </a:prstGeom>
          <a:ln w="25400">
            <a:solidFill>
              <a:srgbClr val="2666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31520" y="2514600"/>
            <a:ext cx="7863840" cy="54864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1700" b="0">
                <a:solidFill>
                  <a:srgbClr val="E0E8E8"/>
                </a:solidFill>
                <a:latin typeface="Aptos"/>
              </a:defRPr>
            </a:pPr>
            <a:r>
              <a:t>Downsample x2, reconstruct, and measure image fidelity with PSNR.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4572000" cy="256032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900" b="1">
                <a:solidFill>
                  <a:srgbClr val="008074"/>
                </a:solidFill>
                <a:latin typeface="Aptos"/>
              </a:defRPr>
            </a:pPr>
            <a:r>
              <a:t>TASK 1 | CLEAN SUPER-RESOLUTION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8961120" cy="603504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2400" b="1">
                <a:solidFill>
                  <a:srgbClr val="182228"/>
                </a:solidFill>
                <a:latin typeface="Aptos"/>
              </a:defRPr>
            </a:pPr>
            <a:r>
              <a:t>Lanczos gives the strongest clean PSNR on the selected MRI image.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225296"/>
            <a:ext cx="9052560" cy="292608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1050" b="0">
                <a:solidFill>
                  <a:srgbClr val="56636B"/>
                </a:solidFill>
                <a:latin typeface="Aptos"/>
              </a:defRPr>
            </a:pPr>
            <a:r>
              <a:t>Sharpened_lanczos is used in the SNR/level experiments to compare distorted and restored images.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347472"/>
            <a:ext cx="1920240" cy="22860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 algn="r">
              <a:defRPr sz="850" b="0">
                <a:solidFill>
                  <a:srgbClr val="56636B"/>
                </a:solidFill>
                <a:latin typeface="Aptos"/>
              </a:defRPr>
            </a:pPr>
            <a:r>
              <a:t>Brain MRI robustness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411480" cy="18288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 algn="r">
              <a:defRPr sz="800" b="0">
                <a:solidFill>
                  <a:srgbClr val="56636B"/>
                </a:solidFill>
                <a:latin typeface="Aptos"/>
              </a:defRPr>
            </a:pPr>
            <a:r>
              <a:t>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645920"/>
            <a:ext cx="6629400" cy="443484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6DE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super_resolution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7231" y="1645920"/>
            <a:ext cx="4223657" cy="44348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635240" y="1874519"/>
            <a:ext cx="2240280" cy="914400"/>
          </a:xfrm>
          <a:prstGeom prst="roundRect">
            <a:avLst/>
          </a:prstGeom>
          <a:solidFill>
            <a:srgbClr val="FAFCFC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99831" y="1984248"/>
            <a:ext cx="1874519" cy="32004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2100" b="1">
                <a:solidFill>
                  <a:srgbClr val="2666AC"/>
                </a:solidFill>
                <a:latin typeface="Aptos"/>
              </a:defRPr>
            </a:pPr>
            <a:r>
              <a:t>29.62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99831" y="2404872"/>
            <a:ext cx="1901952" cy="22860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850" b="0">
                <a:solidFill>
                  <a:srgbClr val="56636B"/>
                </a:solidFill>
                <a:latin typeface="Aptos"/>
              </a:defRPr>
            </a:pPr>
            <a:r>
              <a:t>Best clean PSNR: Lanczos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35240" y="2971800"/>
            <a:ext cx="2240280" cy="914400"/>
          </a:xfrm>
          <a:prstGeom prst="roundRect">
            <a:avLst/>
          </a:prstGeom>
          <a:solidFill>
            <a:srgbClr val="FAFCFC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99831" y="3081528"/>
            <a:ext cx="1874519" cy="32004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2100" b="1">
                <a:solidFill>
                  <a:srgbClr val="008074"/>
                </a:solidFill>
                <a:latin typeface="Aptos"/>
              </a:defRPr>
            </a:pPr>
            <a:r>
              <a:t>26.87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99831" y="3502152"/>
            <a:ext cx="1901952" cy="22860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850" b="0">
                <a:solidFill>
                  <a:srgbClr val="56636B"/>
                </a:solidFill>
                <a:latin typeface="Aptos"/>
              </a:defRPr>
            </a:pPr>
            <a:r>
              <a:t>Sharpened_lanczos PSNR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35240" y="4069080"/>
            <a:ext cx="2240280" cy="914400"/>
          </a:xfrm>
          <a:prstGeom prst="roundRect">
            <a:avLst/>
          </a:prstGeom>
          <a:solidFill>
            <a:srgbClr val="FAFCFC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99831" y="4178808"/>
            <a:ext cx="1874519" cy="32004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2100" b="1">
                <a:solidFill>
                  <a:srgbClr val="B88630"/>
                </a:solidFill>
                <a:latin typeface="Aptos"/>
              </a:defRPr>
            </a:pPr>
            <a:r>
              <a:t>98.38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99831" y="4599432"/>
            <a:ext cx="1901952" cy="22860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850" b="0">
                <a:solidFill>
                  <a:srgbClr val="56636B"/>
                </a:solidFill>
                <a:latin typeface="Aptos"/>
              </a:defRPr>
            </a:pPr>
            <a:r>
              <a:t>Best reconstruction score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4572000" cy="256032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900" b="1">
                <a:solidFill>
                  <a:srgbClr val="008074"/>
                </a:solidFill>
                <a:latin typeface="Aptos"/>
              </a:defRPr>
            </a:pPr>
            <a:r>
              <a:t>TASK 1 | DISTORTED SUPER-RESOLUTION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8961120" cy="603504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2400" b="1">
                <a:solidFill>
                  <a:srgbClr val="182228"/>
                </a:solidFill>
                <a:latin typeface="Aptos"/>
              </a:defRPr>
            </a:pPr>
            <a:r>
              <a:t>Restored inputs usually recover PSNR before sharpened_lanczos reconstruction.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225296"/>
            <a:ext cx="9052560" cy="292608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1050" b="0">
                <a:solidFill>
                  <a:srgbClr val="56636B"/>
                </a:solidFill>
                <a:latin typeface="Aptos"/>
              </a:defRPr>
            </a:pPr>
            <a:r>
              <a:t>Each graph includes a dashed clean baseline.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347472"/>
            <a:ext cx="1920240" cy="22860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 algn="r">
              <a:defRPr sz="850" b="0">
                <a:solidFill>
                  <a:srgbClr val="56636B"/>
                </a:solidFill>
                <a:latin typeface="Aptos"/>
              </a:defRPr>
            </a:pPr>
            <a:r>
              <a:t>Brain MRI robustness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411480" cy="18288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 algn="r">
              <a:defRPr sz="800" b="0">
                <a:solidFill>
                  <a:srgbClr val="56636B"/>
                </a:solidFill>
                <a:latin typeface="Aptos"/>
              </a:defRPr>
            </a:pPr>
            <a:r>
              <a:t>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08760"/>
            <a:ext cx="3657600" cy="22402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6DE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gaussian_noise_snr_psnr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12900"/>
            <a:ext cx="3657600" cy="2032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251960" y="1508760"/>
            <a:ext cx="3657600" cy="22402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6DE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salt_and_pepper_density_psnr_grap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1612900"/>
            <a:ext cx="3657600" cy="20320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001000" y="1508760"/>
            <a:ext cx="3657600" cy="22402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6DE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gaussian_blur_sigma_psnr_grap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1612900"/>
            <a:ext cx="3657600" cy="2032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68680" y="4136658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82228"/>
                </a:solidFill>
                <a:latin typeface="Aptos"/>
              </a:defRPr>
            </a:pPr>
            <a:r>
              <a:rPr dirty="0"/>
              <a:t>Main metric: PSNR. Restoration helps most when noise can be reduced without destroying structure. Severe salt-and-pepper is the hardest setting.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83512F5-C7CB-89E4-B85E-1DC52C38B301}"/>
              </a:ext>
            </a:extLst>
          </p:cNvPr>
          <p:cNvSpPr txBox="1"/>
          <p:nvPr/>
        </p:nvSpPr>
        <p:spPr>
          <a:xfrm>
            <a:off x="1376885" y="4606558"/>
            <a:ext cx="920163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e-IL" dirty="0"/>
              <a:t>האהרה : בגלל טיב המשימה של הסופר </a:t>
            </a:r>
            <a:r>
              <a:rPr lang="he-IL" dirty="0" err="1"/>
              <a:t>רזלוציה</a:t>
            </a:r>
            <a:r>
              <a:rPr lang="he-IL" dirty="0"/>
              <a:t> אין היגיון בהשוואת התוצר הסופי לעומת התמונה המקורית כי הרעש משפיע באופן שונה על כל </a:t>
            </a:r>
            <a:r>
              <a:rPr lang="he-IL" dirty="0" err="1"/>
              <a:t>ץמונה</a:t>
            </a:r>
            <a:r>
              <a:rPr lang="he-IL" dirty="0"/>
              <a:t>, לכן בכל ניסוי התוצר הסופי מושווה לתמונה עם הרעש\עם </a:t>
            </a:r>
            <a:r>
              <a:rPr lang="he-IL" dirty="0" err="1"/>
              <a:t>הרסטורשין</a:t>
            </a:r>
            <a:r>
              <a:rPr lang="he-IL" dirty="0"/>
              <a:t>.</a:t>
            </a:r>
          </a:p>
          <a:p>
            <a:r>
              <a:rPr lang="he-IL" dirty="0"/>
              <a:t>בעקבות שינויים אלו קוראת תופעה מעניינת שבגלל רעש </a:t>
            </a:r>
            <a:r>
              <a:rPr lang="he-IL" dirty="0" err="1"/>
              <a:t>מסויים</a:t>
            </a:r>
            <a:r>
              <a:rPr lang="he-IL" dirty="0"/>
              <a:t>, ההקטנה פי 2 מאבדת פחות מידע.</a:t>
            </a:r>
          </a:p>
          <a:p>
            <a:r>
              <a:rPr lang="he-IL" dirty="0"/>
              <a:t>אתן </a:t>
            </a:r>
            <a:r>
              <a:rPr lang="he-IL" dirty="0" err="1"/>
              <a:t>דוכמה</a:t>
            </a:r>
            <a:r>
              <a:rPr lang="he-IL" dirty="0"/>
              <a:t>: אם אקח תמונה ואקח רעש קיצוני שהופך אותה ללבנה – ואז אחרי שאני מחלק ל2 ואז מחזיר אותה לתמונה המקורית , אני אקבל תמונה לבנה , כך שקיבלנו אותה תמונה ולא איבדנו מידע.</a:t>
            </a:r>
          </a:p>
          <a:p>
            <a:r>
              <a:rPr lang="he-IL" dirty="0"/>
              <a:t>אני יודע שזו לא </a:t>
            </a:r>
            <a:r>
              <a:rPr lang="he-IL" dirty="0" err="1"/>
              <a:t>היתה</a:t>
            </a:r>
            <a:r>
              <a:rPr lang="he-IL" dirty="0"/>
              <a:t> המטרה של העבודה אך לצערי סופר </a:t>
            </a:r>
            <a:r>
              <a:rPr lang="he-IL" dirty="0" err="1"/>
              <a:t>רזלושין</a:t>
            </a:r>
            <a:r>
              <a:rPr lang="he-IL" dirty="0"/>
              <a:t> היא </a:t>
            </a:r>
            <a:r>
              <a:rPr lang="he-IL" dirty="0" err="1"/>
              <a:t>לוא</a:t>
            </a:r>
            <a:r>
              <a:rPr lang="he-IL" dirty="0"/>
              <a:t> לבלב </a:t>
            </a:r>
            <a:r>
              <a:rPr lang="he-IL" dirty="0" err="1"/>
              <a:t>טסק</a:t>
            </a:r>
            <a:r>
              <a:rPr lang="he-IL" dirty="0"/>
              <a:t> היחיד שמתאים לדאטה</a:t>
            </a:r>
            <a:endParaRPr lang="en-IL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6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685800"/>
            <a:ext cx="2011680" cy="32004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1500" b="1">
                <a:solidFill>
                  <a:srgbClr val="008074"/>
                </a:solidFill>
                <a:latin typeface="Aptos"/>
              </a:defRPr>
            </a:pPr>
            <a:r>
              <a:t>Task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88720"/>
            <a:ext cx="8046720" cy="68580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ptos"/>
              </a:defRPr>
            </a:pPr>
            <a:r>
              <a:t>CNN tumor classification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13232" y="2148840"/>
            <a:ext cx="10259568" cy="0"/>
          </a:xfrm>
          <a:prstGeom prst="line">
            <a:avLst/>
          </a:prstGeom>
          <a:ln w="25400">
            <a:solidFill>
              <a:srgbClr val="0080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31520" y="2514600"/>
            <a:ext cx="7863840" cy="54864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1700" b="0">
                <a:solidFill>
                  <a:srgbClr val="E0E8E8"/>
                </a:solidFill>
                <a:latin typeface="Aptos"/>
              </a:defRPr>
            </a:pPr>
            <a:r>
              <a:t>Classify Data 1 images as tumor or no_tumor, then test robustness.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4572000" cy="256032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900" b="1">
                <a:solidFill>
                  <a:srgbClr val="008074"/>
                </a:solidFill>
                <a:latin typeface="Aptos"/>
              </a:defRPr>
            </a:pPr>
            <a:r>
              <a:t>TASK 2 | BASIC CNN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8961120" cy="603504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2400" b="1">
                <a:solidFill>
                  <a:srgbClr val="182228"/>
                </a:solidFill>
                <a:latin typeface="Aptos"/>
              </a:defRPr>
            </a:pPr>
            <a:r>
              <a:t>The basic CNN reaches 78.95% accuracy on clean Data 1 test images.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225296"/>
            <a:ext cx="9052560" cy="292608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1050" b="0">
                <a:solidFill>
                  <a:srgbClr val="56636B"/>
                </a:solidFill>
                <a:latin typeface="Aptos"/>
              </a:defRPr>
            </a:pPr>
            <a:r>
              <a:t>The confusion matrix shows actual labels as rows and predicted labels as columns.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347472"/>
            <a:ext cx="1920240" cy="22860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 algn="r">
              <a:defRPr sz="850" b="0">
                <a:solidFill>
                  <a:srgbClr val="56636B"/>
                </a:solidFill>
                <a:latin typeface="Aptos"/>
              </a:defRPr>
            </a:pPr>
            <a:r>
              <a:t>Brain MRI robustness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411480" cy="18288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 algn="r">
              <a:defRPr sz="800" b="0">
                <a:solidFill>
                  <a:srgbClr val="56636B"/>
                </a:solidFill>
                <a:latin typeface="Aptos"/>
              </a:defRPr>
            </a:pPr>
            <a: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1691640"/>
            <a:ext cx="3840480" cy="329184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6DE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801368"/>
            <a:ext cx="3840480" cy="30723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577840" y="1691640"/>
            <a:ext cx="5166360" cy="329184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6DE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training_his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0" y="2304288"/>
            <a:ext cx="5166360" cy="206654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05840" y="5394960"/>
            <a:ext cx="2240280" cy="914400"/>
          </a:xfrm>
          <a:prstGeom prst="roundRect">
            <a:avLst/>
          </a:prstGeom>
          <a:solidFill>
            <a:srgbClr val="FAFCFC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170432" y="5504688"/>
            <a:ext cx="1874519" cy="32004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2100" b="1">
                <a:solidFill>
                  <a:srgbClr val="2666AC"/>
                </a:solidFill>
                <a:latin typeface="Aptos"/>
              </a:defRPr>
            </a:pPr>
            <a:r>
              <a:t>78.95%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" y="5925312"/>
            <a:ext cx="1901952" cy="22860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850" b="0">
                <a:solidFill>
                  <a:srgbClr val="56636B"/>
                </a:solidFill>
                <a:latin typeface="Aptos"/>
              </a:defRPr>
            </a:pPr>
            <a:r>
              <a:t>Basic CNN test accuracy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66160" y="5394960"/>
            <a:ext cx="2240280" cy="914400"/>
          </a:xfrm>
          <a:prstGeom prst="roundRect">
            <a:avLst/>
          </a:prstGeom>
          <a:solidFill>
            <a:srgbClr val="FAFCFC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730752" y="5504688"/>
            <a:ext cx="1874519" cy="32004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2100" b="1">
                <a:solidFill>
                  <a:srgbClr val="008074"/>
                </a:solidFill>
                <a:latin typeface="Aptos"/>
              </a:defRPr>
            </a:pPr>
            <a:r>
              <a:t>38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5925312"/>
            <a:ext cx="1901952" cy="22860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850" b="0">
                <a:solidFill>
                  <a:srgbClr val="56636B"/>
                </a:solidFill>
                <a:latin typeface="Aptos"/>
              </a:defRPr>
            </a:pPr>
            <a:r>
              <a:t>test images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4572000" cy="256032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900" b="1">
                <a:solidFill>
                  <a:srgbClr val="008074"/>
                </a:solidFill>
                <a:latin typeface="Aptos"/>
              </a:defRPr>
            </a:pPr>
            <a:r>
              <a:rPr dirty="0"/>
              <a:t>TASK 2 | AUGMENTATION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0745827" cy="387798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2400" b="1">
                <a:solidFill>
                  <a:srgbClr val="182228"/>
                </a:solidFill>
                <a:latin typeface="Aptos"/>
              </a:defRPr>
            </a:pPr>
            <a:r>
              <a:rPr lang="en-US" dirty="0"/>
              <a:t>Extra: </a:t>
            </a:r>
            <a:r>
              <a:rPr dirty="0"/>
              <a:t>Rotation augmentation improved the CNN, but only by a small amount.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225296"/>
            <a:ext cx="9052560" cy="292608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1050" b="0">
                <a:solidFill>
                  <a:srgbClr val="56636B"/>
                </a:solidFill>
                <a:latin typeface="Aptos"/>
              </a:defRPr>
            </a:pPr>
            <a:r>
              <a:t>Because the dataset is small, augmentation adds examples; changing head position did not create a large gain.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347472"/>
            <a:ext cx="1920240" cy="22860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 algn="r">
              <a:defRPr sz="850" b="0">
                <a:solidFill>
                  <a:srgbClr val="56636B"/>
                </a:solidFill>
                <a:latin typeface="Aptos"/>
              </a:defRPr>
            </a:pPr>
            <a:r>
              <a:t>Brain MRI robustness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411480" cy="18288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 algn="r">
              <a:defRPr sz="800" b="0">
                <a:solidFill>
                  <a:srgbClr val="56636B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3337560" cy="283464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6DE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73936"/>
            <a:ext cx="3337560" cy="267004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617720" y="1874519"/>
            <a:ext cx="2011680" cy="192024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6DE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task2_cnn_original_exampl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1874519"/>
            <a:ext cx="1920240" cy="192024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903720" y="1874519"/>
            <a:ext cx="2011680" cy="192024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6DE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task2_cnn_augmented_rot20_exampl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1874519"/>
            <a:ext cx="1920240" cy="19202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9326880" y="1920240"/>
            <a:ext cx="2240280" cy="914400"/>
          </a:xfrm>
          <a:prstGeom prst="roundRect">
            <a:avLst/>
          </a:prstGeom>
          <a:solidFill>
            <a:srgbClr val="FAFCFC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491472" y="2029968"/>
            <a:ext cx="1874519" cy="32004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2100" b="1">
                <a:solidFill>
                  <a:srgbClr val="008074"/>
                </a:solidFill>
                <a:latin typeface="Aptos"/>
              </a:defRPr>
            </a:pPr>
            <a:r>
              <a:t>81.58%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91472" y="2450592"/>
            <a:ext cx="1901952" cy="22860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850" b="0">
                <a:solidFill>
                  <a:srgbClr val="56636B"/>
                </a:solidFill>
                <a:latin typeface="Aptos"/>
              </a:defRPr>
            </a:pPr>
            <a:r>
              <a:t>Augmented CNN accuracy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26880" y="3063240"/>
            <a:ext cx="2240280" cy="914400"/>
          </a:xfrm>
          <a:prstGeom prst="roundRect">
            <a:avLst/>
          </a:prstGeom>
          <a:solidFill>
            <a:srgbClr val="FAFCFC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491472" y="3172968"/>
            <a:ext cx="1874519" cy="32004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2100" b="1">
                <a:solidFill>
                  <a:srgbClr val="B88630"/>
                </a:solidFill>
                <a:latin typeface="Aptos"/>
              </a:defRPr>
            </a:pPr>
            <a:r>
              <a:t>+2.63 pp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91472" y="3593592"/>
            <a:ext cx="1901952" cy="22860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850" b="0">
                <a:solidFill>
                  <a:srgbClr val="56636B"/>
                </a:solidFill>
                <a:latin typeface="Aptos"/>
              </a:defRPr>
            </a:pPr>
            <a:r>
              <a:t>gain over basic CNN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92040" y="4160520"/>
            <a:ext cx="1463040" cy="22860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 algn="ctr">
              <a:defRPr sz="1200" b="1">
                <a:solidFill>
                  <a:srgbClr val="182228"/>
                </a:solidFill>
                <a:latin typeface="Aptos"/>
              </a:defRPr>
            </a:pPr>
            <a:r>
              <a:t>Original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4160520"/>
            <a:ext cx="1645920" cy="22860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 algn="ctr">
              <a:defRPr sz="1200" b="1">
                <a:solidFill>
                  <a:srgbClr val="182228"/>
                </a:solidFill>
                <a:latin typeface="Aptos"/>
              </a:defRPr>
            </a:pPr>
            <a:r>
              <a:t>Augmented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F4B9035-3739-33FA-870D-676BED4BEF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en-US" sz="3200" kern="1200" dirty="0" err="1">
                <a:solidFill>
                  <a:schemeClr val="bg1"/>
                </a:solidFill>
                <a:latin typeface="+mj-lt"/>
                <a:ea typeface="+mj-ea"/>
                <a:cs typeface="+mj-cs"/>
              </a:rPr>
              <a:t>Cnn</a:t>
            </a:r>
            <a:r>
              <a:rPr lang="en-US" sz="32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 on different </a:t>
            </a:r>
            <a:r>
              <a:rPr lang="en-US" sz="3200" kern="1200" dirty="0" err="1">
                <a:solidFill>
                  <a:schemeClr val="bg1"/>
                </a:solidFill>
                <a:latin typeface="+mj-lt"/>
                <a:ea typeface="+mj-ea"/>
                <a:cs typeface="+mj-cs"/>
              </a:rPr>
              <a:t>dostortions</a:t>
            </a:r>
            <a:r>
              <a:rPr lang="en-US" sz="32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 with</a:t>
            </a:r>
            <a:r>
              <a:rPr lang="he-IL" sz="32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3200" kern="1200" dirty="0" err="1">
                <a:solidFill>
                  <a:schemeClr val="bg1"/>
                </a:solidFill>
                <a:latin typeface="+mj-lt"/>
                <a:ea typeface="+mj-ea"/>
                <a:cs typeface="+mj-cs"/>
              </a:rPr>
              <a:t>restor</a:t>
            </a:r>
            <a:r>
              <a:rPr lang="en-US" sz="32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3200" dirty="0">
                <a:solidFill>
                  <a:schemeClr val="bg1"/>
                </a:solidFill>
              </a:rPr>
              <a:t>without</a:t>
            </a:r>
            <a:r>
              <a:rPr lang="en-US" sz="32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 fine tuning</a:t>
            </a:r>
          </a:p>
        </p:txBody>
      </p:sp>
      <p:pic>
        <p:nvPicPr>
          <p:cNvPr id="7" name="Picture 6" descr="total_true_percent_graph.png">
            <a:extLst>
              <a:ext uri="{FF2B5EF4-FFF2-40B4-BE49-F238E27FC236}">
                <a16:creationId xmlns:a16="http://schemas.microsoft.com/office/drawing/2014/main" id="{2444DAF3-E0B3-3E33-18AC-A7934B8CAF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485" y="1675227"/>
            <a:ext cx="10525029" cy="4394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48804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4572000" cy="256032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900" b="1">
                <a:solidFill>
                  <a:srgbClr val="008074"/>
                </a:solidFill>
                <a:latin typeface="Aptos"/>
              </a:defRPr>
            </a:pPr>
            <a:r>
              <a:t>TASK 2 | RESTORATION AND FINE-TUNING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8961120" cy="603504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2400" b="1">
                <a:solidFill>
                  <a:srgbClr val="182228"/>
                </a:solidFill>
                <a:latin typeface="Aptos"/>
              </a:defRPr>
            </a:pPr>
            <a:r>
              <a:t>Fine-tuning and restoration are compared against the same clean CNN baseline.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225296"/>
            <a:ext cx="9052560" cy="292608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1050" b="0">
                <a:solidFill>
                  <a:srgbClr val="56636B"/>
                </a:solidFill>
                <a:latin typeface="Aptos"/>
              </a:defRPr>
            </a:pPr>
            <a:r>
              <a:t>Total true percent summarizes how many tumor/no-tumor predictions are correct.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347472"/>
            <a:ext cx="1920240" cy="22860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 algn="r">
              <a:defRPr sz="850" b="0">
                <a:solidFill>
                  <a:srgbClr val="56636B"/>
                </a:solidFill>
                <a:latin typeface="Aptos"/>
              </a:defRPr>
            </a:pPr>
            <a:r>
              <a:t>Brain MRI robustness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411480" cy="18288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 algn="r">
              <a:defRPr sz="800" b="0">
                <a:solidFill>
                  <a:srgbClr val="56636B"/>
                </a:solidFill>
                <a:latin typeface="Aptos"/>
              </a:defRPr>
            </a:pPr>
            <a:r>
              <a:t>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82228"/>
                </a:solidFill>
                <a:latin typeface="Aptos"/>
              </a:defRPr>
            </a:pPr>
            <a:r>
              <a:t>Salt-and-pepper noise is the clearest CNN failure mode. Restoration recovers some cases; fine-tuning is the stronger model-level improvement.</a:t>
            </a:r>
          </a:p>
        </p:txBody>
      </p:sp>
      <p:pic>
        <p:nvPicPr>
          <p:cNvPr id="13" name="Picture 12" descr="cnn_compare_distortion_restoration_fine_tune_total_true_percent_graph.png">
            <a:extLst>
              <a:ext uri="{FF2B5EF4-FFF2-40B4-BE49-F238E27FC236}">
                <a16:creationId xmlns:a16="http://schemas.microsoft.com/office/drawing/2014/main" id="{6F80A51B-92A1-8241-610F-B2985B1F9C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0930" y="1612080"/>
            <a:ext cx="7800003" cy="3600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4572000" cy="256032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900" b="1">
                <a:solidFill>
                  <a:srgbClr val="008074"/>
                </a:solidFill>
                <a:latin typeface="Aptos"/>
              </a:defRPr>
            </a:pPr>
            <a:r>
              <a:t>TASK 2 | CNN SNR AND LEVEL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8961120" cy="603504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2400" b="1">
                <a:solidFill>
                  <a:srgbClr val="182228"/>
                </a:solidFill>
                <a:latin typeface="Aptos"/>
              </a:defRPr>
            </a:pPr>
            <a:r>
              <a:t>Separate distortion-level graphs show where classification begins to break.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225296"/>
            <a:ext cx="9052560" cy="292608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1050" b="0">
                <a:solidFill>
                  <a:srgbClr val="56636B"/>
                </a:solidFill>
                <a:latin typeface="Aptos"/>
              </a:defRPr>
            </a:pPr>
            <a:r>
              <a:t>The dashed line is the basic CNN on clean, non-distorted images.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347472"/>
            <a:ext cx="1920240" cy="22860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 algn="r">
              <a:defRPr sz="850" b="0">
                <a:solidFill>
                  <a:srgbClr val="56636B"/>
                </a:solidFill>
                <a:latin typeface="Aptos"/>
              </a:defRPr>
            </a:pPr>
            <a:r>
              <a:t>Brain MRI robustness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411480" cy="18288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 algn="r">
              <a:defRPr sz="800" b="0">
                <a:solidFill>
                  <a:srgbClr val="56636B"/>
                </a:solidFill>
                <a:latin typeface="Aptos"/>
              </a:defRPr>
            </a:pPr>
            <a: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08760"/>
            <a:ext cx="3657600" cy="23317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6DE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cnn_compare_snr_distortion_restoration_fine_tune_total_true_percent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58619"/>
            <a:ext cx="3657600" cy="2032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251960" y="1508760"/>
            <a:ext cx="3657600" cy="23317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6DE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cnn_compare_salt_and_pepper_distortion_restoration_fine_tune_total_true_percent_grap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1658619"/>
            <a:ext cx="3657600" cy="20320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001000" y="1508760"/>
            <a:ext cx="3657600" cy="23317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6DE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cnn_compare_gaussian_blur_distortion_restoration_fine_tune_total_true_percent_grap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1658619"/>
            <a:ext cx="3657600" cy="2032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14400" y="4434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82228"/>
                </a:solidFill>
                <a:latin typeface="Aptos"/>
              </a:defRPr>
            </a:pPr>
            <a:r>
              <a:t>Reading the graphs together separates distortion strength from model strategy: basic, restored, and fine-tuned.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6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685800"/>
            <a:ext cx="2011680" cy="32004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1500" b="1">
                <a:solidFill>
                  <a:srgbClr val="B2483E"/>
                </a:solidFill>
                <a:latin typeface="Aptos"/>
              </a:defRPr>
            </a:pPr>
            <a:r>
              <a:t>Task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88720"/>
            <a:ext cx="8046720" cy="68580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ptos"/>
              </a:defRPr>
            </a:pPr>
            <a:r>
              <a:t>YOLO tumor segmentation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13232" y="2148840"/>
            <a:ext cx="10259568" cy="0"/>
          </a:xfrm>
          <a:prstGeom prst="line">
            <a:avLst/>
          </a:prstGeom>
          <a:ln w="25400">
            <a:solidFill>
              <a:srgbClr val="B248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31520" y="2514600"/>
            <a:ext cx="7863840" cy="54864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1700" b="0">
                <a:solidFill>
                  <a:srgbClr val="E0E8E8"/>
                </a:solidFill>
                <a:latin typeface="Aptos"/>
              </a:defRPr>
            </a:pPr>
            <a:r>
              <a:t>Use Data 2 masks so the model can mark tumor regions, not only classify the image.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4572000" cy="256032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900" b="1">
                <a:solidFill>
                  <a:srgbClr val="008074"/>
                </a:solidFill>
                <a:latin typeface="Aptos"/>
              </a:defRPr>
            </a:pPr>
            <a:r>
              <a:t>TASK 3 | SEGMENTATION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8961120" cy="603504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2400" b="1">
                <a:solidFill>
                  <a:srgbClr val="182228"/>
                </a:solidFill>
                <a:latin typeface="Aptos"/>
              </a:defRPr>
            </a:pPr>
            <a:r>
              <a:t>YOLO output is evaluated as a mask prediction problem.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225296"/>
            <a:ext cx="9052560" cy="292608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1050" b="0">
                <a:solidFill>
                  <a:srgbClr val="56636B"/>
                </a:solidFill>
                <a:latin typeface="Aptos"/>
              </a:defRPr>
            </a:pPr>
            <a:r>
              <a:t>Clean, mask, distorted, and restored images show the full experiment path.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347472"/>
            <a:ext cx="1920240" cy="22860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 algn="r">
              <a:defRPr sz="850" b="0">
                <a:solidFill>
                  <a:srgbClr val="56636B"/>
                </a:solidFill>
                <a:latin typeface="Aptos"/>
              </a:defRPr>
            </a:pPr>
            <a:r>
              <a:t>Brain MRI robustness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411480" cy="18288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 algn="r">
              <a:defRPr sz="800" b="0">
                <a:solidFill>
                  <a:srgbClr val="56636B"/>
                </a:solidFill>
                <a:latin typeface="Aptos"/>
              </a:defRPr>
            </a:pPr>
            <a: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91640"/>
            <a:ext cx="2606040" cy="38862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task3_yolo_basic_ex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2034540"/>
            <a:ext cx="2286000" cy="2286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4956048"/>
            <a:ext cx="2148840" cy="22860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 algn="ctr">
              <a:defRPr sz="1300" b="1">
                <a:solidFill>
                  <a:srgbClr val="182228"/>
                </a:solidFill>
                <a:latin typeface="Aptos"/>
              </a:defRPr>
            </a:pPr>
            <a:r>
              <a:t>Clean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10712" y="1691640"/>
            <a:ext cx="2606040" cy="38862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task3_yolo_mask_exam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5304" y="2512094"/>
            <a:ext cx="2286000" cy="133089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39312" y="4956048"/>
            <a:ext cx="2148840" cy="22860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 algn="ctr">
              <a:defRPr sz="1300" b="1">
                <a:solidFill>
                  <a:srgbClr val="182228"/>
                </a:solidFill>
                <a:latin typeface="Aptos"/>
              </a:defRPr>
            </a:pPr>
            <a:r>
              <a:t>Mask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18504" y="1691640"/>
            <a:ext cx="2606040" cy="38862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task3_yolo_distorted_gaussian_noise_15db_exampl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3096" y="2034540"/>
            <a:ext cx="2286000" cy="2286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547104" y="4956048"/>
            <a:ext cx="2148840" cy="22860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 algn="ctr">
              <a:defRPr sz="1300" b="1">
                <a:solidFill>
                  <a:srgbClr val="182228"/>
                </a:solidFill>
                <a:latin typeface="Aptos"/>
              </a:defRPr>
            </a:pPr>
            <a:r>
              <a:t>Distorted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26296" y="1691640"/>
            <a:ext cx="2606040" cy="38862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task3_yolo_restored_gaussian_noise_15db_exampl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90888" y="2034540"/>
            <a:ext cx="2286000" cy="2286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454896" y="4956048"/>
            <a:ext cx="2148840" cy="22860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 algn="ctr">
              <a:defRPr sz="1300" b="1">
                <a:solidFill>
                  <a:srgbClr val="182228"/>
                </a:solidFill>
                <a:latin typeface="Aptos"/>
              </a:defRPr>
            </a:pPr>
            <a:r>
              <a:t>Restored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4572000" cy="256032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900" b="1">
                <a:solidFill>
                  <a:srgbClr val="008074"/>
                </a:solidFill>
                <a:latin typeface="Aptos"/>
              </a:defRPr>
            </a:pPr>
            <a:r>
              <a:t>TASK 3 | YOLO MAP50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8961120" cy="603504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2400" b="1">
                <a:solidFill>
                  <a:srgbClr val="182228"/>
                </a:solidFill>
                <a:latin typeface="Aptos"/>
              </a:defRPr>
            </a:pPr>
            <a:r>
              <a:t>Clean YOLO is the reference line; distortion and fine-tuning reveal robustness.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225296"/>
            <a:ext cx="9052560" cy="292608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1050" b="0">
                <a:solidFill>
                  <a:srgbClr val="56636B"/>
                </a:solidFill>
                <a:latin typeface="Aptos"/>
              </a:defRPr>
            </a:pPr>
            <a:r>
              <a:t>mAP50 is shown separately for gaussian noise, blur, and brightness/contrast levels.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347472"/>
            <a:ext cx="1920240" cy="22860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 algn="r">
              <a:defRPr sz="850" b="0">
                <a:solidFill>
                  <a:srgbClr val="56636B"/>
                </a:solidFill>
                <a:latin typeface="Aptos"/>
              </a:defRPr>
            </a:pPr>
            <a:r>
              <a:t>Brain MRI robustness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411480" cy="18288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 algn="r">
              <a:defRPr sz="800" b="0">
                <a:solidFill>
                  <a:srgbClr val="56636B"/>
                </a:solidFill>
                <a:latin typeface="Aptos"/>
              </a:defRPr>
            </a:pPr>
            <a:r>
              <a:t>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08760"/>
            <a:ext cx="3657600" cy="23317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6DE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yolo_gaussian_noise_snr_map50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58619"/>
            <a:ext cx="3657600" cy="2032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251960" y="1508760"/>
            <a:ext cx="3657600" cy="23317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6DE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yolo_gaussian_blur_sigma_map50_grap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1658619"/>
            <a:ext cx="3657600" cy="20320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001000" y="1508760"/>
            <a:ext cx="3657600" cy="23317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6DE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yolo_brightness_contrast_level_map50_grap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1658619"/>
            <a:ext cx="3657600" cy="2032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68680" y="4480560"/>
            <a:ext cx="10241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82228"/>
                </a:solidFill>
                <a:latin typeface="Aptos"/>
              </a:defRPr>
            </a:pPr>
            <a:r>
              <a:t>Main metric: mask mAP50. Fine-tuned YOLO models are trained on matching distorted data; restored images test pre-processing recovery.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6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640080"/>
            <a:ext cx="4754880" cy="50292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Aptos"/>
              </a:defRPr>
            </a:pPr>
            <a: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25880"/>
            <a:ext cx="9875520" cy="384048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1700" b="0">
                <a:solidFill>
                  <a:srgbClr val="E2EBE8"/>
                </a:solidFill>
                <a:latin typeface="Aptos"/>
              </a:defRPr>
            </a:pPr>
            <a:r>
              <a:t>Robustness should be measured across clean, distorted, restored, and fine-tuned settings.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40280"/>
            <a:ext cx="2743200" cy="27432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1500" b="1">
                <a:solidFill>
                  <a:srgbClr val="2666AC"/>
                </a:solidFill>
                <a:latin typeface="Aptos"/>
              </a:defRPr>
            </a:pPr>
            <a:r>
              <a:t>Task 1 | Super-resolution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03320" y="2240280"/>
            <a:ext cx="7223760" cy="32004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1350" b="0">
                <a:solidFill>
                  <a:srgbClr val="FFFFFF"/>
                </a:solidFill>
                <a:latin typeface="Aptos"/>
              </a:defRPr>
            </a:pPr>
            <a:r>
              <a:t>Best when image structure remains; restoration often raises PSNR before sharpened_lanczos.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91840"/>
            <a:ext cx="2743200" cy="27432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1500" b="1">
                <a:solidFill>
                  <a:srgbClr val="008074"/>
                </a:solidFill>
                <a:latin typeface="Aptos"/>
              </a:defRPr>
            </a:pPr>
            <a:r>
              <a:t>Task 2 | CNN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03320" y="3291840"/>
            <a:ext cx="7223760" cy="32004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1350" b="0">
                <a:solidFill>
                  <a:srgbClr val="FFFFFF"/>
                </a:solidFill>
                <a:latin typeface="Aptos"/>
              </a:defRPr>
            </a:pPr>
            <a:r>
              <a:t>Augmentation improved clean accuracy slightly; salt-and-pepper remains the hardest distortion.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343400"/>
            <a:ext cx="2743200" cy="27432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1500" b="1">
                <a:solidFill>
                  <a:srgbClr val="B2483E"/>
                </a:solidFill>
                <a:latin typeface="Aptos"/>
              </a:defRPr>
            </a:pPr>
            <a:r>
              <a:t>Task 3 | YOLO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4343400"/>
            <a:ext cx="7223760" cy="32004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1350" b="0">
                <a:solidFill>
                  <a:srgbClr val="FFFFFF"/>
                </a:solidFill>
                <a:latin typeface="Aptos"/>
              </a:defRPr>
            </a:pPr>
            <a:r>
              <a:t>Mask training enables tumor marking; fine-tuning improves robustness on distorted data.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852160"/>
            <a:ext cx="10332720" cy="32004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1300" b="0">
                <a:solidFill>
                  <a:srgbClr val="D2DCDA"/>
                </a:solidFill>
                <a:latin typeface="Aptos"/>
              </a:defRPr>
            </a:pPr>
            <a:r>
              <a:t>Main takeaway: restoration is useful, but for deep-learning tasks, distortion-aware fine-tuning is usually the stronger improvement.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008074"/>
                </a:solidFill>
                <a:latin typeface="Aptos"/>
              </a:defRPr>
            </a:pPr>
            <a:r>
              <a:t>TASK 1 EXTRA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99669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182228"/>
                </a:solidFill>
                <a:latin typeface="Aptos"/>
              </a:defRPr>
            </a:pPr>
            <a:r>
              <a:t>Dividing the clean image by more than x2 quickly lowers Lanczos quality.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225296"/>
            <a:ext cx="9875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0">
                <a:solidFill>
                  <a:srgbClr val="56636B"/>
                </a:solidFill>
                <a:latin typeface="Aptos"/>
              </a:defRPr>
            </a:pPr>
            <a:r>
              <a:t>The clean MRI image was downsampled by stronger factors and reconstructed back to 224x224 using Lanczos.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347472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56636B"/>
                </a:solidFill>
                <a:latin typeface="Aptos"/>
              </a:defRPr>
            </a:pPr>
            <a:r>
              <a:t>Brain MRI robustness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691640"/>
            <a:ext cx="5715000" cy="43891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anczos_psnr_by_downscale_fa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326132"/>
            <a:ext cx="5257800" cy="30378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629400" y="1691640"/>
            <a:ext cx="4892040" cy="23317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anczos_extra_downscale_gr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3513" y="1874519"/>
            <a:ext cx="3092958" cy="187451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629400" y="4251960"/>
            <a:ext cx="4892040" cy="1417320"/>
          </a:xfrm>
          <a:prstGeom prst="roundRect">
            <a:avLst/>
          </a:prstGeom>
          <a:solidFill>
            <a:srgbClr val="F1F5F5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76288" y="4462272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666AC"/>
                </a:solidFill>
                <a:latin typeface="Aptos"/>
              </a:defRPr>
            </a:pPr>
            <a:r>
              <a:t>What the graph shows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76288" y="4828032"/>
            <a:ext cx="4160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182228"/>
                </a:solidFill>
                <a:latin typeface="Aptos"/>
              </a:defRPr>
            </a:pPr>
            <a:r>
              <a:t>PSNR drops from 29.62 at x2 to 16.72 at x10. Stronger downsampling removes detail that Lanczos cannot fully reconstruct.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76288" y="5376672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56636B"/>
                </a:solidFill>
                <a:latin typeface="Aptos"/>
              </a:defRPr>
            </a:pPr>
            <a:r>
              <a:t>Main metric: PSNR, higher is better.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92840" y="6446520"/>
            <a:ext cx="411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6636B"/>
                </a:solidFill>
                <a:latin typeface="Aptos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1045</Words>
  <Application>Microsoft Office PowerPoint</Application>
  <PresentationFormat>Widescreen</PresentationFormat>
  <Paragraphs>163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Cnn on different dostortions with restor without fine tuning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Michael Khadarkevich</cp:lastModifiedBy>
  <cp:revision>5</cp:revision>
  <dcterms:created xsi:type="dcterms:W3CDTF">2013-01-27T09:14:16Z</dcterms:created>
  <dcterms:modified xsi:type="dcterms:W3CDTF">2026-07-31T07:53:17Z</dcterms:modified>
  <cp:category/>
</cp:coreProperties>
</file>