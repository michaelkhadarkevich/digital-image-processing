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0080"/>
            <a:ext cx="7680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D262D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533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58656D"/>
                </a:solidFill>
                <a:latin typeface="Aptos"/>
              </a:defRPr>
            </a:pPr>
            <a:r>
              <a:t>Distortions, restoration, super-resolution, CNN classification, and YOLO segmentation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40280"/>
            <a:ext cx="2148840" cy="960120"/>
          </a:xfrm>
          <a:prstGeom prst="roundRect">
            <a:avLst/>
          </a:prstGeom>
          <a:solidFill>
            <a:srgbClr val="F7FAFA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350008"/>
            <a:ext cx="1828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166AC"/>
                </a:solidFill>
                <a:latin typeface="Aptos"/>
              </a:defRPr>
            </a:pPr>
            <a:r>
              <a:t>3 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77063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0">
                <a:solidFill>
                  <a:srgbClr val="58656D"/>
                </a:solidFill>
                <a:latin typeface="Aptos"/>
              </a:defRPr>
            </a:pPr>
            <a:r>
              <a:t>Super-resolution, CNN, YOLO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2240280"/>
            <a:ext cx="2148840" cy="960120"/>
          </a:xfrm>
          <a:prstGeom prst="roundRect">
            <a:avLst/>
          </a:prstGeom>
          <a:solidFill>
            <a:srgbClr val="F7FAFA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27832" y="2350008"/>
            <a:ext cx="1828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7D70"/>
                </a:solidFill>
                <a:latin typeface="Aptos"/>
              </a:defRPr>
            </a:pPr>
            <a:r>
              <a:t>2 datasets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27832" y="277063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0">
                <a:solidFill>
                  <a:srgbClr val="58656D"/>
                </a:solidFill>
                <a:latin typeface="Aptos"/>
              </a:defRPr>
            </a:pPr>
            <a:r>
              <a:t>Classification + segmentation masks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0680" y="2240280"/>
            <a:ext cx="2148840" cy="960120"/>
          </a:xfrm>
          <a:prstGeom prst="roundRect">
            <a:avLst/>
          </a:prstGeom>
          <a:solidFill>
            <a:srgbClr val="F7FAFA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05272" y="2350008"/>
            <a:ext cx="1828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B9463C"/>
                </a:solidFill>
                <a:latin typeface="Aptos"/>
              </a:defRPr>
            </a:pPr>
            <a:r>
              <a:t>3+ distortions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05272" y="277063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0">
                <a:solidFill>
                  <a:srgbClr val="58656D"/>
                </a:solidFill>
                <a:latin typeface="Aptos"/>
              </a:defRPr>
            </a:pPr>
            <a:r>
              <a:t>Noise, blur, brightness/contrast</a:t>
            </a:r>
          </a:p>
        </p:txBody>
      </p:sp>
      <p:pic>
        <p:nvPicPr>
          <p:cNvPr id="13" name="Picture 12" descr="data1_tumor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9660" y="685800"/>
            <a:ext cx="2423160" cy="2423160"/>
          </a:xfrm>
          <a:prstGeom prst="rect">
            <a:avLst/>
          </a:prstGeom>
        </p:spPr>
      </p:pic>
      <p:pic>
        <p:nvPicPr>
          <p:cNvPr id="14" name="Picture 13" descr="task3_yolo_basic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179" y="3246120"/>
            <a:ext cx="2468880" cy="2468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D70"/>
                </a:solidFill>
                <a:latin typeface="Aptos"/>
              </a:defRPr>
            </a:pPr>
            <a:r>
              <a:t>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79552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D262D"/>
                </a:solidFill>
                <a:latin typeface="Aptos"/>
              </a:defRPr>
            </a:pPr>
            <a:r>
              <a:t>The project measures robustness from clean input to damaged and improved input.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70432"/>
            <a:ext cx="79552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8656D"/>
                </a:solidFill>
                <a:latin typeface="Aptos"/>
              </a:defRPr>
            </a:pPr>
            <a:r>
              <a:t>Each task is tested under clean, distorted, restored, and fine-tuned settings when relevant.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347472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Brain MRI robustness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466344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D262D"/>
                </a:solidFill>
                <a:latin typeface="Aptos"/>
              </a:defRPr>
            </a:pPr>
            <a:r>
              <a:t>Data 1: Kaggle tumor/no-tumor images for CNN and super-resolution.</a:t>
            </a:r>
          </a:p>
          <a:p>
            <a:pPr>
              <a:spcAft>
                <a:spcPts val="800"/>
              </a:spcAft>
              <a:defRPr sz="1500">
                <a:solidFill>
                  <a:srgbClr val="1D262D"/>
                </a:solidFill>
                <a:latin typeface="Aptos"/>
              </a:defRPr>
            </a:pPr>
            <a:r>
              <a:t>Data 2: MRI segmentation masks converted to YOLO format.</a:t>
            </a:r>
          </a:p>
          <a:p>
            <a:pPr>
              <a:spcAft>
                <a:spcPts val="800"/>
              </a:spcAft>
              <a:defRPr sz="1500">
                <a:solidFill>
                  <a:srgbClr val="1D262D"/>
                </a:solidFill>
                <a:latin typeface="Aptos"/>
              </a:defRPr>
            </a:pPr>
            <a:r>
              <a:t>Distortions: gaussian noise, salt-and-pepper noise, gaussian blur, plus YOLO brightness/contrast.</a:t>
            </a:r>
          </a:p>
          <a:p>
            <a:pPr>
              <a:spcAft>
                <a:spcPts val="800"/>
              </a:spcAft>
              <a:defRPr sz="1500">
                <a:solidFill>
                  <a:srgbClr val="1D262D"/>
                </a:solidFill>
                <a:latin typeface="Aptos"/>
              </a:defRPr>
            </a:pPr>
            <a:r>
              <a:t>Improvement paths: restoration before inference and fine-tuning for deep-learning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783080"/>
            <a:ext cx="5440680" cy="3429000"/>
          </a:xfrm>
          <a:prstGeom prst="roundRect">
            <a:avLst/>
          </a:prstGeom>
          <a:solidFill>
            <a:srgbClr val="F5F7F8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20574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166AC"/>
                </a:solidFill>
                <a:latin typeface="Aptos"/>
              </a:defRPr>
            </a:pPr>
            <a:r>
              <a:t>Task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05740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D262D"/>
                </a:solidFill>
                <a:latin typeface="Aptos"/>
              </a:defRPr>
            </a:pPr>
            <a:r>
              <a:t>Super-resolution | PSNR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3017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7D70"/>
                </a:solidFill>
                <a:latin typeface="Aptos"/>
              </a:defRPr>
            </a:pPr>
            <a:r>
              <a:t>Task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301752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D262D"/>
                </a:solidFill>
                <a:latin typeface="Aptos"/>
              </a:defRPr>
            </a:pPr>
            <a:r>
              <a:t>CNN classification | total true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977639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9463C"/>
                </a:solidFill>
                <a:latin typeface="Aptos"/>
              </a:defRPr>
            </a:pPr>
            <a:r>
              <a:t>Task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3977639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D262D"/>
                </a:solidFill>
                <a:latin typeface="Aptos"/>
              </a:defRPr>
            </a:pPr>
            <a:r>
              <a:t>YOLO segmentation | mask mAP50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D70"/>
                </a:solidFill>
                <a:latin typeface="Aptos"/>
              </a:defRPr>
            </a:pPr>
            <a:r>
              <a:t>DATA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79552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D262D"/>
                </a:solidFill>
                <a:latin typeface="Aptos"/>
              </a:defRPr>
            </a:pPr>
            <a:r>
              <a:t>Two datasets support two different prediction problems.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70432"/>
            <a:ext cx="79552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8656D"/>
                </a:solidFill>
                <a:latin typeface="Aptos"/>
              </a:defRPr>
            </a:pPr>
            <a:r>
              <a:t>Data 1 is folder-labeled classification data. Data 2 is mask-labeled segmentation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347472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Brain MRI robustness 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3566160" cy="4251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ta1_no_tumor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202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4983480"/>
            <a:ext cx="2743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262D"/>
                </a:solidFill>
                <a:latin typeface="Aptos"/>
              </a:defRPr>
            </a:pPr>
            <a:r>
              <a:t>Data 1 | no tumor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00200"/>
            <a:ext cx="3566160" cy="4251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ata1_tumor_examp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920240"/>
            <a:ext cx="2560320" cy="2560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09160" y="4983480"/>
            <a:ext cx="2743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262D"/>
                </a:solidFill>
                <a:latin typeface="Aptos"/>
              </a:defRPr>
            </a:pPr>
            <a:r>
              <a:t>Data 1 | tumor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600200"/>
            <a:ext cx="3337560" cy="4251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sk3_yolo_mask_exam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434276"/>
            <a:ext cx="2788920" cy="162368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66760" y="4983480"/>
            <a:ext cx="2743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262D"/>
                </a:solidFill>
                <a:latin typeface="Aptos"/>
              </a:defRPr>
            </a:pPr>
            <a:r>
              <a:t>Data 2 | YOLO mask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D70"/>
                </a:solidFill>
                <a:latin typeface="Aptos"/>
              </a:defRPr>
            </a:pPr>
            <a:r>
              <a:t>SHARED RESTORATION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79552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D262D"/>
                </a:solidFill>
                <a:latin typeface="Aptos"/>
              </a:defRPr>
            </a:pPr>
            <a:r>
              <a:t>Restoration is used as a common pre-processing improvement before task evaluation.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70432"/>
            <a:ext cx="79552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8656D"/>
                </a:solidFill>
                <a:latin typeface="Aptos"/>
              </a:defRPr>
            </a:pPr>
            <a:r>
              <a:t>Noise is smoothed or median-filtered; blur is sharpened; brightness/contrast is normalized.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347472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Brain MRI robustness project</a:t>
            </a:r>
          </a:p>
        </p:txBody>
      </p:sp>
      <p:pic>
        <p:nvPicPr>
          <p:cNvPr id="6" name="Picture 5" descr="restoration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130" y="1691640"/>
            <a:ext cx="179070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60920" y="1828800"/>
            <a:ext cx="39319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D262D"/>
                </a:solidFill>
                <a:latin typeface="Aptos"/>
              </a:defRPr>
            </a:pPr>
            <a:r>
              <a:t>Gaussian noise: smoothing + unsharp mask.</a:t>
            </a:r>
          </a:p>
          <a:p>
            <a:pPr>
              <a:spcAft>
                <a:spcPts val="800"/>
              </a:spcAft>
              <a:defRPr sz="1300">
                <a:solidFill>
                  <a:srgbClr val="1D262D"/>
                </a:solidFill>
                <a:latin typeface="Aptos"/>
              </a:defRPr>
            </a:pPr>
            <a:r>
              <a:t>Salt-and-pepper: median filtering preserves edges better than blur.</a:t>
            </a:r>
          </a:p>
          <a:p>
            <a:pPr>
              <a:spcAft>
                <a:spcPts val="800"/>
              </a:spcAft>
              <a:defRPr sz="1300">
                <a:solidFill>
                  <a:srgbClr val="1D262D"/>
                </a:solidFill>
                <a:latin typeface="Aptos"/>
              </a:defRPr>
            </a:pPr>
            <a:r>
              <a:t>Gaussian blur: unsharp mask restores edge contrast.</a:t>
            </a:r>
          </a:p>
          <a:p>
            <a:pPr>
              <a:spcAft>
                <a:spcPts val="800"/>
              </a:spcAft>
              <a:defRPr sz="1300">
                <a:solidFill>
                  <a:srgbClr val="1D262D"/>
                </a:solidFill>
                <a:latin typeface="Aptos"/>
              </a:defRPr>
            </a:pPr>
            <a:r>
              <a:t>The same distorted/restored image families are reused across tasks.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D70"/>
                </a:solidFill>
                <a:latin typeface="Aptos"/>
              </a:defRPr>
            </a:pPr>
            <a:r>
              <a:t>TASK 1 | SUPER-RESOLUTION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79552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D262D"/>
                </a:solidFill>
                <a:latin typeface="Aptos"/>
              </a:defRPr>
            </a:pPr>
            <a:r>
              <a:t>Clean reconstruction shows Lanczos had the strongest PSNR on the selected image.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70432"/>
            <a:ext cx="79552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8656D"/>
                </a:solidFill>
                <a:latin typeface="Aptos"/>
              </a:defRPr>
            </a:pPr>
            <a:r>
              <a:t>The project compares nearest, bilinear, bicubic, Lanczos, and sharpened_lanczos after x2 downsampling.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347472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Brain MRI robustness project</a:t>
            </a:r>
          </a:p>
        </p:txBody>
      </p:sp>
      <p:pic>
        <p:nvPicPr>
          <p:cNvPr id="6" name="Picture 5" descr="super_resolution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88" y="1572768"/>
            <a:ext cx="4310742" cy="4526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828800"/>
            <a:ext cx="2148840" cy="960120"/>
          </a:xfrm>
          <a:prstGeom prst="roundRect">
            <a:avLst/>
          </a:prstGeom>
          <a:solidFill>
            <a:srgbClr val="F7FAFA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08392" y="1938528"/>
            <a:ext cx="1828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166AC"/>
                </a:solidFill>
                <a:latin typeface="Aptos"/>
              </a:defRPr>
            </a:pPr>
            <a:r>
              <a:t>29.62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35915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0">
                <a:solidFill>
                  <a:srgbClr val="58656D"/>
                </a:solidFill>
                <a:latin typeface="Aptos"/>
              </a:defRPr>
            </a:pPr>
            <a:r>
              <a:t>Best clean PSNR: Lanczos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971800"/>
            <a:ext cx="2148840" cy="960120"/>
          </a:xfrm>
          <a:prstGeom prst="roundRect">
            <a:avLst/>
          </a:prstGeom>
          <a:solidFill>
            <a:srgbClr val="F7FAFA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08392" y="3081528"/>
            <a:ext cx="1828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7D70"/>
                </a:solidFill>
                <a:latin typeface="Aptos"/>
              </a:defRPr>
            </a:pPr>
            <a:r>
              <a:t>26.87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50215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0">
                <a:solidFill>
                  <a:srgbClr val="58656D"/>
                </a:solidFill>
                <a:latin typeface="Aptos"/>
              </a:defRPr>
            </a:pPr>
            <a:r>
              <a:t>Sharpened_lanczos PSNR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114800"/>
            <a:ext cx="2148840" cy="960120"/>
          </a:xfrm>
          <a:prstGeom prst="roundRect">
            <a:avLst/>
          </a:prstGeom>
          <a:solidFill>
            <a:srgbClr val="F7FAFA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4224528"/>
            <a:ext cx="1828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BE8C30"/>
                </a:solidFill>
                <a:latin typeface="Aptos"/>
              </a:defRPr>
            </a:pPr>
            <a:r>
              <a:t>98.38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64515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0">
                <a:solidFill>
                  <a:srgbClr val="58656D"/>
                </a:solidFill>
                <a:latin typeface="Aptos"/>
              </a:defRPr>
            </a:pPr>
            <a:r>
              <a:t>Best reconstruction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D70"/>
                </a:solidFill>
                <a:latin typeface="Aptos"/>
              </a:defRPr>
            </a:pPr>
            <a:r>
              <a:t>TASK 1 | DISTORTED SUPER-RESOLUTION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79552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D262D"/>
                </a:solidFill>
                <a:latin typeface="Aptos"/>
              </a:defRPr>
            </a:pPr>
            <a:r>
              <a:t>Restored inputs usually recover PSNR before sharpened_lanczos reconstruction.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70432"/>
            <a:ext cx="79552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8656D"/>
                </a:solidFill>
                <a:latin typeface="Aptos"/>
              </a:defRPr>
            </a:pPr>
            <a:r>
              <a:t>Graphs include the clean no-distortion baseline for comparison.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347472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Brain MRI robustness project</a:t>
            </a:r>
          </a:p>
        </p:txBody>
      </p:sp>
      <p:pic>
        <p:nvPicPr>
          <p:cNvPr id="6" name="Picture 5" descr="gaussian_noise_snr_psnr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2900"/>
            <a:ext cx="3657600" cy="2032000"/>
          </a:xfrm>
          <a:prstGeom prst="rect">
            <a:avLst/>
          </a:prstGeom>
        </p:spPr>
      </p:pic>
      <p:pic>
        <p:nvPicPr>
          <p:cNvPr id="7" name="Picture 6" descr="salt_and_pepper_density_psnr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612900"/>
            <a:ext cx="3657600" cy="2032000"/>
          </a:xfrm>
          <a:prstGeom prst="rect">
            <a:avLst/>
          </a:prstGeom>
        </p:spPr>
      </p:pic>
      <p:pic>
        <p:nvPicPr>
          <p:cNvPr id="8" name="Picture 7" descr="gaussian_blur_sigma_psnr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12900"/>
            <a:ext cx="3657600" cy="203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4251960"/>
            <a:ext cx="996696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D262D"/>
                </a:solidFill>
                <a:latin typeface="Aptos"/>
              </a:defRPr>
            </a:pPr>
            <a:r>
              <a:t>Main metric shown: PSNR.</a:t>
            </a:r>
          </a:p>
          <a:p>
            <a:pPr>
              <a:spcAft>
                <a:spcPts val="800"/>
              </a:spcAft>
              <a:defRPr sz="1300">
                <a:solidFill>
                  <a:srgbClr val="1D262D"/>
                </a:solidFill>
                <a:latin typeface="Aptos"/>
              </a:defRPr>
            </a:pPr>
            <a:r>
              <a:t>Restoration helps most when the distortion removes noise but preserves structure.</a:t>
            </a:r>
          </a:p>
          <a:p>
            <a:pPr>
              <a:spcAft>
                <a:spcPts val="800"/>
              </a:spcAft>
              <a:defRPr sz="1300">
                <a:solidFill>
                  <a:srgbClr val="1D262D"/>
                </a:solidFill>
                <a:latin typeface="Aptos"/>
              </a:defRPr>
            </a:pPr>
            <a:r>
              <a:t>Severe salt-and-pepper damage shows the largest degradation.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D70"/>
                </a:solidFill>
                <a:latin typeface="Aptos"/>
              </a:defRPr>
            </a:pPr>
            <a:r>
              <a:t>TASK 2 | CNN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79552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D262D"/>
                </a:solidFill>
                <a:latin typeface="Aptos"/>
              </a:defRPr>
            </a:pPr>
            <a:r>
              <a:t>Augmentation improved the clean CNN, but only by a small amount.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70432"/>
            <a:ext cx="79552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8656D"/>
                </a:solidFill>
                <a:latin typeface="Aptos"/>
              </a:defRPr>
            </a:pPr>
            <a:r>
              <a:t>The project uses total true percent and confusion matrices to evaluate tumor/no-tumor classification.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347472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Brain MRI robustness project</a:t>
            </a:r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856232"/>
            <a:ext cx="3017520" cy="2414016"/>
          </a:xfrm>
          <a:prstGeom prst="rect">
            <a:avLst/>
          </a:prstGeom>
        </p:spPr>
      </p:pic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856232"/>
            <a:ext cx="3017520" cy="241401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38160" y="1874519"/>
            <a:ext cx="2148840" cy="960120"/>
          </a:xfrm>
          <a:prstGeom prst="roundRect">
            <a:avLst/>
          </a:prstGeom>
          <a:solidFill>
            <a:srgbClr val="F7FAFA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984248"/>
            <a:ext cx="1828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166AC"/>
                </a:solidFill>
                <a:latin typeface="Aptos"/>
              </a:defRPr>
            </a:pPr>
            <a:r>
              <a:t>78.95%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40487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0">
                <a:solidFill>
                  <a:srgbClr val="58656D"/>
                </a:solidFill>
                <a:latin typeface="Aptos"/>
              </a:defRPr>
            </a:pPr>
            <a:r>
              <a:t>Basic CNN test 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017520"/>
            <a:ext cx="2148840" cy="960120"/>
          </a:xfrm>
          <a:prstGeom prst="roundRect">
            <a:avLst/>
          </a:prstGeom>
          <a:solidFill>
            <a:srgbClr val="F7FAFA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3127248"/>
            <a:ext cx="1828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7D70"/>
                </a:solidFill>
                <a:latin typeface="Aptos"/>
              </a:defRPr>
            </a:pPr>
            <a:r>
              <a:t>81.58%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54787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0">
                <a:solidFill>
                  <a:srgbClr val="58656D"/>
                </a:solidFill>
                <a:latin typeface="Aptos"/>
              </a:defRPr>
            </a:pPr>
            <a:r>
              <a:t>Augmented CNN test 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1D262D"/>
                </a:solidFill>
                <a:latin typeface="Aptos"/>
              </a:defRPr>
            </a:pPr>
            <a:r>
              <a:t>Augmentation helped, but changing head position did not create a large robustness gain.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D70"/>
                </a:solidFill>
                <a:latin typeface="Aptos"/>
              </a:defRPr>
            </a:pPr>
            <a:r>
              <a:t>TASK 2 |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79552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D262D"/>
                </a:solidFill>
                <a:latin typeface="Aptos"/>
              </a:defRPr>
            </a:pPr>
            <a:r>
              <a:t>Fine-tuning and restoration are compared against the same basic CNN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70432"/>
            <a:ext cx="79552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8656D"/>
                </a:solidFill>
                <a:latin typeface="Aptos"/>
              </a:defRPr>
            </a:pPr>
            <a:r>
              <a:t>The comparison uses total true percent across clean, distorted, restored, and fine-tuned settings.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347472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Brain MRI robustness project</a:t>
            </a:r>
          </a:p>
        </p:txBody>
      </p:sp>
      <p:pic>
        <p:nvPicPr>
          <p:cNvPr id="6" name="Picture 5" descr="cnn_compare_distortion_restoration_fine_tune_total_true_percen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31023"/>
            <a:ext cx="5166360" cy="2384473"/>
          </a:xfrm>
          <a:prstGeom prst="rect">
            <a:avLst/>
          </a:prstGeom>
        </p:spPr>
      </p:pic>
      <p:pic>
        <p:nvPicPr>
          <p:cNvPr id="7" name="Picture 6" descr="total_true_percent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146935"/>
            <a:ext cx="5166360" cy="2152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394960"/>
            <a:ext cx="9966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1D262D"/>
                </a:solidFill>
                <a:latin typeface="Aptos"/>
              </a:defRPr>
            </a:pPr>
            <a:r>
              <a:t>Salt-and-pepper noise is the clearest CNN failure mode.</a:t>
            </a:r>
          </a:p>
          <a:p>
            <a:pPr>
              <a:spcAft>
                <a:spcPts val="800"/>
              </a:spcAft>
              <a:defRPr sz="1250">
                <a:solidFill>
                  <a:srgbClr val="1D262D"/>
                </a:solidFill>
                <a:latin typeface="Aptos"/>
              </a:defRPr>
            </a:pPr>
            <a:r>
              <a:t>Restoration recovers some cases.</a:t>
            </a:r>
          </a:p>
          <a:p>
            <a:pPr>
              <a:spcAft>
                <a:spcPts val="800"/>
              </a:spcAft>
              <a:defRPr sz="1250">
                <a:solidFill>
                  <a:srgbClr val="1D262D"/>
                </a:solidFill>
                <a:latin typeface="Aptos"/>
              </a:defRPr>
            </a:pPr>
            <a:r>
              <a:t>Fine-tuning on distorted data is the stronger deep-learning improvement path.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D70"/>
                </a:solidFill>
                <a:latin typeface="Aptos"/>
              </a:defRPr>
            </a:pPr>
            <a:r>
              <a:t>TASK 3 | YOLO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79552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D262D"/>
                </a:solidFill>
                <a:latin typeface="Aptos"/>
              </a:defRPr>
            </a:pPr>
            <a:r>
              <a:t>YOLO uses Data 2 masks so it can mark tumor regions, not only classify images.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70432"/>
            <a:ext cx="79552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8656D"/>
                </a:solidFill>
                <a:latin typeface="Aptos"/>
              </a:defRPr>
            </a:pPr>
            <a:r>
              <a:t>The deck shows clean input, mask, distorted input, and restored input examples.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347472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Brain MRI robustness 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2606040" cy="39319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sk3_yolo_basic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11679"/>
            <a:ext cx="22860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892040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D262D"/>
                </a:solidFill>
                <a:latin typeface="Aptos"/>
              </a:defRPr>
            </a:pPr>
            <a:r>
              <a:t>Clean image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1600200"/>
            <a:ext cx="2606040" cy="39319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sk3_yolo_mask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5304" y="2489234"/>
            <a:ext cx="2286000" cy="13308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39312" y="4892040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D262D"/>
                </a:solidFill>
                <a:latin typeface="Aptos"/>
              </a:defRPr>
            </a:pPr>
            <a:r>
              <a:t>Mask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4" y="1600200"/>
            <a:ext cx="2606040" cy="39319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sk3_yolo_distorted_gaussian_noise_15db_examp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2011679"/>
            <a:ext cx="2286000" cy="22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47104" y="4892040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D262D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26296" y="1600200"/>
            <a:ext cx="2606040" cy="39319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ask3_yolo_restored_gaussian_noise_15db_examp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888" y="2011679"/>
            <a:ext cx="2286000" cy="228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454896" y="4892040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D262D"/>
                </a:solidFill>
                <a:latin typeface="Aptos"/>
              </a:defRPr>
            </a:pPr>
            <a:r>
              <a:t>Restored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D70"/>
                </a:solidFill>
                <a:latin typeface="Aptos"/>
              </a:defRPr>
            </a:pPr>
            <a:r>
              <a:t>TASK 3 | YOLO MAP50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79552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D262D"/>
                </a:solidFill>
                <a:latin typeface="Aptos"/>
              </a:defRPr>
            </a:pPr>
            <a:r>
              <a:t>Clean YOLO is the reference line; distorted and fine-tuned models reveal robustness.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70432"/>
            <a:ext cx="79552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8656D"/>
                </a:solidFill>
                <a:latin typeface="Aptos"/>
              </a:defRPr>
            </a:pPr>
            <a:r>
              <a:t>mAP50 is shown separately for gaussian noise, blur, and brightness/contrast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347472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Brain MRI robustness project</a:t>
            </a:r>
          </a:p>
        </p:txBody>
      </p:sp>
      <p:pic>
        <p:nvPicPr>
          <p:cNvPr id="6" name="Picture 5" descr="yolo_gaussian_noise_snr_map50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5760"/>
            <a:ext cx="3657600" cy="2032000"/>
          </a:xfrm>
          <a:prstGeom prst="rect">
            <a:avLst/>
          </a:prstGeom>
        </p:spPr>
      </p:pic>
      <p:pic>
        <p:nvPicPr>
          <p:cNvPr id="7" name="Picture 6" descr="yolo_gaussian_blur_sigma_map50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635760"/>
            <a:ext cx="3657600" cy="2032000"/>
          </a:xfrm>
          <a:prstGeom prst="rect">
            <a:avLst/>
          </a:prstGeom>
        </p:spPr>
      </p:pic>
      <p:pic>
        <p:nvPicPr>
          <p:cNvPr id="8" name="Picture 7" descr="yolo_brightness_contrast_level_map50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35760"/>
            <a:ext cx="3657600" cy="203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343400"/>
            <a:ext cx="102412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D262D"/>
                </a:solidFill>
                <a:latin typeface="Aptos"/>
              </a:defRPr>
            </a:pPr>
            <a:r>
              <a:t>Main metric shown: mask mAP50.</a:t>
            </a:r>
          </a:p>
          <a:p>
            <a:pPr>
              <a:spcAft>
                <a:spcPts val="800"/>
              </a:spcAft>
              <a:defRPr sz="1300">
                <a:solidFill>
                  <a:srgbClr val="1D262D"/>
                </a:solidFill>
                <a:latin typeface="Aptos"/>
              </a:defRPr>
            </a:pPr>
            <a:r>
              <a:t>Fine-tuned YOLO models are trained on matching distorted data.</a:t>
            </a:r>
          </a:p>
          <a:p>
            <a:pPr>
              <a:spcAft>
                <a:spcPts val="800"/>
              </a:spcAft>
              <a:defRPr sz="1300">
                <a:solidFill>
                  <a:srgbClr val="1D262D"/>
                </a:solidFill>
                <a:latin typeface="Aptos"/>
              </a:defRPr>
            </a:pPr>
            <a:r>
              <a:t>Dashed clean baseline shows how far each distortion is from normal performance.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4754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E2EBE8"/>
                </a:solidFill>
                <a:latin typeface="Aptos"/>
              </a:defRPr>
            </a:pPr>
            <a:r>
              <a:t>MRI robustness should be measured across clean, distorted, restored, and fine-tuned settings.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2402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166AC"/>
                </a:solidFill>
                <a:latin typeface="Aptos"/>
              </a:defRPr>
            </a:pPr>
            <a:r>
              <a:t>Super-resolution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2240280"/>
            <a:ext cx="7680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t>Works best when structure remains; restoration raises PSNR before sharpened_lanczos.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7D70"/>
                </a:solidFill>
                <a:latin typeface="Aptos"/>
              </a:defRPr>
            </a:pPr>
            <a:r>
              <a:t>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3291840"/>
            <a:ext cx="7680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t>Clean and augmented models perform well, but salt-and-pepper noise strongly harms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434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B9463C"/>
                </a:solidFill>
                <a:latin typeface="Aptos"/>
              </a:defRPr>
            </a:pPr>
            <a:r>
              <a:t>YOLO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4343400"/>
            <a:ext cx="7680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t>Mask training lets the model mark tumors; fine-tuning improves distorted-image robustness.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D2DCDA"/>
                </a:solidFill>
                <a:latin typeface="Aptos"/>
              </a:defRPr>
            </a:pPr>
            <a:r>
              <a:t>Restoration is useful as pre-processing, but fine-tuning is often the stronger improvement for deep-learning tasks.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58656D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